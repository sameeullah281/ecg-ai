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4" r:id="rId37"/>
    <p:sldId id="291" r:id="rId38"/>
    <p:sldId id="292" r:id="rId39"/>
    <p:sldId id="293" r:id="rId40"/>
  </p:sldIdLst>
  <p:sldSz cx="18288000" cy="10287000"/>
  <p:notesSz cx="6858000" cy="9144000"/>
  <p:embeddedFontLst>
    <p:embeddedFont>
      <p:font typeface="Arimo" panose="020B0604020202020204" charset="0"/>
      <p:regular r:id="rId41"/>
    </p:embeddedFont>
    <p:embeddedFont>
      <p:font typeface="Arimo Bold" panose="020B0604020202020204" charset="0"/>
      <p:regular r:id="rId42"/>
    </p:embeddedFont>
    <p:embeddedFont>
      <p:font typeface="Canva Sans Bold" panose="020B0604020202020204" charset="0"/>
      <p:regular r:id="rId43"/>
    </p:embeddedFont>
    <p:embeddedFont>
      <p:font typeface="Tex Gyre Termes" panose="020B0604020202020204" charset="0"/>
      <p:regular r:id="rId44"/>
    </p:embeddedFont>
    <p:embeddedFont>
      <p:font typeface="Tex Gyre Termes Bold" panose="020B0604020202020204" charset="0"/>
      <p:regular r:id="rId45"/>
    </p:embeddedFont>
    <p:embeddedFont>
      <p:font typeface="The Youngest Script" panose="020B0604020202020204" charset="0"/>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946"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sv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6.sv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hyperlink" Target="https://www.nature.com/articles/s41591-018-0268-3#auth-Pranav-Rajpurkar" TargetMode="External"/><Relationship Id="rId2" Type="http://schemas.openxmlformats.org/officeDocument/2006/relationships/hyperlink" Target="https://www.nature.com/articles/s41591-018-0268-3#auth-Awni_Y_-Hannun" TargetMode="External"/><Relationship Id="rId1" Type="http://schemas.openxmlformats.org/officeDocument/2006/relationships/slideLayout" Target="../slideLayouts/slideLayout7.xml"/><Relationship Id="rId6" Type="http://schemas.openxmlformats.org/officeDocument/2006/relationships/hyperlink" Target="https://www.nature.com/articles/s41591-018-0268-3#auth-Andrew_Y_-Ng" TargetMode="External"/><Relationship Id="rId5" Type="http://schemas.openxmlformats.org/officeDocument/2006/relationships/hyperlink" Target="https://www.nature.com/articles/s41591-018-0268-3#auth-Mintu_P_-Turakhia" TargetMode="External"/><Relationship Id="rId4" Type="http://schemas.openxmlformats.org/officeDocument/2006/relationships/hyperlink" Target="https://www.nature.com/articles/s41591-018-0268-3#auth-Codie-Bourn"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7.jpeg"/><Relationship Id="rId5" Type="http://schemas.openxmlformats.org/officeDocument/2006/relationships/image" Target="../media/image17.sv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34.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sv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slideLayout" Target="../slideLayouts/slideLayout7.xml"/><Relationship Id="rId7" Type="http://schemas.openxmlformats.org/officeDocument/2006/relationships/image" Target="../media/image19.sv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8" Type="http://schemas.openxmlformats.org/officeDocument/2006/relationships/image" Target="../media/image37.jpeg"/><Relationship Id="rId3" Type="http://schemas.openxmlformats.org/officeDocument/2006/relationships/slideLayout" Target="../slideLayouts/slideLayout7.xml"/><Relationship Id="rId7" Type="http://schemas.openxmlformats.org/officeDocument/2006/relationships/image" Target="../media/image19.sv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7.svg"/><Relationship Id="rId7" Type="http://schemas.openxmlformats.org/officeDocument/2006/relationships/image" Target="../media/image24.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26.svg"/></Relationships>
</file>

<file path=ppt/slides/_rels/slide2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7.svg"/><Relationship Id="rId7" Type="http://schemas.openxmlformats.org/officeDocument/2006/relationships/image" Target="../media/image32.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34.svg"/></Relationships>
</file>

<file path=ppt/slides/_rels/slide21.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7.xml"/><Relationship Id="rId5" Type="http://schemas.openxmlformats.org/officeDocument/2006/relationships/image" Target="../media/image44.svg"/><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46.svg"/><Relationship Id="rId4" Type="http://schemas.openxmlformats.org/officeDocument/2006/relationships/image" Target="../media/image45.png"/></Relationships>
</file>

<file path=ppt/slides/_rels/slide2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47.jpeg"/></Relationships>
</file>

<file path=ppt/slides/_rels/slide24.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13.svg"/><Relationship Id="rId7" Type="http://schemas.openxmlformats.org/officeDocument/2006/relationships/image" Target="../media/image15.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1.sv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9.svg"/><Relationship Id="rId7" Type="http://schemas.openxmlformats.org/officeDocument/2006/relationships/image" Target="../media/image11.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13.svg"/><Relationship Id="rId4" Type="http://schemas.openxmlformats.org/officeDocument/2006/relationships/image" Target="../media/image12.png"/><Relationship Id="rId9" Type="http://schemas.openxmlformats.org/officeDocument/2006/relationships/image" Target="../media/image15.svg"/></Relationships>
</file>

<file path=ppt/slides/_rels/slide2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9.svg"/><Relationship Id="rId7" Type="http://schemas.openxmlformats.org/officeDocument/2006/relationships/image" Target="../media/image11.svg"/><Relationship Id="rId12" Type="http://schemas.openxmlformats.org/officeDocument/2006/relationships/image" Target="../media/image51.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50.png"/><Relationship Id="rId5" Type="http://schemas.openxmlformats.org/officeDocument/2006/relationships/image" Target="../media/image13.svg"/><Relationship Id="rId10" Type="http://schemas.openxmlformats.org/officeDocument/2006/relationships/image" Target="../media/image49.png"/><Relationship Id="rId4" Type="http://schemas.openxmlformats.org/officeDocument/2006/relationships/image" Target="../media/image12.png"/><Relationship Id="rId9" Type="http://schemas.openxmlformats.org/officeDocument/2006/relationships/image" Target="../media/image15.svg"/></Relationships>
</file>

<file path=ppt/slides/_rels/slide27.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16.png"/><Relationship Id="rId7" Type="http://schemas.openxmlformats.org/officeDocument/2006/relationships/image" Target="../media/image56.png"/><Relationship Id="rId2" Type="http://schemas.openxmlformats.org/officeDocument/2006/relationships/image" Target="../media/image53.png"/><Relationship Id="rId1" Type="http://schemas.openxmlformats.org/officeDocument/2006/relationships/slideLayout" Target="../slideLayouts/slideLayout7.xml"/><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17.svg"/></Relationships>
</file>

<file path=ppt/slides/_rels/slide29.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3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3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36.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17.svg"/><Relationship Id="rId7" Type="http://schemas.openxmlformats.org/officeDocument/2006/relationships/image" Target="../media/image65.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3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11069480" y="4620591"/>
            <a:ext cx="9977782" cy="10022504"/>
          </a:xfrm>
          <a:custGeom>
            <a:avLst/>
            <a:gdLst/>
            <a:ahLst/>
            <a:cxnLst/>
            <a:rect l="l" t="t" r="r" b="b"/>
            <a:pathLst>
              <a:path w="9977782" h="10022504">
                <a:moveTo>
                  <a:pt x="0" y="0"/>
                </a:moveTo>
                <a:lnTo>
                  <a:pt x="9977782" y="0"/>
                </a:lnTo>
                <a:lnTo>
                  <a:pt x="9977782" y="10022504"/>
                </a:lnTo>
                <a:lnTo>
                  <a:pt x="0" y="100225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643821" y="3755139"/>
            <a:ext cx="6366484" cy="6358526"/>
          </a:xfrm>
          <a:custGeom>
            <a:avLst/>
            <a:gdLst/>
            <a:ahLst/>
            <a:cxnLst/>
            <a:rect l="l" t="t" r="r" b="b"/>
            <a:pathLst>
              <a:path w="6366484" h="6358526">
                <a:moveTo>
                  <a:pt x="0" y="0"/>
                </a:moveTo>
                <a:lnTo>
                  <a:pt x="6366484" y="0"/>
                </a:lnTo>
                <a:lnTo>
                  <a:pt x="6366484" y="6358526"/>
                </a:lnTo>
                <a:lnTo>
                  <a:pt x="0" y="6358526"/>
                </a:lnTo>
                <a:lnTo>
                  <a:pt x="0" y="0"/>
                </a:lnTo>
                <a:close/>
              </a:path>
            </a:pathLst>
          </a:custGeom>
          <a:blipFill>
            <a:blip r:embed="rId4"/>
            <a:stretch>
              <a:fillRect b="-125"/>
            </a:stretch>
          </a:blipFill>
        </p:spPr>
      </p:sp>
      <p:sp>
        <p:nvSpPr>
          <p:cNvPr id="4" name="Freeform 4"/>
          <p:cNvSpPr/>
          <p:nvPr/>
        </p:nvSpPr>
        <p:spPr>
          <a:xfrm>
            <a:off x="11964409" y="-6637240"/>
            <a:ext cx="9977782" cy="10022504"/>
          </a:xfrm>
          <a:custGeom>
            <a:avLst/>
            <a:gdLst/>
            <a:ahLst/>
            <a:cxnLst/>
            <a:rect l="l" t="t" r="r" b="b"/>
            <a:pathLst>
              <a:path w="9977782" h="10022504">
                <a:moveTo>
                  <a:pt x="0" y="0"/>
                </a:moveTo>
                <a:lnTo>
                  <a:pt x="9977782" y="0"/>
                </a:lnTo>
                <a:lnTo>
                  <a:pt x="9977782" y="10022504"/>
                </a:lnTo>
                <a:lnTo>
                  <a:pt x="0" y="100225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730801" y="1943100"/>
            <a:ext cx="10353427" cy="5553443"/>
          </a:xfrm>
          <a:prstGeom prst="rect">
            <a:avLst/>
          </a:prstGeom>
        </p:spPr>
        <p:txBody>
          <a:bodyPr lIns="0" tIns="0" rIns="0" bIns="0" rtlCol="0" anchor="t">
            <a:spAutoFit/>
          </a:bodyPr>
          <a:lstStyle/>
          <a:p>
            <a:pPr marL="563880" marR="153670" algn="ctr">
              <a:lnSpc>
                <a:spcPct val="173000"/>
              </a:lnSpc>
              <a:spcBef>
                <a:spcPts val="1330"/>
              </a:spcBef>
              <a:spcAft>
                <a:spcPts val="0"/>
              </a:spcAft>
            </a:pPr>
            <a:r>
              <a:rPr lang="en-US" sz="5400" b="1" dirty="0">
                <a:solidFill>
                  <a:srgbClr val="FF0000"/>
                </a:solidFill>
                <a:effectLst/>
                <a:latin typeface="Tex Gyre Termes" panose="020B0604020202020204" charset="0"/>
                <a:ea typeface="Times New Roman" panose="02020603050405020304" pitchFamily="18" charset="0"/>
                <a:cs typeface="Times New Roman" panose="02020603050405020304" pitchFamily="18" charset="0"/>
              </a:rPr>
              <a:t>CARDIOVASCULAR DISEASE DETECTION USING IMAGE PROCESSING AND MACHINE LEARNING</a:t>
            </a:r>
            <a:endParaRPr lang="en-IN" sz="5400" dirty="0">
              <a:solidFill>
                <a:srgbClr val="FF0000"/>
              </a:solidFill>
              <a:effectLst/>
              <a:latin typeface="Tex Gyre Termes" panose="020B0604020202020204" charset="0"/>
              <a:ea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2814464" y="-808418"/>
            <a:ext cx="8174661" cy="12795788"/>
          </a:xfrm>
          <a:custGeom>
            <a:avLst/>
            <a:gdLst/>
            <a:ahLst/>
            <a:cxnLst/>
            <a:rect l="l" t="t" r="r" b="b"/>
            <a:pathLst>
              <a:path w="8174661" h="12795788">
                <a:moveTo>
                  <a:pt x="0" y="0"/>
                </a:moveTo>
                <a:lnTo>
                  <a:pt x="8174662" y="0"/>
                </a:lnTo>
                <a:lnTo>
                  <a:pt x="8174662" y="12795787"/>
                </a:lnTo>
                <a:lnTo>
                  <a:pt x="0" y="127957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448907" y="4825494"/>
            <a:ext cx="3129696" cy="8480575"/>
          </a:xfrm>
          <a:custGeom>
            <a:avLst/>
            <a:gdLst/>
            <a:ahLst/>
            <a:cxnLst/>
            <a:rect l="l" t="t" r="r" b="b"/>
            <a:pathLst>
              <a:path w="3129696" h="8480575">
                <a:moveTo>
                  <a:pt x="0" y="0"/>
                </a:moveTo>
                <a:lnTo>
                  <a:pt x="3129696" y="0"/>
                </a:lnTo>
                <a:lnTo>
                  <a:pt x="3129696" y="8480575"/>
                </a:lnTo>
                <a:lnTo>
                  <a:pt x="0" y="848057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952338" y="-2725239"/>
            <a:ext cx="3183977" cy="8480682"/>
          </a:xfrm>
          <a:custGeom>
            <a:avLst/>
            <a:gdLst/>
            <a:ahLst/>
            <a:cxnLst/>
            <a:rect l="l" t="t" r="r" b="b"/>
            <a:pathLst>
              <a:path w="3183977" h="8480682">
                <a:moveTo>
                  <a:pt x="0" y="0"/>
                </a:moveTo>
                <a:lnTo>
                  <a:pt x="3183977" y="0"/>
                </a:lnTo>
                <a:lnTo>
                  <a:pt x="3183977" y="8480682"/>
                </a:lnTo>
                <a:lnTo>
                  <a:pt x="0" y="848068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5" name="Group 5"/>
          <p:cNvGrpSpPr/>
          <p:nvPr/>
        </p:nvGrpSpPr>
        <p:grpSpPr>
          <a:xfrm>
            <a:off x="-61912" y="3586409"/>
            <a:ext cx="18411825" cy="123825"/>
            <a:chOff x="0" y="0"/>
            <a:chExt cx="24549100" cy="165100"/>
          </a:xfrm>
        </p:grpSpPr>
        <p:sp>
          <p:nvSpPr>
            <p:cNvPr id="6" name="Freeform 6"/>
            <p:cNvSpPr/>
            <p:nvPr/>
          </p:nvSpPr>
          <p:spPr>
            <a:xfrm>
              <a:off x="82550" y="0"/>
              <a:ext cx="24384000" cy="165100"/>
            </a:xfrm>
            <a:custGeom>
              <a:avLst/>
              <a:gdLst/>
              <a:ahLst/>
              <a:cxnLst/>
              <a:rect l="l" t="t" r="r" b="b"/>
              <a:pathLst>
                <a:path w="24384000" h="165100">
                  <a:moveTo>
                    <a:pt x="0" y="0"/>
                  </a:moveTo>
                  <a:lnTo>
                    <a:pt x="24384000" y="0"/>
                  </a:lnTo>
                  <a:lnTo>
                    <a:pt x="24384000" y="165100"/>
                  </a:lnTo>
                  <a:lnTo>
                    <a:pt x="0" y="165100"/>
                  </a:lnTo>
                  <a:close/>
                </a:path>
              </a:pathLst>
            </a:custGeom>
            <a:solidFill>
              <a:srgbClr val="DC1C4B"/>
            </a:solidFill>
          </p:spPr>
        </p:sp>
      </p:grpSp>
      <p:sp>
        <p:nvSpPr>
          <p:cNvPr id="7" name="TextBox 7"/>
          <p:cNvSpPr txBox="1"/>
          <p:nvPr/>
        </p:nvSpPr>
        <p:spPr>
          <a:xfrm>
            <a:off x="8369954" y="1473855"/>
            <a:ext cx="8889346" cy="1353820"/>
          </a:xfrm>
          <a:prstGeom prst="rect">
            <a:avLst/>
          </a:prstGeom>
        </p:spPr>
        <p:txBody>
          <a:bodyPr lIns="0" tIns="0" rIns="0" bIns="0" rtlCol="0" anchor="t">
            <a:spAutoFit/>
          </a:bodyPr>
          <a:lstStyle/>
          <a:p>
            <a:pPr algn="r">
              <a:lnSpc>
                <a:spcPts val="6160"/>
              </a:lnSpc>
            </a:pPr>
            <a:r>
              <a:rPr lang="en-US" sz="4000">
                <a:solidFill>
                  <a:srgbClr val="182D88"/>
                </a:solidFill>
                <a:latin typeface="Arimo Bold"/>
              </a:rPr>
              <a:t>DR.Nazeerunnisa  </a:t>
            </a:r>
          </a:p>
          <a:p>
            <a:pPr algn="r">
              <a:lnSpc>
                <a:spcPts val="4620"/>
              </a:lnSpc>
            </a:pPr>
            <a:r>
              <a:rPr lang="en-US" sz="3000">
                <a:solidFill>
                  <a:srgbClr val="000000"/>
                </a:solidFill>
                <a:latin typeface="Arimo"/>
              </a:rPr>
              <a:t>Senior Assistant Professor</a:t>
            </a:r>
          </a:p>
        </p:txBody>
      </p:sp>
      <p:sp>
        <p:nvSpPr>
          <p:cNvPr id="8" name="TextBox 8"/>
          <p:cNvSpPr txBox="1"/>
          <p:nvPr/>
        </p:nvSpPr>
        <p:spPr>
          <a:xfrm rot="4758068">
            <a:off x="3647757" y="7464836"/>
            <a:ext cx="4516654" cy="708325"/>
          </a:xfrm>
          <a:prstGeom prst="rect">
            <a:avLst/>
          </a:prstGeom>
        </p:spPr>
        <p:txBody>
          <a:bodyPr lIns="0" tIns="0" rIns="0" bIns="0" rtlCol="0" anchor="t">
            <a:spAutoFit/>
          </a:bodyPr>
          <a:lstStyle/>
          <a:p>
            <a:pPr algn="ctr">
              <a:lnSpc>
                <a:spcPts val="5057"/>
              </a:lnSpc>
            </a:pPr>
            <a:r>
              <a:rPr lang="en-US" sz="3612" spc="725">
                <a:solidFill>
                  <a:srgbClr val="DC1C4B"/>
                </a:solidFill>
                <a:latin typeface="Arimo Bold"/>
              </a:rPr>
              <a:t>TEAM</a:t>
            </a:r>
          </a:p>
        </p:txBody>
      </p:sp>
      <p:sp>
        <p:nvSpPr>
          <p:cNvPr id="9" name="TextBox 9"/>
          <p:cNvSpPr txBox="1"/>
          <p:nvPr/>
        </p:nvSpPr>
        <p:spPr>
          <a:xfrm>
            <a:off x="8086227" y="5966744"/>
            <a:ext cx="9173073" cy="1353807"/>
          </a:xfrm>
          <a:prstGeom prst="rect">
            <a:avLst/>
          </a:prstGeom>
        </p:spPr>
        <p:txBody>
          <a:bodyPr lIns="0" tIns="0" rIns="0" bIns="0" rtlCol="0" anchor="t">
            <a:spAutoFit/>
          </a:bodyPr>
          <a:lstStyle/>
          <a:p>
            <a:pPr algn="r">
              <a:lnSpc>
                <a:spcPts val="6159"/>
              </a:lnSpc>
            </a:pPr>
            <a:r>
              <a:rPr lang="en-US" sz="3999">
                <a:solidFill>
                  <a:srgbClr val="182D88"/>
                </a:solidFill>
                <a:latin typeface="Arimo Bold"/>
              </a:rPr>
              <a:t>Mohammed Hassan Ahmed </a:t>
            </a:r>
          </a:p>
          <a:p>
            <a:pPr algn="r">
              <a:lnSpc>
                <a:spcPts val="4620"/>
              </a:lnSpc>
            </a:pPr>
            <a:r>
              <a:rPr lang="en-US" sz="3000">
                <a:solidFill>
                  <a:srgbClr val="000000"/>
                </a:solidFill>
                <a:latin typeface="Arimo"/>
              </a:rPr>
              <a:t>1604-20-735-091</a:t>
            </a:r>
          </a:p>
        </p:txBody>
      </p:sp>
      <p:sp>
        <p:nvSpPr>
          <p:cNvPr id="10" name="TextBox 10"/>
          <p:cNvSpPr txBox="1"/>
          <p:nvPr/>
        </p:nvSpPr>
        <p:spPr>
          <a:xfrm>
            <a:off x="8086227" y="7761605"/>
            <a:ext cx="9173073" cy="1353807"/>
          </a:xfrm>
          <a:prstGeom prst="rect">
            <a:avLst/>
          </a:prstGeom>
        </p:spPr>
        <p:txBody>
          <a:bodyPr lIns="0" tIns="0" rIns="0" bIns="0" rtlCol="0" anchor="t">
            <a:spAutoFit/>
          </a:bodyPr>
          <a:lstStyle/>
          <a:p>
            <a:pPr algn="r">
              <a:lnSpc>
                <a:spcPts val="6159"/>
              </a:lnSpc>
            </a:pPr>
            <a:r>
              <a:rPr lang="en-US" sz="3999">
                <a:solidFill>
                  <a:srgbClr val="182D88"/>
                </a:solidFill>
                <a:latin typeface="Arimo Bold"/>
              </a:rPr>
              <a:t>Mohammed Ilyas</a:t>
            </a:r>
          </a:p>
          <a:p>
            <a:pPr algn="r">
              <a:lnSpc>
                <a:spcPts val="4620"/>
              </a:lnSpc>
            </a:pPr>
            <a:r>
              <a:rPr lang="en-US" sz="3000">
                <a:solidFill>
                  <a:srgbClr val="000000"/>
                </a:solidFill>
                <a:latin typeface="Arimo"/>
              </a:rPr>
              <a:t>1604-20-735-076</a:t>
            </a:r>
          </a:p>
        </p:txBody>
      </p:sp>
      <p:sp>
        <p:nvSpPr>
          <p:cNvPr id="11" name="TextBox 11"/>
          <p:cNvSpPr txBox="1"/>
          <p:nvPr/>
        </p:nvSpPr>
        <p:spPr>
          <a:xfrm>
            <a:off x="8086227" y="4171883"/>
            <a:ext cx="9173073" cy="1353807"/>
          </a:xfrm>
          <a:prstGeom prst="rect">
            <a:avLst/>
          </a:prstGeom>
        </p:spPr>
        <p:txBody>
          <a:bodyPr lIns="0" tIns="0" rIns="0" bIns="0" rtlCol="0" anchor="t">
            <a:spAutoFit/>
          </a:bodyPr>
          <a:lstStyle/>
          <a:p>
            <a:pPr algn="r">
              <a:lnSpc>
                <a:spcPts val="6159"/>
              </a:lnSpc>
            </a:pPr>
            <a:r>
              <a:rPr lang="en-US" sz="3999" dirty="0">
                <a:solidFill>
                  <a:srgbClr val="182D88"/>
                </a:solidFill>
                <a:latin typeface="Arimo Bold"/>
              </a:rPr>
              <a:t>Mirza Sameeullah Baig</a:t>
            </a:r>
          </a:p>
          <a:p>
            <a:pPr algn="r">
              <a:lnSpc>
                <a:spcPts val="4620"/>
              </a:lnSpc>
            </a:pPr>
            <a:r>
              <a:rPr lang="en-US" sz="3000">
                <a:solidFill>
                  <a:srgbClr val="000000"/>
                </a:solidFill>
                <a:latin typeface="Arimo"/>
              </a:rPr>
              <a:t>1604-20-735-101</a:t>
            </a:r>
          </a:p>
        </p:txBody>
      </p:sp>
      <p:sp>
        <p:nvSpPr>
          <p:cNvPr id="12" name="TextBox 12"/>
          <p:cNvSpPr txBox="1"/>
          <p:nvPr/>
        </p:nvSpPr>
        <p:spPr>
          <a:xfrm>
            <a:off x="10619364" y="723900"/>
            <a:ext cx="6639936" cy="949137"/>
          </a:xfrm>
          <a:prstGeom prst="rect">
            <a:avLst/>
          </a:prstGeom>
        </p:spPr>
        <p:txBody>
          <a:bodyPr lIns="0" tIns="0" rIns="0" bIns="0" rtlCol="0" anchor="t">
            <a:spAutoFit/>
          </a:bodyPr>
          <a:lstStyle/>
          <a:p>
            <a:pPr algn="r">
              <a:lnSpc>
                <a:spcPts val="6574"/>
              </a:lnSpc>
            </a:pPr>
            <a:r>
              <a:rPr lang="en-US" sz="4269">
                <a:solidFill>
                  <a:srgbClr val="DC1C4B"/>
                </a:solidFill>
                <a:latin typeface="Arimo Bold"/>
              </a:rPr>
              <a:t>PROJECT MENTOR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14052173" y="-1167295"/>
            <a:ext cx="8754474" cy="12979873"/>
          </a:xfrm>
          <a:custGeom>
            <a:avLst/>
            <a:gdLst/>
            <a:ahLst/>
            <a:cxnLst/>
            <a:rect l="l" t="t" r="r" b="b"/>
            <a:pathLst>
              <a:path w="8754474" h="12979873">
                <a:moveTo>
                  <a:pt x="0" y="0"/>
                </a:moveTo>
                <a:lnTo>
                  <a:pt x="8754473" y="0"/>
                </a:lnTo>
                <a:lnTo>
                  <a:pt x="8754473" y="12979872"/>
                </a:lnTo>
                <a:lnTo>
                  <a:pt x="0" y="129798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819001" y="3796719"/>
            <a:ext cx="3623227" cy="8466348"/>
          </a:xfrm>
          <a:custGeom>
            <a:avLst/>
            <a:gdLst/>
            <a:ahLst/>
            <a:cxnLst/>
            <a:rect l="l" t="t" r="r" b="b"/>
            <a:pathLst>
              <a:path w="3623227" h="8466348">
                <a:moveTo>
                  <a:pt x="0" y="0"/>
                </a:moveTo>
                <a:lnTo>
                  <a:pt x="3623228" y="0"/>
                </a:lnTo>
                <a:lnTo>
                  <a:pt x="3623228" y="8466348"/>
                </a:lnTo>
                <a:lnTo>
                  <a:pt x="0" y="84663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3798488" y="-4081775"/>
            <a:ext cx="3676018" cy="8462747"/>
          </a:xfrm>
          <a:custGeom>
            <a:avLst/>
            <a:gdLst/>
            <a:ahLst/>
            <a:cxnLst/>
            <a:rect l="l" t="t" r="r" b="b"/>
            <a:pathLst>
              <a:path w="3676018" h="8462747">
                <a:moveTo>
                  <a:pt x="0" y="0"/>
                </a:moveTo>
                <a:lnTo>
                  <a:pt x="3676018" y="0"/>
                </a:lnTo>
                <a:lnTo>
                  <a:pt x="3676018" y="8462747"/>
                </a:lnTo>
                <a:lnTo>
                  <a:pt x="0" y="846274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832360" y="470647"/>
            <a:ext cx="8311640" cy="796290"/>
          </a:xfrm>
          <a:prstGeom prst="rect">
            <a:avLst/>
          </a:prstGeom>
        </p:spPr>
        <p:txBody>
          <a:bodyPr lIns="0" tIns="0" rIns="0" bIns="0" rtlCol="0" anchor="t">
            <a:spAutoFit/>
          </a:bodyPr>
          <a:lstStyle/>
          <a:p>
            <a:pPr algn="just">
              <a:lnSpc>
                <a:spcPts val="6180"/>
              </a:lnSpc>
            </a:pPr>
            <a:r>
              <a:rPr lang="en-US" sz="6000">
                <a:solidFill>
                  <a:srgbClr val="DC1C4B"/>
                </a:solidFill>
                <a:latin typeface="Arimo Bold"/>
              </a:rPr>
              <a:t>PROJECT OVERVIEW</a:t>
            </a:r>
          </a:p>
        </p:txBody>
      </p:sp>
      <p:sp>
        <p:nvSpPr>
          <p:cNvPr id="6" name="TextBox 6"/>
          <p:cNvSpPr txBox="1"/>
          <p:nvPr/>
        </p:nvSpPr>
        <p:spPr>
          <a:xfrm>
            <a:off x="449592" y="1841566"/>
            <a:ext cx="7934557" cy="9295126"/>
          </a:xfrm>
          <a:prstGeom prst="rect">
            <a:avLst/>
          </a:prstGeom>
        </p:spPr>
        <p:txBody>
          <a:bodyPr lIns="0" tIns="0" rIns="0" bIns="0" rtlCol="0" anchor="t">
            <a:spAutoFit/>
          </a:bodyPr>
          <a:lstStyle/>
          <a:p>
            <a:pPr marL="639941" lvl="2" indent="-213314" algn="l">
              <a:lnSpc>
                <a:spcPts val="5318"/>
              </a:lnSpc>
              <a:buFont typeface="Arial"/>
              <a:buChar char="⚬"/>
            </a:pPr>
            <a:r>
              <a:rPr lang="en-US" sz="2799">
                <a:solidFill>
                  <a:srgbClr val="000000"/>
                </a:solidFill>
                <a:latin typeface="Arimo Bold"/>
              </a:rPr>
              <a:t>General Introduction</a:t>
            </a:r>
          </a:p>
          <a:p>
            <a:pPr marL="639941" lvl="2" indent="-213314" algn="l">
              <a:lnSpc>
                <a:spcPts val="5318"/>
              </a:lnSpc>
              <a:buFont typeface="Arial"/>
              <a:buChar char="⚬"/>
            </a:pPr>
            <a:r>
              <a:rPr lang="en-US" sz="2799">
                <a:solidFill>
                  <a:srgbClr val="000000"/>
                </a:solidFill>
                <a:latin typeface="Arimo Bold"/>
              </a:rPr>
              <a:t>Applications</a:t>
            </a:r>
          </a:p>
          <a:p>
            <a:pPr marL="639941" lvl="2" indent="-213314" algn="l">
              <a:lnSpc>
                <a:spcPts val="5318"/>
              </a:lnSpc>
              <a:buFont typeface="Arial"/>
              <a:buChar char="⚬"/>
            </a:pPr>
            <a:r>
              <a:rPr lang="en-US" sz="2799">
                <a:solidFill>
                  <a:srgbClr val="000000"/>
                </a:solidFill>
                <a:latin typeface="Arimo Bold"/>
              </a:rPr>
              <a:t>Problem statement</a:t>
            </a:r>
          </a:p>
          <a:p>
            <a:pPr marL="639941" lvl="2" indent="-213314" algn="l">
              <a:lnSpc>
                <a:spcPts val="5318"/>
              </a:lnSpc>
              <a:buFont typeface="Arial"/>
              <a:buChar char="⚬"/>
            </a:pPr>
            <a:r>
              <a:rPr lang="en-US" sz="2799">
                <a:solidFill>
                  <a:srgbClr val="000000"/>
                </a:solidFill>
                <a:latin typeface="Arimo Bold"/>
              </a:rPr>
              <a:t>Literature Survey</a:t>
            </a:r>
          </a:p>
          <a:p>
            <a:pPr marL="639855" lvl="2" indent="-213285" algn="l">
              <a:lnSpc>
                <a:spcPts val="5318"/>
              </a:lnSpc>
              <a:buFont typeface="Arial"/>
              <a:buChar char="⚬"/>
            </a:pPr>
            <a:r>
              <a:rPr lang="en-US" sz="2799">
                <a:solidFill>
                  <a:srgbClr val="000000"/>
                </a:solidFill>
                <a:latin typeface="Arimo Bold"/>
              </a:rPr>
              <a:t>Design Objective</a:t>
            </a:r>
          </a:p>
          <a:p>
            <a:pPr marL="639855" lvl="2" indent="-213285" algn="l">
              <a:lnSpc>
                <a:spcPts val="5318"/>
              </a:lnSpc>
              <a:buFont typeface="Arial"/>
              <a:buChar char="⚬"/>
            </a:pPr>
            <a:r>
              <a:rPr lang="en-US" sz="2799">
                <a:solidFill>
                  <a:srgbClr val="000000"/>
                </a:solidFill>
                <a:latin typeface="Arimo Bold"/>
              </a:rPr>
              <a:t>About ECG</a:t>
            </a:r>
          </a:p>
          <a:p>
            <a:pPr marL="639855" lvl="2" indent="-213285" algn="l">
              <a:lnSpc>
                <a:spcPts val="5318"/>
              </a:lnSpc>
              <a:buFont typeface="Arial"/>
              <a:buChar char="⚬"/>
            </a:pPr>
            <a:r>
              <a:rPr lang="en-US" sz="2799">
                <a:solidFill>
                  <a:srgbClr val="000000"/>
                </a:solidFill>
                <a:latin typeface="Arimo Bold"/>
              </a:rPr>
              <a:t>Heart Diseases Analysis</a:t>
            </a:r>
          </a:p>
          <a:p>
            <a:pPr marL="639855" lvl="2" indent="-213285" algn="l">
              <a:lnSpc>
                <a:spcPts val="5318"/>
              </a:lnSpc>
              <a:buFont typeface="Arial"/>
              <a:buChar char="⚬"/>
            </a:pPr>
            <a:r>
              <a:rPr lang="en-US" sz="2799">
                <a:solidFill>
                  <a:srgbClr val="000000"/>
                </a:solidFill>
                <a:latin typeface="Arimo Bold"/>
              </a:rPr>
              <a:t>Design Methodology and Tools</a:t>
            </a:r>
          </a:p>
          <a:p>
            <a:pPr marL="639855" lvl="2" indent="-213285" algn="l">
              <a:lnSpc>
                <a:spcPts val="5318"/>
              </a:lnSpc>
              <a:buFont typeface="Arial"/>
              <a:buChar char="⚬"/>
            </a:pPr>
            <a:r>
              <a:rPr lang="en-US" sz="2799">
                <a:solidFill>
                  <a:srgbClr val="000000"/>
                </a:solidFill>
                <a:latin typeface="Arimo Bold"/>
              </a:rPr>
              <a:t>Implementation of ML Model</a:t>
            </a:r>
          </a:p>
          <a:p>
            <a:pPr algn="l">
              <a:lnSpc>
                <a:spcPts val="5318"/>
              </a:lnSpc>
            </a:pPr>
            <a:endParaRPr lang="en-US" sz="2799">
              <a:solidFill>
                <a:srgbClr val="000000"/>
              </a:solidFill>
              <a:latin typeface="Arimo Bold"/>
            </a:endParaRPr>
          </a:p>
          <a:p>
            <a:pPr algn="l">
              <a:lnSpc>
                <a:spcPts val="5318"/>
              </a:lnSpc>
            </a:pPr>
            <a:endParaRPr lang="en-US" sz="2799">
              <a:solidFill>
                <a:srgbClr val="000000"/>
              </a:solidFill>
              <a:latin typeface="Arimo Bold"/>
            </a:endParaRPr>
          </a:p>
          <a:p>
            <a:pPr algn="l">
              <a:lnSpc>
                <a:spcPts val="5318"/>
              </a:lnSpc>
            </a:pPr>
            <a:endParaRPr lang="en-US" sz="2799">
              <a:solidFill>
                <a:srgbClr val="000000"/>
              </a:solidFill>
              <a:latin typeface="Arimo Bold"/>
            </a:endParaRPr>
          </a:p>
          <a:p>
            <a:pPr marL="639941" lvl="2" indent="-213314" algn="l">
              <a:lnSpc>
                <a:spcPts val="5318"/>
              </a:lnSpc>
            </a:pPr>
            <a:endParaRPr lang="en-US" sz="2799">
              <a:solidFill>
                <a:srgbClr val="000000"/>
              </a:solidFill>
              <a:latin typeface="Arimo Bold"/>
            </a:endParaRPr>
          </a:p>
          <a:p>
            <a:pPr marL="639941" lvl="2" indent="-213314" algn="l">
              <a:lnSpc>
                <a:spcPts val="5318"/>
              </a:lnSpc>
            </a:pPr>
            <a:endParaRPr lang="en-US" sz="2799">
              <a:solidFill>
                <a:srgbClr val="000000"/>
              </a:solidFill>
              <a:latin typeface="Arimo Bold"/>
            </a:endParaRPr>
          </a:p>
        </p:txBody>
      </p:sp>
      <p:sp>
        <p:nvSpPr>
          <p:cNvPr id="7" name="TextBox 7"/>
          <p:cNvSpPr txBox="1"/>
          <p:nvPr/>
        </p:nvSpPr>
        <p:spPr>
          <a:xfrm>
            <a:off x="7765837" y="1655517"/>
            <a:ext cx="5737268" cy="4761864"/>
          </a:xfrm>
          <a:prstGeom prst="rect">
            <a:avLst/>
          </a:prstGeom>
        </p:spPr>
        <p:txBody>
          <a:bodyPr lIns="0" tIns="0" rIns="0" bIns="0" rtlCol="0" anchor="t">
            <a:spAutoFit/>
          </a:bodyPr>
          <a:lstStyle/>
          <a:p>
            <a:pPr marL="662944" lvl="2" indent="-220981">
              <a:lnSpc>
                <a:spcPts val="5510"/>
              </a:lnSpc>
              <a:buFont typeface="Arial"/>
              <a:buChar char="⚬"/>
            </a:pPr>
            <a:r>
              <a:rPr lang="en-US" sz="2900">
                <a:solidFill>
                  <a:srgbClr val="000000"/>
                </a:solidFill>
                <a:latin typeface="Arimo Bold"/>
              </a:rPr>
              <a:t>Generic Model of ML</a:t>
            </a:r>
          </a:p>
          <a:p>
            <a:pPr marL="662944" lvl="2" indent="-220981">
              <a:lnSpc>
                <a:spcPts val="5510"/>
              </a:lnSpc>
              <a:buFont typeface="Arial"/>
              <a:buChar char="⚬"/>
            </a:pPr>
            <a:r>
              <a:rPr lang="en-US" sz="2900">
                <a:solidFill>
                  <a:srgbClr val="000000"/>
                </a:solidFill>
                <a:latin typeface="Arimo Bold"/>
              </a:rPr>
              <a:t>Design Specifications</a:t>
            </a:r>
          </a:p>
          <a:p>
            <a:pPr marL="640085" lvl="2" indent="-213362" algn="l">
              <a:lnSpc>
                <a:spcPts val="5320"/>
              </a:lnSpc>
              <a:buFont typeface="Arial"/>
              <a:buChar char="⚬"/>
            </a:pPr>
            <a:r>
              <a:rPr lang="en-US" sz="2800">
                <a:solidFill>
                  <a:srgbClr val="000000"/>
                </a:solidFill>
                <a:latin typeface="Arimo Bold"/>
              </a:rPr>
              <a:t>Block Diagram and Flow chart</a:t>
            </a:r>
          </a:p>
          <a:p>
            <a:pPr marL="662943" lvl="2" indent="-220981" algn="l">
              <a:lnSpc>
                <a:spcPts val="5510"/>
              </a:lnSpc>
              <a:buFont typeface="Arial"/>
              <a:buChar char="⚬"/>
            </a:pPr>
            <a:r>
              <a:rPr lang="en-US" sz="2900">
                <a:solidFill>
                  <a:srgbClr val="000000"/>
                </a:solidFill>
                <a:latin typeface="Arimo Bold"/>
              </a:rPr>
              <a:t>Detailed Explanation</a:t>
            </a:r>
          </a:p>
          <a:p>
            <a:pPr marL="662943" lvl="2" indent="-220981" algn="l">
              <a:lnSpc>
                <a:spcPts val="5510"/>
              </a:lnSpc>
              <a:buFont typeface="Arial"/>
              <a:buChar char="⚬"/>
            </a:pPr>
            <a:r>
              <a:rPr lang="en-US" sz="2900">
                <a:solidFill>
                  <a:srgbClr val="000000"/>
                </a:solidFill>
                <a:latin typeface="Arimo Bold"/>
              </a:rPr>
              <a:t>Project Timeline</a:t>
            </a:r>
          </a:p>
          <a:p>
            <a:pPr marL="662943" lvl="2" indent="-220981" algn="l">
              <a:lnSpc>
                <a:spcPts val="5510"/>
              </a:lnSpc>
              <a:buFont typeface="Arial"/>
              <a:buChar char="⚬"/>
            </a:pPr>
            <a:r>
              <a:rPr lang="en-US" sz="2900">
                <a:solidFill>
                  <a:srgbClr val="000000"/>
                </a:solidFill>
                <a:latin typeface="Arimo Bold"/>
              </a:rPr>
              <a:t>Reference papers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407018" y="9334500"/>
            <a:ext cx="19102035" cy="1360363"/>
          </a:xfrm>
          <a:custGeom>
            <a:avLst/>
            <a:gdLst/>
            <a:ahLst/>
            <a:cxnLst/>
            <a:rect l="l" t="t" r="r" b="b"/>
            <a:pathLst>
              <a:path w="19102035" h="1360363">
                <a:moveTo>
                  <a:pt x="0" y="0"/>
                </a:moveTo>
                <a:lnTo>
                  <a:pt x="19102035" y="0"/>
                </a:lnTo>
                <a:lnTo>
                  <a:pt x="19102035" y="1360363"/>
                </a:lnTo>
                <a:lnTo>
                  <a:pt x="0" y="13603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286651" y="-2781822"/>
            <a:ext cx="5538817" cy="5563643"/>
          </a:xfrm>
          <a:custGeom>
            <a:avLst/>
            <a:gdLst/>
            <a:ahLst/>
            <a:cxnLst/>
            <a:rect l="l" t="t" r="r" b="b"/>
            <a:pathLst>
              <a:path w="5538817" h="5563643">
                <a:moveTo>
                  <a:pt x="0" y="0"/>
                </a:moveTo>
                <a:lnTo>
                  <a:pt x="5538817" y="0"/>
                </a:lnTo>
                <a:lnTo>
                  <a:pt x="5538817" y="5563643"/>
                </a:lnTo>
                <a:lnTo>
                  <a:pt x="0" y="55636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4162954" y="141605"/>
            <a:ext cx="8438092" cy="887095"/>
          </a:xfrm>
          <a:prstGeom prst="rect">
            <a:avLst/>
          </a:prstGeom>
        </p:spPr>
        <p:txBody>
          <a:bodyPr lIns="0" tIns="0" rIns="0" bIns="0" rtlCol="0" anchor="t">
            <a:spAutoFit/>
          </a:bodyPr>
          <a:lstStyle/>
          <a:p>
            <a:pPr algn="ctr">
              <a:lnSpc>
                <a:spcPts val="7279"/>
              </a:lnSpc>
            </a:pPr>
            <a:r>
              <a:rPr lang="en-US" sz="5199">
                <a:solidFill>
                  <a:srgbClr val="DC1C4B"/>
                </a:solidFill>
                <a:latin typeface="Canva Sans Bold"/>
              </a:rPr>
              <a:t>GENERAL INTRODUCTION</a:t>
            </a:r>
          </a:p>
        </p:txBody>
      </p:sp>
      <p:sp>
        <p:nvSpPr>
          <p:cNvPr id="5" name="TextBox 5"/>
          <p:cNvSpPr txBox="1"/>
          <p:nvPr/>
        </p:nvSpPr>
        <p:spPr>
          <a:xfrm>
            <a:off x="739588" y="3145401"/>
            <a:ext cx="16136471" cy="3919415"/>
          </a:xfrm>
          <a:prstGeom prst="rect">
            <a:avLst/>
          </a:prstGeom>
        </p:spPr>
        <p:txBody>
          <a:bodyPr lIns="0" tIns="0" rIns="0" bIns="0" rtlCol="0" anchor="t">
            <a:spAutoFit/>
          </a:bodyPr>
          <a:lstStyle/>
          <a:p>
            <a:pPr algn="ctr">
              <a:lnSpc>
                <a:spcPts val="4469"/>
              </a:lnSpc>
            </a:pPr>
            <a:r>
              <a:rPr lang="en-US" sz="3192">
                <a:solidFill>
                  <a:srgbClr val="231F20"/>
                </a:solidFill>
                <a:latin typeface="Tex Gyre Termes"/>
              </a:rPr>
              <a:t>An electrocardiogram (ECG) is a signal that measures the electric activity of the heart. The proposed approach is implemented using ML-libs and Scala language on Apache Spark framework; ML-lib is Apache Spark’s scalable machine learning library. The key challenge in ECG classification is to handle the irregularities in the ECG signals which is very important to detect the patient status</a:t>
            </a:r>
          </a:p>
          <a:p>
            <a:pPr algn="ctr">
              <a:lnSpc>
                <a:spcPts val="4469"/>
              </a:lnSpc>
            </a:pPr>
            <a:endParaRPr lang="en-US" sz="3192">
              <a:solidFill>
                <a:srgbClr val="231F20"/>
              </a:solidFill>
              <a:latin typeface="Tex Gyre Termes"/>
            </a:endParaRPr>
          </a:p>
          <a:p>
            <a:pPr algn="ctr">
              <a:lnSpc>
                <a:spcPts val="4469"/>
              </a:lnSpc>
            </a:pPr>
            <a:endParaRPr lang="en-US" sz="3192">
              <a:solidFill>
                <a:srgbClr val="231F20"/>
              </a:solidFill>
              <a:latin typeface="Tex Gyre Terme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3253442" y="-3654106"/>
            <a:ext cx="5222960" cy="5246370"/>
          </a:xfrm>
          <a:custGeom>
            <a:avLst/>
            <a:gdLst/>
            <a:ahLst/>
            <a:cxnLst/>
            <a:rect l="l" t="t" r="r" b="b"/>
            <a:pathLst>
              <a:path w="5222960" h="5246370">
                <a:moveTo>
                  <a:pt x="0" y="0"/>
                </a:moveTo>
                <a:lnTo>
                  <a:pt x="5222959" y="0"/>
                </a:lnTo>
                <a:lnTo>
                  <a:pt x="5222959" y="5246370"/>
                </a:lnTo>
                <a:lnTo>
                  <a:pt x="0" y="52463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318482" y="8452347"/>
            <a:ext cx="5222960" cy="5246370"/>
          </a:xfrm>
          <a:custGeom>
            <a:avLst/>
            <a:gdLst/>
            <a:ahLst/>
            <a:cxnLst/>
            <a:rect l="l" t="t" r="r" b="b"/>
            <a:pathLst>
              <a:path w="5222960" h="5246370">
                <a:moveTo>
                  <a:pt x="0" y="0"/>
                </a:moveTo>
                <a:lnTo>
                  <a:pt x="5222959" y="0"/>
                </a:lnTo>
                <a:lnTo>
                  <a:pt x="5222959" y="5246370"/>
                </a:lnTo>
                <a:lnTo>
                  <a:pt x="0" y="52463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350019" y="6335064"/>
            <a:ext cx="5599329" cy="3734052"/>
          </a:xfrm>
          <a:custGeom>
            <a:avLst/>
            <a:gdLst/>
            <a:ahLst/>
            <a:cxnLst/>
            <a:rect l="l" t="t" r="r" b="b"/>
            <a:pathLst>
              <a:path w="5599329" h="3734052">
                <a:moveTo>
                  <a:pt x="0" y="0"/>
                </a:moveTo>
                <a:lnTo>
                  <a:pt x="5599329" y="0"/>
                </a:lnTo>
                <a:lnTo>
                  <a:pt x="5599329" y="3734052"/>
                </a:lnTo>
                <a:lnTo>
                  <a:pt x="0" y="3734052"/>
                </a:lnTo>
                <a:lnTo>
                  <a:pt x="0" y="0"/>
                </a:lnTo>
                <a:close/>
              </a:path>
            </a:pathLst>
          </a:custGeom>
          <a:blipFill>
            <a:blip r:embed="rId4"/>
            <a:stretch>
              <a:fillRect b="-11"/>
            </a:stretch>
          </a:blipFill>
        </p:spPr>
      </p:sp>
      <p:sp>
        <p:nvSpPr>
          <p:cNvPr id="5" name="TextBox 5"/>
          <p:cNvSpPr txBox="1"/>
          <p:nvPr/>
        </p:nvSpPr>
        <p:spPr>
          <a:xfrm>
            <a:off x="4119760" y="590550"/>
            <a:ext cx="10048479" cy="1350645"/>
          </a:xfrm>
          <a:prstGeom prst="rect">
            <a:avLst/>
          </a:prstGeom>
        </p:spPr>
        <p:txBody>
          <a:bodyPr lIns="0" tIns="0" rIns="0" bIns="0" rtlCol="0" anchor="t">
            <a:spAutoFit/>
          </a:bodyPr>
          <a:lstStyle/>
          <a:p>
            <a:pPr algn="ctr">
              <a:lnSpc>
                <a:spcPts val="9240"/>
              </a:lnSpc>
            </a:pPr>
            <a:r>
              <a:rPr lang="en-US" sz="6000">
                <a:solidFill>
                  <a:srgbClr val="DC1C4B"/>
                </a:solidFill>
                <a:latin typeface="Arimo Bold"/>
              </a:rPr>
              <a:t>APPLICATIONS</a:t>
            </a:r>
          </a:p>
        </p:txBody>
      </p:sp>
      <p:sp>
        <p:nvSpPr>
          <p:cNvPr id="6" name="TextBox 6"/>
          <p:cNvSpPr txBox="1"/>
          <p:nvPr/>
        </p:nvSpPr>
        <p:spPr>
          <a:xfrm>
            <a:off x="1312769" y="2986684"/>
            <a:ext cx="15662462" cy="3912558"/>
          </a:xfrm>
          <a:prstGeom prst="rect">
            <a:avLst/>
          </a:prstGeom>
        </p:spPr>
        <p:txBody>
          <a:bodyPr lIns="0" tIns="0" rIns="0" bIns="0" rtlCol="0" anchor="t">
            <a:spAutoFit/>
          </a:bodyPr>
          <a:lstStyle/>
          <a:p>
            <a:pPr marL="861896" lvl="2" indent="-287298" algn="ctr">
              <a:lnSpc>
                <a:spcPts val="9425"/>
              </a:lnSpc>
              <a:buFont typeface="Arial"/>
              <a:buChar char="⚬"/>
            </a:pPr>
            <a:r>
              <a:rPr lang="en-US" sz="3770">
                <a:solidFill>
                  <a:srgbClr val="000000"/>
                </a:solidFill>
                <a:latin typeface="Tex Gyre Termes"/>
              </a:rPr>
              <a:t>Measurement of the electrical activity of the heart to detect cardiac problems.</a:t>
            </a:r>
          </a:p>
          <a:p>
            <a:pPr marL="861896" lvl="2" indent="-287298" algn="l">
              <a:lnSpc>
                <a:spcPts val="9425"/>
              </a:lnSpc>
              <a:buFont typeface="Arial"/>
              <a:buChar char="⚬"/>
            </a:pPr>
            <a:r>
              <a:rPr lang="en-US" sz="3770">
                <a:solidFill>
                  <a:srgbClr val="000000"/>
                </a:solidFill>
                <a:latin typeface="Tex Gyre Termes"/>
              </a:rPr>
              <a:t> It can be helpful for the self-diagnosis</a:t>
            </a:r>
          </a:p>
          <a:p>
            <a:pPr marL="861896" lvl="2" indent="-287298" algn="l">
              <a:lnSpc>
                <a:spcPts val="9425"/>
              </a:lnSpc>
              <a:buFont typeface="Arial"/>
              <a:buChar char="⚬"/>
            </a:pPr>
            <a:r>
              <a:rPr lang="en-US" sz="3770">
                <a:solidFill>
                  <a:srgbClr val="000000"/>
                </a:solidFill>
                <a:latin typeface="Tex Gyre Termes"/>
              </a:rPr>
              <a:t>To help the doctors with research studies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13828377" y="6317842"/>
            <a:ext cx="5538817" cy="5563643"/>
          </a:xfrm>
          <a:custGeom>
            <a:avLst/>
            <a:gdLst/>
            <a:ahLst/>
            <a:cxnLst/>
            <a:rect l="l" t="t" r="r" b="b"/>
            <a:pathLst>
              <a:path w="5538817" h="5563643">
                <a:moveTo>
                  <a:pt x="0" y="0"/>
                </a:moveTo>
                <a:lnTo>
                  <a:pt x="5538817" y="0"/>
                </a:lnTo>
                <a:lnTo>
                  <a:pt x="5538817" y="5563643"/>
                </a:lnTo>
                <a:lnTo>
                  <a:pt x="0" y="556364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7236800" y="4338638"/>
            <a:ext cx="1970371" cy="1979203"/>
          </a:xfrm>
          <a:custGeom>
            <a:avLst/>
            <a:gdLst/>
            <a:ahLst/>
            <a:cxnLst/>
            <a:rect l="l" t="t" r="r" b="b"/>
            <a:pathLst>
              <a:path w="1970371" h="1979203">
                <a:moveTo>
                  <a:pt x="0" y="0"/>
                </a:moveTo>
                <a:lnTo>
                  <a:pt x="1970371" y="0"/>
                </a:lnTo>
                <a:lnTo>
                  <a:pt x="1970371" y="1979203"/>
                </a:lnTo>
                <a:lnTo>
                  <a:pt x="0" y="197920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5933095" y="5166721"/>
            <a:ext cx="907611" cy="911679"/>
          </a:xfrm>
          <a:custGeom>
            <a:avLst/>
            <a:gdLst/>
            <a:ahLst/>
            <a:cxnLst/>
            <a:rect l="l" t="t" r="r" b="b"/>
            <a:pathLst>
              <a:path w="907611" h="911679">
                <a:moveTo>
                  <a:pt x="0" y="0"/>
                </a:moveTo>
                <a:lnTo>
                  <a:pt x="907611" y="0"/>
                </a:lnTo>
                <a:lnTo>
                  <a:pt x="907611" y="911679"/>
                </a:lnTo>
                <a:lnTo>
                  <a:pt x="0" y="9116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028700" y="2266973"/>
            <a:ext cx="13717578" cy="3355587"/>
          </a:xfrm>
          <a:prstGeom prst="rect">
            <a:avLst/>
          </a:prstGeom>
        </p:spPr>
        <p:txBody>
          <a:bodyPr lIns="0" tIns="0" rIns="0" bIns="0" rtlCol="0" anchor="t">
            <a:spAutoFit/>
          </a:bodyPr>
          <a:lstStyle/>
          <a:p>
            <a:pPr algn="just">
              <a:lnSpc>
                <a:spcPts val="5124"/>
              </a:lnSpc>
            </a:pPr>
            <a:r>
              <a:rPr lang="en-US" sz="3326">
                <a:solidFill>
                  <a:srgbClr val="000000"/>
                </a:solidFill>
                <a:latin typeface="Arimo Bold"/>
              </a:rPr>
              <a:t>Early detection of arrhythmias before major heart failures can reduce cardiac arrests in patients by suitable numbers</a:t>
            </a:r>
            <a:r>
              <a:rPr lang="en-US" sz="3326">
                <a:solidFill>
                  <a:srgbClr val="000000"/>
                </a:solidFill>
                <a:latin typeface="Arimo"/>
              </a:rPr>
              <a:t>.</a:t>
            </a:r>
          </a:p>
          <a:p>
            <a:pPr algn="just">
              <a:lnSpc>
                <a:spcPts val="5124"/>
              </a:lnSpc>
            </a:pPr>
            <a:r>
              <a:rPr lang="en-US" sz="3326">
                <a:solidFill>
                  <a:srgbClr val="000000"/>
                </a:solidFill>
                <a:latin typeface="Arimo"/>
              </a:rPr>
              <a:t>The problem addressed in this project is the accurate prediction of heart status using electrocardiogram signals, which is essential for early diagnosis and treatment of cardiac diseases</a:t>
            </a:r>
          </a:p>
        </p:txBody>
      </p:sp>
      <p:sp>
        <p:nvSpPr>
          <p:cNvPr id="6" name="TextBox 6"/>
          <p:cNvSpPr txBox="1"/>
          <p:nvPr/>
        </p:nvSpPr>
        <p:spPr>
          <a:xfrm>
            <a:off x="1028700" y="847725"/>
            <a:ext cx="9680119" cy="1127125"/>
          </a:xfrm>
          <a:prstGeom prst="rect">
            <a:avLst/>
          </a:prstGeom>
        </p:spPr>
        <p:txBody>
          <a:bodyPr lIns="0" tIns="0" rIns="0" bIns="0" rtlCol="0" anchor="t">
            <a:spAutoFit/>
          </a:bodyPr>
          <a:lstStyle/>
          <a:p>
            <a:pPr algn="l">
              <a:lnSpc>
                <a:spcPts val="7699"/>
              </a:lnSpc>
            </a:pPr>
            <a:r>
              <a:rPr lang="en-US" sz="4999">
                <a:solidFill>
                  <a:srgbClr val="DC1C4B"/>
                </a:solidFill>
                <a:latin typeface="Arimo Bold"/>
              </a:rPr>
              <a:t>PROBLEM STATEMENT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3414516790"/>
              </p:ext>
            </p:extLst>
          </p:nvPr>
        </p:nvGraphicFramePr>
        <p:xfrm>
          <a:off x="223116" y="1329826"/>
          <a:ext cx="17779252" cy="8324851"/>
        </p:xfrm>
        <a:graphic>
          <a:graphicData uri="http://schemas.openxmlformats.org/drawingml/2006/table">
            <a:tbl>
              <a:tblPr/>
              <a:tblGrid>
                <a:gridCol w="1031895">
                  <a:extLst>
                    <a:ext uri="{9D8B030D-6E8A-4147-A177-3AD203B41FA5}">
                      <a16:colId xmlns:a16="http://schemas.microsoft.com/office/drawing/2014/main" val="20000"/>
                    </a:ext>
                  </a:extLst>
                </a:gridCol>
                <a:gridCol w="5331407">
                  <a:extLst>
                    <a:ext uri="{9D8B030D-6E8A-4147-A177-3AD203B41FA5}">
                      <a16:colId xmlns:a16="http://schemas.microsoft.com/office/drawing/2014/main" val="20001"/>
                    </a:ext>
                  </a:extLst>
                </a:gridCol>
                <a:gridCol w="2787897">
                  <a:extLst>
                    <a:ext uri="{9D8B030D-6E8A-4147-A177-3AD203B41FA5}">
                      <a16:colId xmlns:a16="http://schemas.microsoft.com/office/drawing/2014/main" val="20002"/>
                    </a:ext>
                  </a:extLst>
                </a:gridCol>
                <a:gridCol w="2861155">
                  <a:extLst>
                    <a:ext uri="{9D8B030D-6E8A-4147-A177-3AD203B41FA5}">
                      <a16:colId xmlns:a16="http://schemas.microsoft.com/office/drawing/2014/main" val="20003"/>
                    </a:ext>
                  </a:extLst>
                </a:gridCol>
                <a:gridCol w="2749703">
                  <a:extLst>
                    <a:ext uri="{9D8B030D-6E8A-4147-A177-3AD203B41FA5}">
                      <a16:colId xmlns:a16="http://schemas.microsoft.com/office/drawing/2014/main" val="20004"/>
                    </a:ext>
                  </a:extLst>
                </a:gridCol>
                <a:gridCol w="3017195">
                  <a:extLst>
                    <a:ext uri="{9D8B030D-6E8A-4147-A177-3AD203B41FA5}">
                      <a16:colId xmlns:a16="http://schemas.microsoft.com/office/drawing/2014/main" val="20005"/>
                    </a:ext>
                  </a:extLst>
                </a:gridCol>
              </a:tblGrid>
              <a:tr h="842054">
                <a:tc>
                  <a:txBody>
                    <a:bodyPr/>
                    <a:lstStyle/>
                    <a:p>
                      <a:pPr algn="ctr">
                        <a:lnSpc>
                          <a:spcPts val="2799"/>
                        </a:lnSpc>
                        <a:defRPr/>
                      </a:pPr>
                      <a:r>
                        <a:rPr lang="en-US" sz="1999">
                          <a:solidFill>
                            <a:srgbClr val="000000"/>
                          </a:solidFill>
                          <a:latin typeface="Tex Gyre Termes"/>
                        </a:rPr>
                        <a:t>Sl.No</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Tex Gyre Termes"/>
                        </a:rPr>
                        <a:t>Title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Tex Gyre Termes"/>
                        </a:rPr>
                        <a:t>Authors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Tex Gyre Termes"/>
                        </a:rPr>
                        <a:t>Conferences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Tex Gyre Termes"/>
                        </a:rPr>
                        <a:t>Methods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Tex Gyre Termes"/>
                        </a:rPr>
                        <a:t>Remarks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966326">
                <a:tc>
                  <a:txBody>
                    <a:bodyPr/>
                    <a:lstStyle/>
                    <a:p>
                      <a:pPr algn="ctr">
                        <a:lnSpc>
                          <a:spcPts val="2799"/>
                        </a:lnSpc>
                        <a:defRPr/>
                      </a:pPr>
                      <a:r>
                        <a:rPr lang="en-US" sz="1999">
                          <a:solidFill>
                            <a:srgbClr val="000000"/>
                          </a:solidFill>
                          <a:latin typeface="Tex Gyre Termes"/>
                        </a:rPr>
                        <a:t>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Tex Gyre Termes"/>
                        </a:rPr>
                        <a:t>Cardiologist-level arrhythmia detection and classification in ambulatory electrocardiograms using a deep neural network</a:t>
                      </a:r>
                      <a:endParaRPr lang="en-US" sz="1100"/>
                    </a:p>
                    <a:p>
                      <a:pPr algn="ctr">
                        <a:lnSpc>
                          <a:spcPts val="2799"/>
                        </a:lnSpc>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Tex Gyre Termes"/>
                          <a:hlinkClick r:id="rId2" tooltip="https://www.nature.com/articles/s41591-018-0268-3#auth-Awni_Y_-Hannun"/>
                        </a:rPr>
                        <a:t>Awni  Hannun</a:t>
                      </a:r>
                      <a:r>
                        <a:rPr lang="en-US" sz="1999">
                          <a:solidFill>
                            <a:srgbClr val="000000"/>
                          </a:solidFill>
                          <a:latin typeface="Tex Gyre Termes"/>
                        </a:rPr>
                        <a:t>, </a:t>
                      </a:r>
                      <a:endParaRPr lang="en-US" sz="1100"/>
                    </a:p>
                    <a:p>
                      <a:pPr algn="ctr">
                        <a:lnSpc>
                          <a:spcPts val="2799"/>
                        </a:lnSpc>
                      </a:pPr>
                      <a:r>
                        <a:rPr lang="en-US" sz="1999">
                          <a:solidFill>
                            <a:srgbClr val="000000"/>
                          </a:solidFill>
                          <a:latin typeface="Tex Gyre Termes"/>
                          <a:hlinkClick r:id="rId3" tooltip="https://www.nature.com/articles/s41591-018-0268-3#auth-Pranav-Rajpurkar"/>
                        </a:rPr>
                        <a:t>Pranav Rajpurkar</a:t>
                      </a:r>
                      <a:r>
                        <a:rPr lang="en-US" sz="1999">
                          <a:solidFill>
                            <a:srgbClr val="000000"/>
                          </a:solidFill>
                          <a:latin typeface="Tex Gyre Termes"/>
                        </a:rPr>
                        <a:t>,</a:t>
                      </a:r>
                    </a:p>
                    <a:p>
                      <a:pPr algn="ctr">
                        <a:lnSpc>
                          <a:spcPts val="2799"/>
                        </a:lnSpc>
                      </a:pPr>
                      <a:r>
                        <a:rPr lang="en-US" sz="1999">
                          <a:solidFill>
                            <a:srgbClr val="000000"/>
                          </a:solidFill>
                          <a:latin typeface="Tex Gyre Termes"/>
                          <a:hlinkClick r:id="rId4" tooltip="https://www.nature.com/articles/s41591-018-0268-3#auth-Codie-Bourn"/>
                        </a:rPr>
                        <a:t>Codie Bourn</a:t>
                      </a:r>
                      <a:r>
                        <a:rPr lang="en-US" sz="1999">
                          <a:solidFill>
                            <a:srgbClr val="000000"/>
                          </a:solidFill>
                          <a:latin typeface="Tex Gyre Termes"/>
                        </a:rPr>
                        <a:t>, </a:t>
                      </a:r>
                      <a:r>
                        <a:rPr lang="en-US" sz="1999">
                          <a:solidFill>
                            <a:srgbClr val="000000"/>
                          </a:solidFill>
                          <a:latin typeface="Tex Gyre Termes"/>
                          <a:hlinkClick r:id="rId5" tooltip="https://www.nature.com/articles/s41591-018-0268-3#auth-Mintu_P_-Turakhia"/>
                        </a:rPr>
                        <a:t>Mintu P. Turakhia</a:t>
                      </a:r>
                      <a:r>
                        <a:rPr lang="en-US" sz="1999">
                          <a:solidFill>
                            <a:srgbClr val="000000"/>
                          </a:solidFill>
                          <a:latin typeface="Tex Gyre Termes"/>
                        </a:rPr>
                        <a:t> &amp; </a:t>
                      </a:r>
                      <a:r>
                        <a:rPr lang="en-US" sz="1999">
                          <a:solidFill>
                            <a:srgbClr val="000000"/>
                          </a:solidFill>
                          <a:latin typeface="Tex Gyre Termes"/>
                          <a:hlinkClick r:id="rId6" tooltip="https://www.nature.com/articles/s41591-018-0268-3#auth-Andrew_Y_-Ng"/>
                        </a:rPr>
                        <a:t>Andrew</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dirty="0">
                          <a:solidFill>
                            <a:srgbClr val="000000"/>
                          </a:solidFill>
                          <a:latin typeface="Tex Gyre Termes"/>
                        </a:rPr>
                        <a:t>Natural Medicine Journal 2019</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dirty="0">
                          <a:solidFill>
                            <a:srgbClr val="000000"/>
                          </a:solidFill>
                          <a:latin typeface="Tex Gyre Termes"/>
                        </a:rPr>
                        <a:t>Convolutional Neural Network (CNN)</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Tex Gyre Termes"/>
                        </a:rPr>
                        <a:t>The paper has proven that there is potential for developing an end-to-end deep learning approach can classify a broad range of arrythmias.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904190">
                <a:tc>
                  <a:txBody>
                    <a:bodyPr/>
                    <a:lstStyle/>
                    <a:p>
                      <a:pPr algn="ctr">
                        <a:lnSpc>
                          <a:spcPts val="2799"/>
                        </a:lnSpc>
                        <a:defRPr/>
                      </a:pPr>
                      <a:r>
                        <a:rPr lang="en-US" sz="1999">
                          <a:solidFill>
                            <a:srgbClr val="000000"/>
                          </a:solidFill>
                          <a:latin typeface="Tex Gyre Termes"/>
                        </a:rPr>
                        <a:t>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Tex Gyre Termes"/>
                        </a:rPr>
                        <a:t>Heartbeat </a:t>
                      </a:r>
                      <a:endParaRPr lang="en-US" sz="1100"/>
                    </a:p>
                    <a:p>
                      <a:pPr algn="ctr">
                        <a:lnSpc>
                          <a:spcPts val="2799"/>
                        </a:lnSpc>
                      </a:pPr>
                      <a:r>
                        <a:rPr lang="en-US" sz="1999">
                          <a:solidFill>
                            <a:srgbClr val="000000"/>
                          </a:solidFill>
                          <a:latin typeface="Tex Gyre Termes"/>
                        </a:rPr>
                        <a:t>classifcation system based </a:t>
                      </a:r>
                    </a:p>
                    <a:p>
                      <a:pPr algn="ctr">
                        <a:lnSpc>
                          <a:spcPts val="2799"/>
                        </a:lnSpc>
                      </a:pPr>
                      <a:r>
                        <a:rPr lang="en-US" sz="1999">
                          <a:solidFill>
                            <a:srgbClr val="000000"/>
                          </a:solidFill>
                          <a:latin typeface="Tex Gyre Termes"/>
                        </a:rPr>
                        <a:t>on neural networks and dimensionality</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Tex Gyre Termes"/>
                        </a:rPr>
                        <a:t>Dalvi RdF, Zago GT, Andreão RV</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dirty="0">
                          <a:solidFill>
                            <a:srgbClr val="000000"/>
                          </a:solidFill>
                          <a:latin typeface="Tex Gyre Termes"/>
                        </a:rPr>
                        <a:t>Research on Biomedical </a:t>
                      </a:r>
                      <a:endParaRPr lang="en-US" sz="1100" dirty="0"/>
                    </a:p>
                    <a:p>
                      <a:pPr algn="ctr">
                        <a:lnSpc>
                          <a:spcPts val="2799"/>
                        </a:lnSpc>
                      </a:pPr>
                      <a:r>
                        <a:rPr lang="en-US" sz="1999" dirty="0">
                          <a:solidFill>
                            <a:srgbClr val="000000"/>
                          </a:solidFill>
                          <a:latin typeface="Tex Gyre Termes"/>
                        </a:rPr>
                        <a:t>Engineering-2022-</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Tex Gyre Termes"/>
                        </a:rPr>
                        <a:t>Neural network and SVM were used for classification.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Tex Gyre Termes"/>
                        </a:rPr>
                        <a:t>Performance on a test set of only 18 ECG records of 30 min each achieved an accuracy of 96.97%.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612281">
                <a:tc>
                  <a:txBody>
                    <a:bodyPr/>
                    <a:lstStyle/>
                    <a:p>
                      <a:pPr algn="ctr">
                        <a:lnSpc>
                          <a:spcPts val="2799"/>
                        </a:lnSpc>
                        <a:defRPr/>
                      </a:pPr>
                      <a:r>
                        <a:rPr lang="en-US" sz="1999">
                          <a:solidFill>
                            <a:srgbClr val="000000"/>
                          </a:solidFill>
                          <a:latin typeface="Tex Gyre Termes"/>
                        </a:rPr>
                        <a:t>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Tex Gyre Termes"/>
                        </a:rPr>
                        <a:t>A generic and robust system for automated patient-specifc classifcation of ECG signals.</a:t>
                      </a:r>
                      <a:endParaRPr lang="en-US" sz="1100"/>
                    </a:p>
                    <a:p>
                      <a:pPr algn="ctr">
                        <a:lnSpc>
                          <a:spcPts val="2799"/>
                        </a:lnSpc>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Tex Gyre Termes"/>
                        </a:rPr>
                        <a:t>Ince T, Kiranyaz S, Gabbouj 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dirty="0">
                          <a:solidFill>
                            <a:srgbClr val="000000"/>
                          </a:solidFill>
                          <a:latin typeface="Tex Gyre Termes"/>
                        </a:rPr>
                        <a:t>IEEE Trans Biomed Eng-2020</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Tex Gyre Termes"/>
                        </a:rPr>
                        <a:t>Feed-forward and fully connected artifcial neural networks aided by particle swarm optimization.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dirty="0">
                          <a:solidFill>
                            <a:srgbClr val="000000"/>
                          </a:solidFill>
                          <a:latin typeface="Tex Gyre Termes"/>
                        </a:rPr>
                        <a:t>Two patterns of </a:t>
                      </a:r>
                      <a:r>
                        <a:rPr lang="en-US" sz="1999" dirty="0" err="1">
                          <a:solidFill>
                            <a:srgbClr val="000000"/>
                          </a:solidFill>
                          <a:latin typeface="Tex Gyre Termes"/>
                        </a:rPr>
                        <a:t>heatbeats</a:t>
                      </a:r>
                      <a:r>
                        <a:rPr lang="en-US" sz="1999" dirty="0">
                          <a:solidFill>
                            <a:srgbClr val="000000"/>
                          </a:solidFill>
                          <a:latin typeface="Tex Gyre Termes"/>
                        </a:rPr>
                        <a:t> are </a:t>
                      </a:r>
                      <a:r>
                        <a:rPr lang="en-US" sz="1999" dirty="0" err="1">
                          <a:solidFill>
                            <a:srgbClr val="000000"/>
                          </a:solidFill>
                          <a:latin typeface="Tex Gyre Termes"/>
                        </a:rPr>
                        <a:t>recognised</a:t>
                      </a:r>
                      <a:r>
                        <a:rPr lang="en-US" sz="1999" dirty="0">
                          <a:solidFill>
                            <a:srgbClr val="000000"/>
                          </a:solidFill>
                          <a:latin typeface="Tex Gyre Termes"/>
                        </a:rPr>
                        <a:t> with 96% accuracy.</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TextBox 3"/>
          <p:cNvSpPr txBox="1"/>
          <p:nvPr/>
        </p:nvSpPr>
        <p:spPr>
          <a:xfrm>
            <a:off x="4614269" y="137458"/>
            <a:ext cx="8171140" cy="1200150"/>
          </a:xfrm>
          <a:prstGeom prst="rect">
            <a:avLst/>
          </a:prstGeom>
        </p:spPr>
        <p:txBody>
          <a:bodyPr lIns="0" tIns="0" rIns="0" bIns="0" rtlCol="0" anchor="t">
            <a:spAutoFit/>
          </a:bodyPr>
          <a:lstStyle/>
          <a:p>
            <a:pPr algn="ctr">
              <a:lnSpc>
                <a:spcPts val="8400"/>
              </a:lnSpc>
            </a:pPr>
            <a:r>
              <a:rPr lang="en-US" sz="6000">
                <a:solidFill>
                  <a:srgbClr val="DC1C4B"/>
                </a:solidFill>
                <a:latin typeface="Arimo Bold"/>
              </a:rPr>
              <a:t>LITERATURE SURVEY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392849746"/>
              </p:ext>
            </p:extLst>
          </p:nvPr>
        </p:nvGraphicFramePr>
        <p:xfrm>
          <a:off x="223116" y="959233"/>
          <a:ext cx="18026785" cy="8525365"/>
        </p:xfrm>
        <a:graphic>
          <a:graphicData uri="http://schemas.openxmlformats.org/drawingml/2006/table">
            <a:tbl>
              <a:tblPr/>
              <a:tblGrid>
                <a:gridCol w="1046262">
                  <a:extLst>
                    <a:ext uri="{9D8B030D-6E8A-4147-A177-3AD203B41FA5}">
                      <a16:colId xmlns:a16="http://schemas.microsoft.com/office/drawing/2014/main" val="20000"/>
                    </a:ext>
                  </a:extLst>
                </a:gridCol>
                <a:gridCol w="5405634">
                  <a:extLst>
                    <a:ext uri="{9D8B030D-6E8A-4147-A177-3AD203B41FA5}">
                      <a16:colId xmlns:a16="http://schemas.microsoft.com/office/drawing/2014/main" val="20001"/>
                    </a:ext>
                  </a:extLst>
                </a:gridCol>
                <a:gridCol w="2826712">
                  <a:extLst>
                    <a:ext uri="{9D8B030D-6E8A-4147-A177-3AD203B41FA5}">
                      <a16:colId xmlns:a16="http://schemas.microsoft.com/office/drawing/2014/main" val="20002"/>
                    </a:ext>
                  </a:extLst>
                </a:gridCol>
                <a:gridCol w="2090753">
                  <a:extLst>
                    <a:ext uri="{9D8B030D-6E8A-4147-A177-3AD203B41FA5}">
                      <a16:colId xmlns:a16="http://schemas.microsoft.com/office/drawing/2014/main" val="20003"/>
                    </a:ext>
                  </a:extLst>
                </a:gridCol>
                <a:gridCol w="3598223">
                  <a:extLst>
                    <a:ext uri="{9D8B030D-6E8A-4147-A177-3AD203B41FA5}">
                      <a16:colId xmlns:a16="http://schemas.microsoft.com/office/drawing/2014/main" val="20004"/>
                    </a:ext>
                  </a:extLst>
                </a:gridCol>
                <a:gridCol w="3059201">
                  <a:extLst>
                    <a:ext uri="{9D8B030D-6E8A-4147-A177-3AD203B41FA5}">
                      <a16:colId xmlns:a16="http://schemas.microsoft.com/office/drawing/2014/main" val="20005"/>
                    </a:ext>
                  </a:extLst>
                </a:gridCol>
              </a:tblGrid>
              <a:tr h="1071204">
                <a:tc>
                  <a:txBody>
                    <a:bodyPr/>
                    <a:lstStyle/>
                    <a:p>
                      <a:pPr algn="ctr">
                        <a:lnSpc>
                          <a:spcPts val="2798"/>
                        </a:lnSpc>
                        <a:defRPr/>
                      </a:pPr>
                      <a:r>
                        <a:rPr lang="en-US" sz="1998">
                          <a:solidFill>
                            <a:srgbClr val="000000"/>
                          </a:solidFill>
                          <a:latin typeface="Tex Gyre Termes"/>
                        </a:rPr>
                        <a:t>Sl.No</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8"/>
                        </a:lnSpc>
                        <a:defRPr/>
                      </a:pPr>
                      <a:r>
                        <a:rPr lang="en-US" sz="1998">
                          <a:solidFill>
                            <a:srgbClr val="000000"/>
                          </a:solidFill>
                          <a:latin typeface="Tex Gyre Termes"/>
                        </a:rPr>
                        <a:t>Title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8"/>
                        </a:lnSpc>
                        <a:defRPr/>
                      </a:pPr>
                      <a:r>
                        <a:rPr lang="en-US" sz="1998">
                          <a:solidFill>
                            <a:srgbClr val="000000"/>
                          </a:solidFill>
                          <a:latin typeface="Tex Gyre Termes"/>
                        </a:rPr>
                        <a:t>Authors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8"/>
                        </a:lnSpc>
                        <a:defRPr/>
                      </a:pPr>
                      <a:r>
                        <a:rPr lang="en-US" sz="1998">
                          <a:solidFill>
                            <a:srgbClr val="000000"/>
                          </a:solidFill>
                          <a:latin typeface="Tex Gyre Termes"/>
                        </a:rPr>
                        <a:t>Conferences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8"/>
                        </a:lnSpc>
                        <a:defRPr/>
                      </a:pPr>
                      <a:r>
                        <a:rPr lang="en-US" sz="1998">
                          <a:solidFill>
                            <a:srgbClr val="000000"/>
                          </a:solidFill>
                          <a:latin typeface="Tex Gyre Termes"/>
                        </a:rPr>
                        <a:t>Methods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8"/>
                        </a:lnSpc>
                        <a:defRPr/>
                      </a:pPr>
                      <a:r>
                        <a:rPr lang="en-US" sz="1998">
                          <a:solidFill>
                            <a:srgbClr val="000000"/>
                          </a:solidFill>
                          <a:latin typeface="Tex Gyre Termes"/>
                        </a:rPr>
                        <a:t>Remarks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611998">
                <a:tc>
                  <a:txBody>
                    <a:bodyPr/>
                    <a:lstStyle/>
                    <a:p>
                      <a:pPr algn="ctr">
                        <a:lnSpc>
                          <a:spcPts val="2798"/>
                        </a:lnSpc>
                        <a:defRPr/>
                      </a:pPr>
                      <a:r>
                        <a:rPr lang="en-US" sz="1998">
                          <a:solidFill>
                            <a:srgbClr val="000000"/>
                          </a:solidFill>
                          <a:latin typeface="Tex Gyre Termes"/>
                        </a:rPr>
                        <a:t>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8"/>
                        </a:lnSpc>
                        <a:defRPr/>
                      </a:pPr>
                      <a:r>
                        <a:rPr lang="en-US" sz="1998">
                          <a:solidFill>
                            <a:srgbClr val="000000"/>
                          </a:solidFill>
                          <a:latin typeface="Tex Gyre Termes"/>
                        </a:rPr>
                        <a:t>Big data analytics in genomics: the point on deep learning solutions.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8"/>
                        </a:lnSpc>
                        <a:defRPr/>
                      </a:pPr>
                      <a:r>
                        <a:rPr lang="en-US" sz="1998">
                          <a:solidFill>
                            <a:srgbClr val="000000"/>
                          </a:solidFill>
                          <a:latin typeface="Tex Gyre Termes"/>
                        </a:rPr>
                        <a:t>Celesti F, Celesti A, Carnevale L, Galletta A, Campo S, Romano A, Bramanti P, Villari M. B</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8"/>
                        </a:lnSpc>
                        <a:defRPr/>
                      </a:pPr>
                      <a:r>
                        <a:rPr lang="en-US" sz="1998" dirty="0">
                          <a:solidFill>
                            <a:srgbClr val="000000"/>
                          </a:solidFill>
                          <a:latin typeface="Tex Gyre Termes"/>
                        </a:rPr>
                        <a:t>2019 IEEE symposium on computers and communications (ISCC)</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8"/>
                        </a:lnSpc>
                        <a:defRPr/>
                      </a:pPr>
                      <a:r>
                        <a:rPr lang="en-US" sz="1998">
                          <a:solidFill>
                            <a:srgbClr val="000000"/>
                          </a:solidFill>
                          <a:latin typeface="Tex Gyre Termes"/>
                        </a:rPr>
                        <a:t>DNN (Deep Neural Network) has been used for deep learning to classify heartbeats.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8"/>
                        </a:lnSpc>
                        <a:defRPr/>
                      </a:pPr>
                      <a:r>
                        <a:rPr lang="en-US" sz="1998">
                          <a:solidFill>
                            <a:srgbClr val="000000"/>
                          </a:solidFill>
                          <a:latin typeface="Tex Gyre Termes"/>
                        </a:rPr>
                        <a:t>Classifcation was only two types (Normal and Abnormal) and dataset size was almost 85,000 records.</a:t>
                      </a:r>
                      <a:endParaRPr lang="en-US" sz="1100"/>
                    </a:p>
                    <a:p>
                      <a:pPr algn="ctr">
                        <a:lnSpc>
                          <a:spcPts val="2798"/>
                        </a:lnSpc>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257991">
                <a:tc>
                  <a:txBody>
                    <a:bodyPr/>
                    <a:lstStyle/>
                    <a:p>
                      <a:pPr algn="ctr">
                        <a:lnSpc>
                          <a:spcPts val="2798"/>
                        </a:lnSpc>
                        <a:defRPr/>
                      </a:pPr>
                      <a:r>
                        <a:rPr lang="en-US" sz="1998">
                          <a:solidFill>
                            <a:srgbClr val="000000"/>
                          </a:solidFill>
                          <a:latin typeface="Tex Gyre Termes"/>
                        </a:rPr>
                        <a:t>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8"/>
                        </a:lnSpc>
                        <a:defRPr/>
                      </a:pPr>
                      <a:r>
                        <a:rPr lang="en-US" sz="1998">
                          <a:solidFill>
                            <a:srgbClr val="000000"/>
                          </a:solidFill>
                          <a:latin typeface="Tex Gyre Termes"/>
                        </a:rPr>
                        <a:t>ECG heartbeat classifcation: a deep transferable representation</a:t>
                      </a:r>
                      <a:endParaRPr lang="en-US" sz="1100"/>
                    </a:p>
                    <a:p>
                      <a:pPr algn="ctr">
                        <a:lnSpc>
                          <a:spcPts val="2798"/>
                        </a:lnSpc>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8"/>
                        </a:lnSpc>
                        <a:defRPr/>
                      </a:pPr>
                      <a:r>
                        <a:rPr lang="en-US" sz="1998">
                          <a:solidFill>
                            <a:srgbClr val="000000"/>
                          </a:solidFill>
                          <a:latin typeface="Tex Gyre Termes"/>
                        </a:rPr>
                        <a:t>Kachuee M, Fazeli S, Sarrafzadeh M.</a:t>
                      </a:r>
                      <a:endParaRPr lang="en-US" sz="1100"/>
                    </a:p>
                    <a:p>
                      <a:pPr algn="ctr">
                        <a:lnSpc>
                          <a:spcPts val="2798"/>
                        </a:lnSpc>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8"/>
                        </a:lnSpc>
                        <a:defRPr/>
                      </a:pPr>
                      <a:r>
                        <a:rPr lang="en-US" sz="1998">
                          <a:solidFill>
                            <a:srgbClr val="000000"/>
                          </a:solidFill>
                          <a:latin typeface="Tex Gyre Termes"/>
                        </a:rPr>
                        <a:t>2018 IEEE international conference on healthcare informatics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8"/>
                        </a:lnSpc>
                        <a:defRPr/>
                      </a:pPr>
                      <a:r>
                        <a:rPr lang="en-US" sz="1998">
                          <a:solidFill>
                            <a:srgbClr val="000000"/>
                          </a:solidFill>
                          <a:latin typeface="Tex Gyre Termes"/>
                        </a:rPr>
                        <a:t>Convolutional neural network for classifcation of ECG beat types has been developed by the author.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8"/>
                        </a:lnSpc>
                        <a:defRPr/>
                      </a:pPr>
                      <a:r>
                        <a:rPr lang="en-US" sz="1998">
                          <a:solidFill>
                            <a:srgbClr val="000000"/>
                          </a:solidFill>
                          <a:latin typeface="Tex Gyre Termes"/>
                        </a:rPr>
                        <a:t>Multiply types of heartbeats have been studied and the author has reached accuracy 93.4%.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584172">
                <a:tc>
                  <a:txBody>
                    <a:bodyPr/>
                    <a:lstStyle/>
                    <a:p>
                      <a:pPr algn="ctr">
                        <a:lnSpc>
                          <a:spcPts val="2798"/>
                        </a:lnSpc>
                        <a:defRPr/>
                      </a:pPr>
                      <a:r>
                        <a:rPr lang="en-US" sz="1998">
                          <a:solidFill>
                            <a:srgbClr val="000000"/>
                          </a:solidFill>
                          <a:latin typeface="Tex Gyre Termes"/>
                        </a:rPr>
                        <a:t>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8"/>
                        </a:lnSpc>
                        <a:defRPr/>
                      </a:pPr>
                      <a:r>
                        <a:rPr lang="en-US" sz="1998">
                          <a:solidFill>
                            <a:srgbClr val="000000"/>
                          </a:solidFill>
                          <a:latin typeface="Tex Gyre Termes"/>
                        </a:rPr>
                        <a:t>Using hidden Markov models and spark to mine ECG data</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8"/>
                        </a:lnSpc>
                        <a:defRPr/>
                      </a:pPr>
                      <a:r>
                        <a:rPr lang="en-US" sz="1998">
                          <a:solidFill>
                            <a:srgbClr val="000000"/>
                          </a:solidFill>
                          <a:latin typeface="Tex Gyre Termes"/>
                        </a:rPr>
                        <a:t>O’Brien J.</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8"/>
                        </a:lnSpc>
                        <a:defRPr/>
                      </a:pPr>
                      <a:r>
                        <a:rPr lang="en-US" sz="1998">
                          <a:solidFill>
                            <a:srgbClr val="000000"/>
                          </a:solidFill>
                          <a:latin typeface="Tex Gyre Termes"/>
                        </a:rPr>
                        <a:t>Saint Mary’s College of Maryland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8"/>
                        </a:lnSpc>
                        <a:defRPr/>
                      </a:pPr>
                      <a:r>
                        <a:rPr lang="en-US" sz="1998">
                          <a:solidFill>
                            <a:srgbClr val="000000"/>
                          </a:solidFill>
                          <a:latin typeface="Tex Gyre Termes"/>
                        </a:rPr>
                        <a:t>Combining accurate Hidden Markov models (HMM) techniques with Apache Spark to improve the speed of ECG analysis.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8"/>
                        </a:lnSpc>
                        <a:defRPr/>
                      </a:pPr>
                      <a:r>
                        <a:rPr lang="en-US" sz="1998" dirty="0">
                          <a:solidFill>
                            <a:srgbClr val="000000"/>
                          </a:solidFill>
                          <a:latin typeface="Tex Gyre Termes"/>
                        </a:rPr>
                        <a:t>The paper has proven that there is potential for developing a fast </a:t>
                      </a:r>
                      <a:r>
                        <a:rPr lang="en-US" sz="1998" dirty="0" err="1">
                          <a:solidFill>
                            <a:srgbClr val="000000"/>
                          </a:solidFill>
                          <a:latin typeface="Tex Gyre Termes"/>
                        </a:rPr>
                        <a:t>classifer</a:t>
                      </a:r>
                      <a:r>
                        <a:rPr lang="en-US" sz="1998" dirty="0">
                          <a:solidFill>
                            <a:srgbClr val="000000"/>
                          </a:solidFill>
                          <a:latin typeface="Tex Gyre Termes"/>
                        </a:rPr>
                        <a:t> for heartbeats </a:t>
                      </a:r>
                      <a:r>
                        <a:rPr lang="en-US" sz="1998" dirty="0" err="1">
                          <a:solidFill>
                            <a:srgbClr val="000000"/>
                          </a:solidFill>
                          <a:latin typeface="Tex Gyre Termes"/>
                        </a:rPr>
                        <a:t>classifcation</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TextBox 3"/>
          <p:cNvSpPr txBox="1"/>
          <p:nvPr/>
        </p:nvSpPr>
        <p:spPr>
          <a:xfrm>
            <a:off x="4815975" y="-3426"/>
            <a:ext cx="8171140" cy="906144"/>
          </a:xfrm>
          <a:prstGeom prst="rect">
            <a:avLst/>
          </a:prstGeom>
        </p:spPr>
        <p:txBody>
          <a:bodyPr lIns="0" tIns="0" rIns="0" bIns="0" rtlCol="0" anchor="t">
            <a:spAutoFit/>
          </a:bodyPr>
          <a:lstStyle/>
          <a:p>
            <a:pPr algn="ctr">
              <a:lnSpc>
                <a:spcPts val="7280"/>
              </a:lnSpc>
            </a:pPr>
            <a:r>
              <a:rPr lang="en-US" sz="5200">
                <a:solidFill>
                  <a:srgbClr val="DC1C4B"/>
                </a:solidFill>
                <a:latin typeface="Arimo Bold"/>
              </a:rPr>
              <a:t>LITERATURE SURVEY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407018" y="9334500"/>
            <a:ext cx="19102035" cy="1360363"/>
          </a:xfrm>
          <a:custGeom>
            <a:avLst/>
            <a:gdLst/>
            <a:ahLst/>
            <a:cxnLst/>
            <a:rect l="l" t="t" r="r" b="b"/>
            <a:pathLst>
              <a:path w="19102035" h="1360363">
                <a:moveTo>
                  <a:pt x="0" y="0"/>
                </a:moveTo>
                <a:lnTo>
                  <a:pt x="19102035" y="0"/>
                </a:lnTo>
                <a:lnTo>
                  <a:pt x="19102035" y="1360363"/>
                </a:lnTo>
                <a:lnTo>
                  <a:pt x="0" y="136036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pic>
        <p:nvPicPr>
          <p:cNvPr id="3" name="Picture 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rcRect/>
          <a:stretch>
            <a:fillRect/>
          </a:stretch>
        </p:blipFill>
        <p:spPr>
          <a:xfrm>
            <a:off x="1502229" y="1028700"/>
            <a:ext cx="15283543" cy="8229600"/>
          </a:xfrm>
          <a:prstGeom prst="rect">
            <a:avLst/>
          </a:prstGeom>
        </p:spPr>
      </p:pic>
      <p:sp>
        <p:nvSpPr>
          <p:cNvPr id="4" name="TextBox 4"/>
          <p:cNvSpPr txBox="1"/>
          <p:nvPr/>
        </p:nvSpPr>
        <p:spPr>
          <a:xfrm>
            <a:off x="1658002" y="3279775"/>
            <a:ext cx="14971997" cy="4279900"/>
          </a:xfrm>
          <a:prstGeom prst="rect">
            <a:avLst/>
          </a:prstGeom>
        </p:spPr>
        <p:txBody>
          <a:bodyPr lIns="0" tIns="0" rIns="0" bIns="0" rtlCol="0" anchor="t">
            <a:spAutoFit/>
          </a:bodyPr>
          <a:lstStyle/>
          <a:p>
            <a:pPr marL="914400" lvl="2" indent="-304800" algn="l">
              <a:lnSpc>
                <a:spcPts val="5600"/>
              </a:lnSpc>
              <a:buFont typeface="Arial"/>
              <a:buChar char="⚬"/>
            </a:pPr>
            <a:r>
              <a:rPr lang="en-US" sz="4000">
                <a:solidFill>
                  <a:srgbClr val="FEFEFE"/>
                </a:solidFill>
                <a:latin typeface="Tex Gyre Termes"/>
              </a:rPr>
              <a:t>An electrocardiogram (ECG) is a complete representation of the electrical activity of the heart on the surface of the human body, and it is extensively applied in the clinical diagnosis of heart diseases.</a:t>
            </a:r>
          </a:p>
          <a:p>
            <a:pPr marL="914400" lvl="2" indent="-304800" algn="l">
              <a:lnSpc>
                <a:spcPts val="5600"/>
              </a:lnSpc>
            </a:pPr>
            <a:endParaRPr lang="en-US" sz="4000">
              <a:solidFill>
                <a:srgbClr val="FEFEFE"/>
              </a:solidFill>
              <a:latin typeface="Tex Gyre Termes"/>
            </a:endParaRPr>
          </a:p>
          <a:p>
            <a:pPr marL="914400" lvl="2" indent="-304800" algn="l">
              <a:lnSpc>
                <a:spcPts val="5600"/>
              </a:lnSpc>
              <a:buFont typeface="Arial"/>
              <a:buChar char="⚬"/>
            </a:pPr>
            <a:r>
              <a:rPr lang="en-US" sz="4000">
                <a:solidFill>
                  <a:srgbClr val="FEFEFE"/>
                </a:solidFill>
                <a:latin typeface="Tex Gyre Termes"/>
              </a:rPr>
              <a:t>ECG signals have been widely used for detecting heart diseases due to it's simplicity and non-invasive nature.</a:t>
            </a:r>
          </a:p>
        </p:txBody>
      </p:sp>
      <p:sp>
        <p:nvSpPr>
          <p:cNvPr id="5" name="TextBox 5"/>
          <p:cNvSpPr txBox="1"/>
          <p:nvPr/>
        </p:nvSpPr>
        <p:spPr>
          <a:xfrm>
            <a:off x="2017728" y="1055871"/>
            <a:ext cx="5545336" cy="1200150"/>
          </a:xfrm>
          <a:prstGeom prst="rect">
            <a:avLst/>
          </a:prstGeom>
        </p:spPr>
        <p:txBody>
          <a:bodyPr lIns="0" tIns="0" rIns="0" bIns="0" rtlCol="0" anchor="t">
            <a:spAutoFit/>
          </a:bodyPr>
          <a:lstStyle/>
          <a:p>
            <a:pPr algn="ctr">
              <a:lnSpc>
                <a:spcPts val="8400"/>
              </a:lnSpc>
            </a:pPr>
            <a:r>
              <a:rPr lang="en-US" sz="6000">
                <a:solidFill>
                  <a:srgbClr val="DC1C4B"/>
                </a:solidFill>
                <a:latin typeface="Arimo Bold"/>
              </a:rPr>
              <a:t>WHAT IS ECG?</a:t>
            </a:r>
          </a:p>
        </p:txBody>
      </p:sp>
    </p:spTree>
  </p:cSld>
  <p:clrMapOvr>
    <a:masterClrMapping/>
  </p:clrMapOvr>
  <p:timing>
    <p:tnLst>
      <p:par>
        <p:cTn id="1" dur="indefinite" restart="never" nodeType="tmRoot">
          <p:childTnLst>
            <p:video>
              <p:cMediaNode vol="0">
                <p:cTn id="2" fill="hold" display="0">
                  <p:stCondLst>
                    <p:cond delay="indefinite"/>
                  </p:stCondLst>
                </p:cTn>
                <p:tgtEl>
                  <p:spTgt spid="3"/>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768300" y="-102870"/>
            <a:ext cx="1797000" cy="10625031"/>
          </a:xfrm>
          <a:custGeom>
            <a:avLst/>
            <a:gdLst/>
            <a:ahLst/>
            <a:cxnLst/>
            <a:rect l="l" t="t" r="r" b="b"/>
            <a:pathLst>
              <a:path w="1797000" h="10625031">
                <a:moveTo>
                  <a:pt x="0" y="0"/>
                </a:moveTo>
                <a:lnTo>
                  <a:pt x="1797000" y="0"/>
                </a:lnTo>
                <a:lnTo>
                  <a:pt x="1797000" y="10625031"/>
                </a:lnTo>
                <a:lnTo>
                  <a:pt x="0" y="106250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823463" y="2024833"/>
            <a:ext cx="9609684" cy="7479189"/>
          </a:xfrm>
          <a:custGeom>
            <a:avLst/>
            <a:gdLst/>
            <a:ahLst/>
            <a:cxnLst/>
            <a:rect l="l" t="t" r="r" b="b"/>
            <a:pathLst>
              <a:path w="9609684" h="7479189">
                <a:moveTo>
                  <a:pt x="0" y="0"/>
                </a:moveTo>
                <a:lnTo>
                  <a:pt x="9609684" y="0"/>
                </a:lnTo>
                <a:lnTo>
                  <a:pt x="9609684" y="7479189"/>
                </a:lnTo>
                <a:lnTo>
                  <a:pt x="0" y="7479189"/>
                </a:lnTo>
                <a:lnTo>
                  <a:pt x="0" y="0"/>
                </a:lnTo>
                <a:close/>
              </a:path>
            </a:pathLst>
          </a:custGeom>
          <a:blipFill>
            <a:blip r:embed="rId4"/>
            <a:stretch>
              <a:fillRect t="-234" b="-234"/>
            </a:stretch>
          </a:blipFill>
        </p:spPr>
      </p:sp>
      <p:sp>
        <p:nvSpPr>
          <p:cNvPr id="4" name="TextBox 4"/>
          <p:cNvSpPr txBox="1"/>
          <p:nvPr/>
        </p:nvSpPr>
        <p:spPr>
          <a:xfrm>
            <a:off x="-768300" y="742950"/>
            <a:ext cx="12255461" cy="1134110"/>
          </a:xfrm>
          <a:prstGeom prst="rect">
            <a:avLst/>
          </a:prstGeom>
        </p:spPr>
        <p:txBody>
          <a:bodyPr lIns="0" tIns="0" rIns="0" bIns="0" rtlCol="0" anchor="t">
            <a:spAutoFit/>
          </a:bodyPr>
          <a:lstStyle/>
          <a:p>
            <a:pPr algn="ctr">
              <a:lnSpc>
                <a:spcPts val="7839"/>
              </a:lnSpc>
            </a:pPr>
            <a:r>
              <a:rPr lang="en-US" sz="5599">
                <a:solidFill>
                  <a:srgbClr val="DC1C4B"/>
                </a:solidFill>
                <a:latin typeface="Arimo Bold"/>
              </a:rPr>
              <a:t>Components of ECG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407018" y="9334500"/>
            <a:ext cx="19102035" cy="1360363"/>
          </a:xfrm>
          <a:custGeom>
            <a:avLst/>
            <a:gdLst/>
            <a:ahLst/>
            <a:cxnLst/>
            <a:rect l="l" t="t" r="r" b="b"/>
            <a:pathLst>
              <a:path w="19102035" h="1360363">
                <a:moveTo>
                  <a:pt x="0" y="0"/>
                </a:moveTo>
                <a:lnTo>
                  <a:pt x="19102035" y="0"/>
                </a:lnTo>
                <a:lnTo>
                  <a:pt x="19102035" y="1360363"/>
                </a:lnTo>
                <a:lnTo>
                  <a:pt x="0" y="13603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028700" y="1368450"/>
            <a:ext cx="15976282" cy="7966050"/>
          </a:xfrm>
          <a:prstGeom prst="rect">
            <a:avLst/>
          </a:prstGeom>
        </p:spPr>
        <p:txBody>
          <a:bodyPr lIns="0" tIns="0" rIns="0" bIns="0" rtlCol="0" anchor="t">
            <a:spAutoFit/>
          </a:bodyPr>
          <a:lstStyle/>
          <a:p>
            <a:pPr marL="914278" lvl="2" indent="-304759" algn="l">
              <a:lnSpc>
                <a:spcPts val="7999"/>
              </a:lnSpc>
              <a:buFont typeface="Arial"/>
              <a:buChar char="⚬"/>
            </a:pPr>
            <a:r>
              <a:rPr lang="en-US" sz="3999">
                <a:solidFill>
                  <a:srgbClr val="000000"/>
                </a:solidFill>
                <a:latin typeface="Tex Gyre Termes"/>
              </a:rPr>
              <a:t>To develop a machine learning model using convolutional neural network (CNN) that achieves high accuracy in classifying a broad range of distinct arrhythmias. </a:t>
            </a:r>
          </a:p>
          <a:p>
            <a:pPr marL="914278" lvl="2" indent="-304759" algn="l">
              <a:lnSpc>
                <a:spcPts val="7999"/>
              </a:lnSpc>
              <a:buFont typeface="Arial"/>
              <a:buChar char="⚬"/>
            </a:pPr>
            <a:r>
              <a:rPr lang="en-US" sz="3999">
                <a:solidFill>
                  <a:srgbClr val="000000"/>
                </a:solidFill>
                <a:latin typeface="Tex Gyre Termes"/>
              </a:rPr>
              <a:t>The CNN should demonstrate the ability to generalize its learning from the training dataset to new and unseen ECG data.</a:t>
            </a:r>
          </a:p>
          <a:p>
            <a:pPr marL="914278" lvl="2" indent="-304759" algn="l">
              <a:lnSpc>
                <a:spcPts val="7999"/>
              </a:lnSpc>
              <a:buFont typeface="Arial"/>
              <a:buChar char="⚬"/>
            </a:pPr>
            <a:r>
              <a:rPr lang="en-US" sz="3999">
                <a:solidFill>
                  <a:srgbClr val="000000"/>
                </a:solidFill>
                <a:latin typeface="Tex Gyre Termes"/>
              </a:rPr>
              <a:t>The design should prioritize computational efficiency to enable real-time or near-real-time analysis of ECG data.</a:t>
            </a:r>
          </a:p>
          <a:p>
            <a:pPr marL="914278" lvl="2" indent="-304759" algn="l">
              <a:lnSpc>
                <a:spcPts val="7999"/>
              </a:lnSpc>
            </a:pPr>
            <a:endParaRPr lang="en-US" sz="3999">
              <a:solidFill>
                <a:srgbClr val="000000"/>
              </a:solidFill>
              <a:latin typeface="Tex Gyre Termes"/>
            </a:endParaRPr>
          </a:p>
        </p:txBody>
      </p:sp>
      <p:sp>
        <p:nvSpPr>
          <p:cNvPr id="4" name="TextBox 4"/>
          <p:cNvSpPr txBox="1"/>
          <p:nvPr/>
        </p:nvSpPr>
        <p:spPr>
          <a:xfrm>
            <a:off x="5417880" y="357187"/>
            <a:ext cx="7452241" cy="1200150"/>
          </a:xfrm>
          <a:prstGeom prst="rect">
            <a:avLst/>
          </a:prstGeom>
        </p:spPr>
        <p:txBody>
          <a:bodyPr lIns="0" tIns="0" rIns="0" bIns="0" rtlCol="0" anchor="t">
            <a:spAutoFit/>
          </a:bodyPr>
          <a:lstStyle/>
          <a:p>
            <a:pPr algn="ctr">
              <a:lnSpc>
                <a:spcPts val="8400"/>
              </a:lnSpc>
            </a:pPr>
            <a:r>
              <a:rPr lang="en-US" sz="6000">
                <a:solidFill>
                  <a:srgbClr val="DC1C4B"/>
                </a:solidFill>
                <a:latin typeface="Arimo Bold"/>
              </a:rPr>
              <a:t>DESIGN OBJECTIVE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407018" y="9334500"/>
            <a:ext cx="19102035" cy="1360363"/>
          </a:xfrm>
          <a:custGeom>
            <a:avLst/>
            <a:gdLst/>
            <a:ahLst/>
            <a:cxnLst/>
            <a:rect l="l" t="t" r="r" b="b"/>
            <a:pathLst>
              <a:path w="19102035" h="1360363">
                <a:moveTo>
                  <a:pt x="0" y="0"/>
                </a:moveTo>
                <a:lnTo>
                  <a:pt x="19102035" y="0"/>
                </a:lnTo>
                <a:lnTo>
                  <a:pt x="19102035" y="1360363"/>
                </a:lnTo>
                <a:lnTo>
                  <a:pt x="0" y="13603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593162" y="590550"/>
            <a:ext cx="9101676" cy="1350645"/>
          </a:xfrm>
          <a:prstGeom prst="rect">
            <a:avLst/>
          </a:prstGeom>
        </p:spPr>
        <p:txBody>
          <a:bodyPr lIns="0" tIns="0" rIns="0" bIns="0" rtlCol="0" anchor="t">
            <a:spAutoFit/>
          </a:bodyPr>
          <a:lstStyle/>
          <a:p>
            <a:pPr algn="l">
              <a:lnSpc>
                <a:spcPts val="9240"/>
              </a:lnSpc>
            </a:pPr>
            <a:r>
              <a:rPr lang="en-US" sz="6000">
                <a:solidFill>
                  <a:srgbClr val="DC1C4B"/>
                </a:solidFill>
                <a:latin typeface="Arimo Bold"/>
              </a:rPr>
              <a:t>GENERIC MODEL OF ML</a:t>
            </a:r>
          </a:p>
        </p:txBody>
      </p:sp>
      <p:sp>
        <p:nvSpPr>
          <p:cNvPr id="4" name="Freeform 4"/>
          <p:cNvSpPr/>
          <p:nvPr/>
        </p:nvSpPr>
        <p:spPr>
          <a:xfrm>
            <a:off x="2357717" y="3143275"/>
            <a:ext cx="3446337" cy="1873946"/>
          </a:xfrm>
          <a:custGeom>
            <a:avLst/>
            <a:gdLst/>
            <a:ahLst/>
            <a:cxnLst/>
            <a:rect l="l" t="t" r="r" b="b"/>
            <a:pathLst>
              <a:path w="3446337" h="1873946">
                <a:moveTo>
                  <a:pt x="0" y="0"/>
                </a:moveTo>
                <a:lnTo>
                  <a:pt x="3446337" y="0"/>
                </a:lnTo>
                <a:lnTo>
                  <a:pt x="3446337" y="1873946"/>
                </a:lnTo>
                <a:lnTo>
                  <a:pt x="0" y="1873946"/>
                </a:lnTo>
                <a:lnTo>
                  <a:pt x="0" y="0"/>
                </a:lnTo>
                <a:close/>
              </a:path>
            </a:pathLst>
          </a:custGeom>
          <a:blipFill>
            <a:blip r:embed="rId4">
              <a:extLst>
                <a:ext uri="{96DAC541-7B7A-43D3-8B79-37D633B846F1}">
                  <asvg:svgBlip xmlns:asvg="http://schemas.microsoft.com/office/drawing/2016/SVG/main" r:embed="rId5"/>
                </a:ext>
              </a:extLst>
            </a:blip>
            <a:stretch>
              <a:fillRect b="-82"/>
            </a:stretch>
          </a:blipFill>
        </p:spPr>
      </p:sp>
      <p:sp>
        <p:nvSpPr>
          <p:cNvPr id="5" name="Freeform 5"/>
          <p:cNvSpPr/>
          <p:nvPr/>
        </p:nvSpPr>
        <p:spPr>
          <a:xfrm>
            <a:off x="7420832" y="3143275"/>
            <a:ext cx="3446337" cy="1873946"/>
          </a:xfrm>
          <a:custGeom>
            <a:avLst/>
            <a:gdLst/>
            <a:ahLst/>
            <a:cxnLst/>
            <a:rect l="l" t="t" r="r" b="b"/>
            <a:pathLst>
              <a:path w="3446337" h="1873946">
                <a:moveTo>
                  <a:pt x="0" y="0"/>
                </a:moveTo>
                <a:lnTo>
                  <a:pt x="3446337" y="0"/>
                </a:lnTo>
                <a:lnTo>
                  <a:pt x="3446337" y="1873946"/>
                </a:lnTo>
                <a:lnTo>
                  <a:pt x="0" y="1873946"/>
                </a:lnTo>
                <a:lnTo>
                  <a:pt x="0" y="0"/>
                </a:lnTo>
                <a:close/>
              </a:path>
            </a:pathLst>
          </a:custGeom>
          <a:blipFill>
            <a:blip r:embed="rId4">
              <a:extLst>
                <a:ext uri="{96DAC541-7B7A-43D3-8B79-37D633B846F1}">
                  <asvg:svgBlip xmlns:asvg="http://schemas.microsoft.com/office/drawing/2016/SVG/main" r:embed="rId5"/>
                </a:ext>
              </a:extLst>
            </a:blip>
            <a:stretch>
              <a:fillRect b="-82"/>
            </a:stretch>
          </a:blipFill>
        </p:spPr>
      </p:sp>
      <p:sp>
        <p:nvSpPr>
          <p:cNvPr id="6" name="Freeform 6"/>
          <p:cNvSpPr/>
          <p:nvPr/>
        </p:nvSpPr>
        <p:spPr>
          <a:xfrm>
            <a:off x="12483946" y="3143275"/>
            <a:ext cx="3446337" cy="1873946"/>
          </a:xfrm>
          <a:custGeom>
            <a:avLst/>
            <a:gdLst/>
            <a:ahLst/>
            <a:cxnLst/>
            <a:rect l="l" t="t" r="r" b="b"/>
            <a:pathLst>
              <a:path w="3446337" h="1873946">
                <a:moveTo>
                  <a:pt x="0" y="0"/>
                </a:moveTo>
                <a:lnTo>
                  <a:pt x="3446337" y="0"/>
                </a:lnTo>
                <a:lnTo>
                  <a:pt x="3446337" y="1873946"/>
                </a:lnTo>
                <a:lnTo>
                  <a:pt x="0" y="1873946"/>
                </a:lnTo>
                <a:lnTo>
                  <a:pt x="0" y="0"/>
                </a:lnTo>
                <a:close/>
              </a:path>
            </a:pathLst>
          </a:custGeom>
          <a:blipFill>
            <a:blip r:embed="rId4">
              <a:extLst>
                <a:ext uri="{96DAC541-7B7A-43D3-8B79-37D633B846F1}">
                  <asvg:svgBlip xmlns:asvg="http://schemas.microsoft.com/office/drawing/2016/SVG/main" r:embed="rId5"/>
                </a:ext>
              </a:extLst>
            </a:blip>
            <a:stretch>
              <a:fillRect b="-82"/>
            </a:stretch>
          </a:blipFill>
        </p:spPr>
      </p:sp>
      <p:sp>
        <p:nvSpPr>
          <p:cNvPr id="7" name="Freeform 7"/>
          <p:cNvSpPr/>
          <p:nvPr/>
        </p:nvSpPr>
        <p:spPr>
          <a:xfrm>
            <a:off x="12483946" y="6590754"/>
            <a:ext cx="3446337" cy="1873946"/>
          </a:xfrm>
          <a:custGeom>
            <a:avLst/>
            <a:gdLst/>
            <a:ahLst/>
            <a:cxnLst/>
            <a:rect l="l" t="t" r="r" b="b"/>
            <a:pathLst>
              <a:path w="3446337" h="1873946">
                <a:moveTo>
                  <a:pt x="0" y="0"/>
                </a:moveTo>
                <a:lnTo>
                  <a:pt x="3446337" y="0"/>
                </a:lnTo>
                <a:lnTo>
                  <a:pt x="3446337" y="1873946"/>
                </a:lnTo>
                <a:lnTo>
                  <a:pt x="0" y="1873946"/>
                </a:lnTo>
                <a:lnTo>
                  <a:pt x="0" y="0"/>
                </a:lnTo>
                <a:close/>
              </a:path>
            </a:pathLst>
          </a:custGeom>
          <a:blipFill>
            <a:blip r:embed="rId4">
              <a:extLst>
                <a:ext uri="{96DAC541-7B7A-43D3-8B79-37D633B846F1}">
                  <asvg:svgBlip xmlns:asvg="http://schemas.microsoft.com/office/drawing/2016/SVG/main" r:embed="rId5"/>
                </a:ext>
              </a:extLst>
            </a:blip>
            <a:stretch>
              <a:fillRect b="-82"/>
            </a:stretch>
          </a:blipFill>
        </p:spPr>
      </p:sp>
      <p:sp>
        <p:nvSpPr>
          <p:cNvPr id="8" name="Freeform 8"/>
          <p:cNvSpPr/>
          <p:nvPr/>
        </p:nvSpPr>
        <p:spPr>
          <a:xfrm>
            <a:off x="7420832" y="6710058"/>
            <a:ext cx="3446337" cy="1873946"/>
          </a:xfrm>
          <a:custGeom>
            <a:avLst/>
            <a:gdLst/>
            <a:ahLst/>
            <a:cxnLst/>
            <a:rect l="l" t="t" r="r" b="b"/>
            <a:pathLst>
              <a:path w="3446337" h="1873946">
                <a:moveTo>
                  <a:pt x="0" y="0"/>
                </a:moveTo>
                <a:lnTo>
                  <a:pt x="3446337" y="0"/>
                </a:lnTo>
                <a:lnTo>
                  <a:pt x="3446337" y="1873946"/>
                </a:lnTo>
                <a:lnTo>
                  <a:pt x="0" y="1873946"/>
                </a:lnTo>
                <a:lnTo>
                  <a:pt x="0" y="0"/>
                </a:lnTo>
                <a:close/>
              </a:path>
            </a:pathLst>
          </a:custGeom>
          <a:blipFill>
            <a:blip r:embed="rId4">
              <a:extLst>
                <a:ext uri="{96DAC541-7B7A-43D3-8B79-37D633B846F1}">
                  <asvg:svgBlip xmlns:asvg="http://schemas.microsoft.com/office/drawing/2016/SVG/main" r:embed="rId5"/>
                </a:ext>
              </a:extLst>
            </a:blip>
            <a:stretch>
              <a:fillRect b="-82"/>
            </a:stretch>
          </a:blipFill>
        </p:spPr>
      </p:sp>
      <p:sp>
        <p:nvSpPr>
          <p:cNvPr id="9" name="Freeform 9"/>
          <p:cNvSpPr/>
          <p:nvPr/>
        </p:nvSpPr>
        <p:spPr>
          <a:xfrm>
            <a:off x="2357717" y="6710058"/>
            <a:ext cx="3446337" cy="1873946"/>
          </a:xfrm>
          <a:custGeom>
            <a:avLst/>
            <a:gdLst/>
            <a:ahLst/>
            <a:cxnLst/>
            <a:rect l="l" t="t" r="r" b="b"/>
            <a:pathLst>
              <a:path w="3446337" h="1873946">
                <a:moveTo>
                  <a:pt x="0" y="0"/>
                </a:moveTo>
                <a:lnTo>
                  <a:pt x="3446337" y="0"/>
                </a:lnTo>
                <a:lnTo>
                  <a:pt x="3446337" y="1873946"/>
                </a:lnTo>
                <a:lnTo>
                  <a:pt x="0" y="1873946"/>
                </a:lnTo>
                <a:lnTo>
                  <a:pt x="0" y="0"/>
                </a:lnTo>
                <a:close/>
              </a:path>
            </a:pathLst>
          </a:custGeom>
          <a:blipFill>
            <a:blip r:embed="rId4">
              <a:extLst>
                <a:ext uri="{96DAC541-7B7A-43D3-8B79-37D633B846F1}">
                  <asvg:svgBlip xmlns:asvg="http://schemas.microsoft.com/office/drawing/2016/SVG/main" r:embed="rId5"/>
                </a:ext>
              </a:extLst>
            </a:blip>
            <a:stretch>
              <a:fillRect b="-82"/>
            </a:stretch>
          </a:blipFill>
        </p:spPr>
      </p:sp>
      <p:sp>
        <p:nvSpPr>
          <p:cNvPr id="10" name="Freeform 10"/>
          <p:cNvSpPr/>
          <p:nvPr/>
        </p:nvSpPr>
        <p:spPr>
          <a:xfrm>
            <a:off x="5804054" y="3626540"/>
            <a:ext cx="1616777" cy="907416"/>
          </a:xfrm>
          <a:custGeom>
            <a:avLst/>
            <a:gdLst/>
            <a:ahLst/>
            <a:cxnLst/>
            <a:rect l="l" t="t" r="r" b="b"/>
            <a:pathLst>
              <a:path w="1616777" h="907416">
                <a:moveTo>
                  <a:pt x="0" y="0"/>
                </a:moveTo>
                <a:lnTo>
                  <a:pt x="1616777" y="0"/>
                </a:lnTo>
                <a:lnTo>
                  <a:pt x="1616777" y="907416"/>
                </a:lnTo>
                <a:lnTo>
                  <a:pt x="0" y="907416"/>
                </a:lnTo>
                <a:lnTo>
                  <a:pt x="0" y="0"/>
                </a:lnTo>
                <a:close/>
              </a:path>
            </a:pathLst>
          </a:custGeom>
          <a:blipFill>
            <a:blip r:embed="rId6">
              <a:extLst>
                <a:ext uri="{96DAC541-7B7A-43D3-8B79-37D633B846F1}">
                  <asvg:svgBlip xmlns:asvg="http://schemas.microsoft.com/office/drawing/2016/SVG/main" r:embed="rId7"/>
                </a:ext>
              </a:extLst>
            </a:blip>
            <a:stretch>
              <a:fillRect b="-615"/>
            </a:stretch>
          </a:blipFill>
        </p:spPr>
      </p:sp>
      <p:sp>
        <p:nvSpPr>
          <p:cNvPr id="11" name="Freeform 11"/>
          <p:cNvSpPr/>
          <p:nvPr/>
        </p:nvSpPr>
        <p:spPr>
          <a:xfrm>
            <a:off x="10867168" y="3626540"/>
            <a:ext cx="1616777" cy="907416"/>
          </a:xfrm>
          <a:custGeom>
            <a:avLst/>
            <a:gdLst/>
            <a:ahLst/>
            <a:cxnLst/>
            <a:rect l="l" t="t" r="r" b="b"/>
            <a:pathLst>
              <a:path w="1616777" h="907416">
                <a:moveTo>
                  <a:pt x="0" y="0"/>
                </a:moveTo>
                <a:lnTo>
                  <a:pt x="1616777" y="0"/>
                </a:lnTo>
                <a:lnTo>
                  <a:pt x="1616777" y="907416"/>
                </a:lnTo>
                <a:lnTo>
                  <a:pt x="0" y="907416"/>
                </a:lnTo>
                <a:lnTo>
                  <a:pt x="0" y="0"/>
                </a:lnTo>
                <a:close/>
              </a:path>
            </a:pathLst>
          </a:custGeom>
          <a:blipFill>
            <a:blip r:embed="rId6">
              <a:extLst>
                <a:ext uri="{96DAC541-7B7A-43D3-8B79-37D633B846F1}">
                  <asvg:svgBlip xmlns:asvg="http://schemas.microsoft.com/office/drawing/2016/SVG/main" r:embed="rId7"/>
                </a:ext>
              </a:extLst>
            </a:blip>
            <a:stretch>
              <a:fillRect b="-615"/>
            </a:stretch>
          </a:blipFill>
        </p:spPr>
      </p:sp>
      <p:sp>
        <p:nvSpPr>
          <p:cNvPr id="12" name="Freeform 12"/>
          <p:cNvSpPr/>
          <p:nvPr/>
        </p:nvSpPr>
        <p:spPr>
          <a:xfrm rot="-10800000">
            <a:off x="5804054" y="7193323"/>
            <a:ext cx="1616777" cy="907416"/>
          </a:xfrm>
          <a:custGeom>
            <a:avLst/>
            <a:gdLst/>
            <a:ahLst/>
            <a:cxnLst/>
            <a:rect l="l" t="t" r="r" b="b"/>
            <a:pathLst>
              <a:path w="1616777" h="907416">
                <a:moveTo>
                  <a:pt x="0" y="0"/>
                </a:moveTo>
                <a:lnTo>
                  <a:pt x="1616777" y="0"/>
                </a:lnTo>
                <a:lnTo>
                  <a:pt x="1616777" y="907416"/>
                </a:lnTo>
                <a:lnTo>
                  <a:pt x="0" y="907416"/>
                </a:lnTo>
                <a:lnTo>
                  <a:pt x="0" y="0"/>
                </a:lnTo>
                <a:close/>
              </a:path>
            </a:pathLst>
          </a:custGeom>
          <a:blipFill>
            <a:blip r:embed="rId6">
              <a:extLst>
                <a:ext uri="{96DAC541-7B7A-43D3-8B79-37D633B846F1}">
                  <asvg:svgBlip xmlns:asvg="http://schemas.microsoft.com/office/drawing/2016/SVG/main" r:embed="rId7"/>
                </a:ext>
              </a:extLst>
            </a:blip>
            <a:stretch>
              <a:fillRect b="-615"/>
            </a:stretch>
          </a:blipFill>
        </p:spPr>
      </p:sp>
      <p:sp>
        <p:nvSpPr>
          <p:cNvPr id="13" name="Freeform 13"/>
          <p:cNvSpPr/>
          <p:nvPr/>
        </p:nvSpPr>
        <p:spPr>
          <a:xfrm rot="-10800000">
            <a:off x="10781396" y="7169253"/>
            <a:ext cx="1702550" cy="955556"/>
          </a:xfrm>
          <a:custGeom>
            <a:avLst/>
            <a:gdLst/>
            <a:ahLst/>
            <a:cxnLst/>
            <a:rect l="l" t="t" r="r" b="b"/>
            <a:pathLst>
              <a:path w="1702550" h="955556">
                <a:moveTo>
                  <a:pt x="0" y="0"/>
                </a:moveTo>
                <a:lnTo>
                  <a:pt x="1702550" y="0"/>
                </a:lnTo>
                <a:lnTo>
                  <a:pt x="1702550" y="955556"/>
                </a:lnTo>
                <a:lnTo>
                  <a:pt x="0" y="955556"/>
                </a:lnTo>
                <a:lnTo>
                  <a:pt x="0" y="0"/>
                </a:lnTo>
                <a:close/>
              </a:path>
            </a:pathLst>
          </a:custGeom>
          <a:blipFill>
            <a:blip r:embed="rId6">
              <a:extLst>
                <a:ext uri="{96DAC541-7B7A-43D3-8B79-37D633B846F1}">
                  <asvg:svgBlip xmlns:asvg="http://schemas.microsoft.com/office/drawing/2016/SVG/main" r:embed="rId7"/>
                </a:ext>
              </a:extLst>
            </a:blip>
            <a:stretch>
              <a:fillRect b="-533"/>
            </a:stretch>
          </a:blipFill>
        </p:spPr>
      </p:sp>
      <p:sp>
        <p:nvSpPr>
          <p:cNvPr id="14" name="TextBox 14"/>
          <p:cNvSpPr txBox="1"/>
          <p:nvPr/>
        </p:nvSpPr>
        <p:spPr>
          <a:xfrm>
            <a:off x="2679525" y="3146442"/>
            <a:ext cx="2623681" cy="1493520"/>
          </a:xfrm>
          <a:prstGeom prst="rect">
            <a:avLst/>
          </a:prstGeom>
        </p:spPr>
        <p:txBody>
          <a:bodyPr lIns="0" tIns="0" rIns="0" bIns="0" rtlCol="0" anchor="t">
            <a:spAutoFit/>
          </a:bodyPr>
          <a:lstStyle/>
          <a:p>
            <a:pPr algn="ctr">
              <a:lnSpc>
                <a:spcPts val="3779"/>
              </a:lnSpc>
            </a:pPr>
            <a:r>
              <a:rPr lang="en-US" sz="2700">
                <a:solidFill>
                  <a:srgbClr val="000000"/>
                </a:solidFill>
                <a:latin typeface="Arimo Bold"/>
              </a:rPr>
              <a:t>Collection and Preparation of Data/Dataset</a:t>
            </a:r>
          </a:p>
        </p:txBody>
      </p:sp>
      <p:sp>
        <p:nvSpPr>
          <p:cNvPr id="15" name="TextBox 15"/>
          <p:cNvSpPr txBox="1"/>
          <p:nvPr/>
        </p:nvSpPr>
        <p:spPr>
          <a:xfrm>
            <a:off x="8314452" y="3384567"/>
            <a:ext cx="1659095" cy="1017270"/>
          </a:xfrm>
          <a:prstGeom prst="rect">
            <a:avLst/>
          </a:prstGeom>
        </p:spPr>
        <p:txBody>
          <a:bodyPr lIns="0" tIns="0" rIns="0" bIns="0" rtlCol="0" anchor="t">
            <a:spAutoFit/>
          </a:bodyPr>
          <a:lstStyle/>
          <a:p>
            <a:pPr algn="ctr">
              <a:lnSpc>
                <a:spcPts val="3779"/>
              </a:lnSpc>
            </a:pPr>
            <a:r>
              <a:rPr lang="en-US" sz="2700">
                <a:solidFill>
                  <a:srgbClr val="000000"/>
                </a:solidFill>
                <a:latin typeface="Arimo Bold"/>
              </a:rPr>
              <a:t>Feature</a:t>
            </a:r>
          </a:p>
          <a:p>
            <a:pPr algn="ctr">
              <a:lnSpc>
                <a:spcPts val="3779"/>
              </a:lnSpc>
            </a:pPr>
            <a:r>
              <a:rPr lang="en-US" sz="2700">
                <a:solidFill>
                  <a:srgbClr val="000000"/>
                </a:solidFill>
                <a:latin typeface="Arimo Bold"/>
              </a:rPr>
              <a:t> selection</a:t>
            </a:r>
          </a:p>
        </p:txBody>
      </p:sp>
      <p:sp>
        <p:nvSpPr>
          <p:cNvPr id="16" name="TextBox 16"/>
          <p:cNvSpPr txBox="1"/>
          <p:nvPr/>
        </p:nvSpPr>
        <p:spPr>
          <a:xfrm>
            <a:off x="13358040" y="3384567"/>
            <a:ext cx="1698149" cy="1017270"/>
          </a:xfrm>
          <a:prstGeom prst="rect">
            <a:avLst/>
          </a:prstGeom>
        </p:spPr>
        <p:txBody>
          <a:bodyPr lIns="0" tIns="0" rIns="0" bIns="0" rtlCol="0" anchor="t">
            <a:spAutoFit/>
          </a:bodyPr>
          <a:lstStyle/>
          <a:p>
            <a:pPr algn="ctr">
              <a:lnSpc>
                <a:spcPts val="3779"/>
              </a:lnSpc>
            </a:pPr>
            <a:r>
              <a:rPr lang="en-US" sz="2700">
                <a:solidFill>
                  <a:srgbClr val="000000"/>
                </a:solidFill>
                <a:latin typeface="Arimo Bold"/>
              </a:rPr>
              <a:t>Choice of</a:t>
            </a:r>
          </a:p>
          <a:p>
            <a:pPr algn="ctr">
              <a:lnSpc>
                <a:spcPts val="3779"/>
              </a:lnSpc>
            </a:pPr>
            <a:r>
              <a:rPr lang="en-US" sz="2700">
                <a:solidFill>
                  <a:srgbClr val="000000"/>
                </a:solidFill>
                <a:latin typeface="Arimo Bold"/>
              </a:rPr>
              <a:t>Algorithm</a:t>
            </a:r>
          </a:p>
        </p:txBody>
      </p:sp>
      <p:sp>
        <p:nvSpPr>
          <p:cNvPr id="17" name="TextBox 17"/>
          <p:cNvSpPr txBox="1"/>
          <p:nvPr/>
        </p:nvSpPr>
        <p:spPr>
          <a:xfrm>
            <a:off x="12922096" y="6631289"/>
            <a:ext cx="2286168" cy="1493520"/>
          </a:xfrm>
          <a:prstGeom prst="rect">
            <a:avLst/>
          </a:prstGeom>
        </p:spPr>
        <p:txBody>
          <a:bodyPr lIns="0" tIns="0" rIns="0" bIns="0" rtlCol="0" anchor="t">
            <a:spAutoFit/>
          </a:bodyPr>
          <a:lstStyle/>
          <a:p>
            <a:pPr algn="ctr">
              <a:lnSpc>
                <a:spcPts val="3779"/>
              </a:lnSpc>
            </a:pPr>
            <a:r>
              <a:rPr lang="en-US" sz="2700">
                <a:solidFill>
                  <a:srgbClr val="000000"/>
                </a:solidFill>
                <a:latin typeface="Arimo Bold"/>
              </a:rPr>
              <a:t>Selection of </a:t>
            </a:r>
          </a:p>
          <a:p>
            <a:pPr algn="ctr">
              <a:lnSpc>
                <a:spcPts val="3779"/>
              </a:lnSpc>
            </a:pPr>
            <a:r>
              <a:rPr lang="en-US" sz="2700">
                <a:solidFill>
                  <a:srgbClr val="000000"/>
                </a:solidFill>
                <a:latin typeface="Arimo Bold"/>
              </a:rPr>
              <a:t>Models and </a:t>
            </a:r>
          </a:p>
          <a:p>
            <a:pPr algn="ctr">
              <a:lnSpc>
                <a:spcPts val="3779"/>
              </a:lnSpc>
            </a:pPr>
            <a:r>
              <a:rPr lang="en-US" sz="2700">
                <a:solidFill>
                  <a:srgbClr val="000000"/>
                </a:solidFill>
                <a:latin typeface="Arimo Bold"/>
              </a:rPr>
              <a:t>Parameters</a:t>
            </a:r>
          </a:p>
        </p:txBody>
      </p:sp>
      <p:sp>
        <p:nvSpPr>
          <p:cNvPr id="18" name="TextBox 18"/>
          <p:cNvSpPr txBox="1"/>
          <p:nvPr/>
        </p:nvSpPr>
        <p:spPr>
          <a:xfrm>
            <a:off x="8434705" y="7223970"/>
            <a:ext cx="1418590" cy="541020"/>
          </a:xfrm>
          <a:prstGeom prst="rect">
            <a:avLst/>
          </a:prstGeom>
        </p:spPr>
        <p:txBody>
          <a:bodyPr lIns="0" tIns="0" rIns="0" bIns="0" rtlCol="0" anchor="t">
            <a:spAutoFit/>
          </a:bodyPr>
          <a:lstStyle/>
          <a:p>
            <a:pPr algn="ctr">
              <a:lnSpc>
                <a:spcPts val="3779"/>
              </a:lnSpc>
            </a:pPr>
            <a:r>
              <a:rPr lang="en-US" sz="2700">
                <a:solidFill>
                  <a:srgbClr val="000000"/>
                </a:solidFill>
                <a:latin typeface="Arimo Bold"/>
              </a:rPr>
              <a:t>Training</a:t>
            </a:r>
          </a:p>
        </p:txBody>
      </p:sp>
      <p:sp>
        <p:nvSpPr>
          <p:cNvPr id="19" name="TextBox 19"/>
          <p:cNvSpPr txBox="1"/>
          <p:nvPr/>
        </p:nvSpPr>
        <p:spPr>
          <a:xfrm>
            <a:off x="2615061" y="6964165"/>
            <a:ext cx="2752609" cy="1017270"/>
          </a:xfrm>
          <a:prstGeom prst="rect">
            <a:avLst/>
          </a:prstGeom>
        </p:spPr>
        <p:txBody>
          <a:bodyPr lIns="0" tIns="0" rIns="0" bIns="0" rtlCol="0" anchor="t">
            <a:spAutoFit/>
          </a:bodyPr>
          <a:lstStyle/>
          <a:p>
            <a:pPr algn="ctr">
              <a:lnSpc>
                <a:spcPts val="3779"/>
              </a:lnSpc>
            </a:pPr>
            <a:r>
              <a:rPr lang="en-US" sz="2700">
                <a:solidFill>
                  <a:srgbClr val="000000"/>
                </a:solidFill>
                <a:latin typeface="Arimo Bold"/>
              </a:rPr>
              <a:t>Performance Evaluation</a:t>
            </a:r>
          </a:p>
        </p:txBody>
      </p:sp>
      <p:sp>
        <p:nvSpPr>
          <p:cNvPr id="20" name="Freeform 20"/>
          <p:cNvSpPr/>
          <p:nvPr/>
        </p:nvSpPr>
        <p:spPr>
          <a:xfrm rot="5400000">
            <a:off x="13398726" y="5381426"/>
            <a:ext cx="1616777" cy="907416"/>
          </a:xfrm>
          <a:custGeom>
            <a:avLst/>
            <a:gdLst/>
            <a:ahLst/>
            <a:cxnLst/>
            <a:rect l="l" t="t" r="r" b="b"/>
            <a:pathLst>
              <a:path w="1616777" h="907416">
                <a:moveTo>
                  <a:pt x="0" y="0"/>
                </a:moveTo>
                <a:lnTo>
                  <a:pt x="1616777" y="0"/>
                </a:lnTo>
                <a:lnTo>
                  <a:pt x="1616777" y="907416"/>
                </a:lnTo>
                <a:lnTo>
                  <a:pt x="0" y="907416"/>
                </a:lnTo>
                <a:lnTo>
                  <a:pt x="0" y="0"/>
                </a:lnTo>
                <a:close/>
              </a:path>
            </a:pathLst>
          </a:custGeom>
          <a:blipFill>
            <a:blip r:embed="rId6">
              <a:extLst>
                <a:ext uri="{96DAC541-7B7A-43D3-8B79-37D633B846F1}">
                  <asvg:svgBlip xmlns:asvg="http://schemas.microsoft.com/office/drawing/2016/SVG/main" r:embed="rId7"/>
                </a:ext>
              </a:extLst>
            </a:blip>
            <a:stretch>
              <a:fillRect b="-615"/>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768300" y="-102870"/>
            <a:ext cx="1797000" cy="10625031"/>
          </a:xfrm>
          <a:custGeom>
            <a:avLst/>
            <a:gdLst/>
            <a:ahLst/>
            <a:cxnLst/>
            <a:rect l="l" t="t" r="r" b="b"/>
            <a:pathLst>
              <a:path w="1797000" h="10625031">
                <a:moveTo>
                  <a:pt x="0" y="0"/>
                </a:moveTo>
                <a:lnTo>
                  <a:pt x="1797000" y="0"/>
                </a:lnTo>
                <a:lnTo>
                  <a:pt x="1797000" y="10625031"/>
                </a:lnTo>
                <a:lnTo>
                  <a:pt x="0" y="106250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10117" y="1294354"/>
            <a:ext cx="7166255" cy="8335547"/>
          </a:xfrm>
          <a:custGeom>
            <a:avLst/>
            <a:gdLst/>
            <a:ahLst/>
            <a:cxnLst/>
            <a:rect l="l" t="t" r="r" b="b"/>
            <a:pathLst>
              <a:path w="7166255" h="8335547">
                <a:moveTo>
                  <a:pt x="0" y="0"/>
                </a:moveTo>
                <a:lnTo>
                  <a:pt x="7166255" y="0"/>
                </a:lnTo>
                <a:lnTo>
                  <a:pt x="7166255" y="8335547"/>
                </a:lnTo>
                <a:lnTo>
                  <a:pt x="0" y="8335547"/>
                </a:lnTo>
                <a:lnTo>
                  <a:pt x="0" y="0"/>
                </a:lnTo>
                <a:close/>
              </a:path>
            </a:pathLst>
          </a:custGeom>
          <a:blipFill>
            <a:blip r:embed="rId4"/>
            <a:stretch>
              <a:fillRect/>
            </a:stretch>
          </a:blipFill>
        </p:spPr>
      </p:sp>
      <p:sp>
        <p:nvSpPr>
          <p:cNvPr id="4" name="TextBox 4"/>
          <p:cNvSpPr txBox="1"/>
          <p:nvPr/>
        </p:nvSpPr>
        <p:spPr>
          <a:xfrm>
            <a:off x="2548641" y="160244"/>
            <a:ext cx="12255461" cy="1134110"/>
          </a:xfrm>
          <a:prstGeom prst="rect">
            <a:avLst/>
          </a:prstGeom>
        </p:spPr>
        <p:txBody>
          <a:bodyPr lIns="0" tIns="0" rIns="0" bIns="0" rtlCol="0" anchor="t">
            <a:spAutoFit/>
          </a:bodyPr>
          <a:lstStyle/>
          <a:p>
            <a:pPr algn="ctr">
              <a:lnSpc>
                <a:spcPts val="7839"/>
              </a:lnSpc>
            </a:pPr>
            <a:r>
              <a:rPr lang="en-US" sz="5599">
                <a:solidFill>
                  <a:srgbClr val="DC1C4B"/>
                </a:solidFill>
                <a:latin typeface="Arimo Bold"/>
              </a:rPr>
              <a:t>Components of ECG</a:t>
            </a:r>
          </a:p>
        </p:txBody>
      </p:sp>
      <p:sp>
        <p:nvSpPr>
          <p:cNvPr id="5" name="TextBox 5"/>
          <p:cNvSpPr txBox="1"/>
          <p:nvPr/>
        </p:nvSpPr>
        <p:spPr>
          <a:xfrm>
            <a:off x="8875059" y="1246729"/>
            <a:ext cx="9056594" cy="7306958"/>
          </a:xfrm>
          <a:prstGeom prst="rect">
            <a:avLst/>
          </a:prstGeom>
        </p:spPr>
        <p:txBody>
          <a:bodyPr lIns="0" tIns="0" rIns="0" bIns="0" rtlCol="0" anchor="t">
            <a:spAutoFit/>
          </a:bodyPr>
          <a:lstStyle/>
          <a:p>
            <a:pPr algn="ctr">
              <a:lnSpc>
                <a:spcPts val="4129"/>
              </a:lnSpc>
            </a:pPr>
            <a:r>
              <a:rPr lang="en-US" sz="2949">
                <a:solidFill>
                  <a:srgbClr val="231F20"/>
                </a:solidFill>
                <a:latin typeface="Tex Gyre Termes"/>
              </a:rPr>
              <a:t>The Einthoven Triangle is a concept in electrocardiography (ECG) that refers to the spatial relationship between the three standard limb leads: Lead I, Lead II, and Lead III. These leads are used to record the electrical activity of the heart.</a:t>
            </a:r>
          </a:p>
          <a:p>
            <a:pPr algn="ctr">
              <a:lnSpc>
                <a:spcPts val="4129"/>
              </a:lnSpc>
            </a:pPr>
            <a:endParaRPr lang="en-US" sz="2949">
              <a:solidFill>
                <a:srgbClr val="231F20"/>
              </a:solidFill>
              <a:latin typeface="Tex Gyre Termes"/>
            </a:endParaRPr>
          </a:p>
          <a:p>
            <a:pPr algn="ctr">
              <a:lnSpc>
                <a:spcPts val="4129"/>
              </a:lnSpc>
            </a:pPr>
            <a:r>
              <a:rPr lang="en-US" sz="2949">
                <a:solidFill>
                  <a:srgbClr val="231F20"/>
                </a:solidFill>
                <a:latin typeface="Tex Gyre Termes"/>
              </a:rPr>
              <a:t>Lead I is positioned between the right arm and left arm, Lead II is between the right arm and left leg, and Lead III is between the left arm and left leg. The Einthoven Triangle is an imaginary equilateral triangle formed by connecting the positive electrode of Lead I, the positive electrode of Lead II, and the positive electrode of Lead III.</a:t>
            </a:r>
          </a:p>
          <a:p>
            <a:pPr algn="ctr">
              <a:lnSpc>
                <a:spcPts val="4129"/>
              </a:lnSpc>
            </a:pPr>
            <a:endParaRPr lang="en-US" sz="2949">
              <a:solidFill>
                <a:srgbClr val="231F20"/>
              </a:solidFill>
              <a:latin typeface="Tex Gyre Termes"/>
            </a:endParaRPr>
          </a:p>
          <a:p>
            <a:pPr algn="ctr">
              <a:lnSpc>
                <a:spcPts val="4129"/>
              </a:lnSpc>
            </a:pPr>
            <a:endParaRPr lang="en-US" sz="2949">
              <a:solidFill>
                <a:srgbClr val="231F20"/>
              </a:solidFill>
              <a:latin typeface="Tex Gyre Terme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407018" y="9334500"/>
            <a:ext cx="19102035" cy="1360363"/>
          </a:xfrm>
          <a:custGeom>
            <a:avLst/>
            <a:gdLst/>
            <a:ahLst/>
            <a:cxnLst/>
            <a:rect l="l" t="t" r="r" b="b"/>
            <a:pathLst>
              <a:path w="19102035" h="1360363">
                <a:moveTo>
                  <a:pt x="0" y="0"/>
                </a:moveTo>
                <a:lnTo>
                  <a:pt x="19102035" y="0"/>
                </a:lnTo>
                <a:lnTo>
                  <a:pt x="19102035" y="1360363"/>
                </a:lnTo>
                <a:lnTo>
                  <a:pt x="0" y="13603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286651" y="-2781822"/>
            <a:ext cx="5538817" cy="5563643"/>
          </a:xfrm>
          <a:custGeom>
            <a:avLst/>
            <a:gdLst/>
            <a:ahLst/>
            <a:cxnLst/>
            <a:rect l="l" t="t" r="r" b="b"/>
            <a:pathLst>
              <a:path w="5538817" h="5563643">
                <a:moveTo>
                  <a:pt x="0" y="0"/>
                </a:moveTo>
                <a:lnTo>
                  <a:pt x="5538817" y="0"/>
                </a:lnTo>
                <a:lnTo>
                  <a:pt x="5538817" y="5563643"/>
                </a:lnTo>
                <a:lnTo>
                  <a:pt x="0" y="55636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283812" y="285750"/>
            <a:ext cx="11322303" cy="2124075"/>
          </a:xfrm>
          <a:prstGeom prst="rect">
            <a:avLst/>
          </a:prstGeom>
        </p:spPr>
        <p:txBody>
          <a:bodyPr lIns="0" tIns="0" rIns="0" bIns="0" rtlCol="0" anchor="t">
            <a:spAutoFit/>
          </a:bodyPr>
          <a:lstStyle/>
          <a:p>
            <a:pPr>
              <a:lnSpc>
                <a:spcPts val="8400"/>
              </a:lnSpc>
            </a:pPr>
            <a:r>
              <a:rPr lang="en-US" sz="6000">
                <a:solidFill>
                  <a:srgbClr val="DC1C4B"/>
                </a:solidFill>
                <a:latin typeface="Arimo Bold"/>
              </a:rPr>
              <a:t>Arrythmia: Heart disease caused by irregular heartbeat</a:t>
            </a:r>
          </a:p>
        </p:txBody>
      </p:sp>
      <p:sp>
        <p:nvSpPr>
          <p:cNvPr id="5" name="TextBox 5"/>
          <p:cNvSpPr txBox="1"/>
          <p:nvPr/>
        </p:nvSpPr>
        <p:spPr>
          <a:xfrm>
            <a:off x="342794" y="2935134"/>
            <a:ext cx="17602410" cy="5816906"/>
          </a:xfrm>
          <a:prstGeom prst="rect">
            <a:avLst/>
          </a:prstGeom>
        </p:spPr>
        <p:txBody>
          <a:bodyPr lIns="0" tIns="0" rIns="0" bIns="0" rtlCol="0" anchor="t">
            <a:spAutoFit/>
          </a:bodyPr>
          <a:lstStyle/>
          <a:p>
            <a:pPr>
              <a:lnSpc>
                <a:spcPts val="3833"/>
              </a:lnSpc>
            </a:pPr>
            <a:r>
              <a:rPr lang="en-US" sz="2737">
                <a:solidFill>
                  <a:srgbClr val="000000"/>
                </a:solidFill>
                <a:latin typeface="Tex Gyre Termes"/>
              </a:rPr>
              <a:t>Generally arrythmia refers to irregular heart beat it also refers to improper functioning of the heart beating of too fast or too slow.</a:t>
            </a:r>
          </a:p>
          <a:p>
            <a:pPr>
              <a:lnSpc>
                <a:spcPts val="3833"/>
              </a:lnSpc>
            </a:pPr>
            <a:endParaRPr lang="en-US" sz="2737">
              <a:solidFill>
                <a:srgbClr val="000000"/>
              </a:solidFill>
              <a:latin typeface="Tex Gyre Termes"/>
            </a:endParaRPr>
          </a:p>
          <a:p>
            <a:pPr>
              <a:lnSpc>
                <a:spcPts val="3833"/>
              </a:lnSpc>
            </a:pPr>
            <a:r>
              <a:rPr lang="en-US" sz="2737">
                <a:solidFill>
                  <a:srgbClr val="000000"/>
                </a:solidFill>
                <a:latin typeface="Tex Gyre Termes"/>
              </a:rPr>
              <a:t>Now see lets see the classification of averythmias for better understanding</a:t>
            </a:r>
          </a:p>
          <a:p>
            <a:pPr>
              <a:lnSpc>
                <a:spcPts val="3833"/>
              </a:lnSpc>
            </a:pPr>
            <a:endParaRPr lang="en-US" sz="2737">
              <a:solidFill>
                <a:srgbClr val="000000"/>
              </a:solidFill>
              <a:latin typeface="Tex Gyre Termes"/>
            </a:endParaRPr>
          </a:p>
          <a:p>
            <a:pPr>
              <a:lnSpc>
                <a:spcPts val="3833"/>
              </a:lnSpc>
            </a:pPr>
            <a:r>
              <a:rPr lang="en-US" sz="2737">
                <a:solidFill>
                  <a:srgbClr val="000000"/>
                </a:solidFill>
                <a:latin typeface="Tex Gyre Termes"/>
              </a:rPr>
              <a:t>• They are basically three types of Arrythmia</a:t>
            </a:r>
          </a:p>
          <a:p>
            <a:pPr>
              <a:lnSpc>
                <a:spcPts val="3833"/>
              </a:lnSpc>
            </a:pPr>
            <a:endParaRPr lang="en-US" sz="2737">
              <a:solidFill>
                <a:srgbClr val="000000"/>
              </a:solidFill>
              <a:latin typeface="Tex Gyre Termes"/>
            </a:endParaRPr>
          </a:p>
          <a:p>
            <a:pPr>
              <a:lnSpc>
                <a:spcPts val="3833"/>
              </a:lnSpc>
            </a:pPr>
            <a:r>
              <a:rPr lang="en-US" sz="2737">
                <a:solidFill>
                  <a:srgbClr val="000000"/>
                </a:solidFill>
                <a:latin typeface="Tex Gyre Termes"/>
              </a:rPr>
              <a:t>1)Sinus rhythms - is Classified into two types</a:t>
            </a:r>
          </a:p>
          <a:p>
            <a:pPr>
              <a:lnSpc>
                <a:spcPts val="3833"/>
              </a:lnSpc>
            </a:pPr>
            <a:r>
              <a:rPr lang="en-US" sz="2737">
                <a:solidFill>
                  <a:srgbClr val="000000"/>
                </a:solidFill>
                <a:latin typeface="Tex Gyre Termes"/>
              </a:rPr>
              <a:t>i) Bradycardia : Generally Bradycardia is characterized by a slower than normal heartrate.</a:t>
            </a:r>
          </a:p>
          <a:p>
            <a:pPr>
              <a:lnSpc>
                <a:spcPts val="3833"/>
              </a:lnSpc>
            </a:pPr>
            <a:r>
              <a:rPr lang="en-US" sz="2737">
                <a:solidFill>
                  <a:srgbClr val="000000"/>
                </a:solidFill>
                <a:latin typeface="Tex Gyre Termes"/>
              </a:rPr>
              <a:t>If you have bradycardia your heart beat is less than 60 times a minute.</a:t>
            </a:r>
          </a:p>
          <a:p>
            <a:pPr>
              <a:lnSpc>
                <a:spcPts val="3833"/>
              </a:lnSpc>
            </a:pPr>
            <a:endParaRPr lang="en-US" sz="2737">
              <a:solidFill>
                <a:srgbClr val="000000"/>
              </a:solidFill>
              <a:latin typeface="Tex Gyre Termes"/>
            </a:endParaRPr>
          </a:p>
          <a:p>
            <a:pPr>
              <a:lnSpc>
                <a:spcPts val="3833"/>
              </a:lnSpc>
            </a:pPr>
            <a:r>
              <a:rPr lang="en-US" sz="2737">
                <a:solidFill>
                  <a:srgbClr val="000000"/>
                </a:solidFill>
                <a:latin typeface="Tex Gyre Termes"/>
              </a:rPr>
              <a:t>ⅱ) Tachycardia: In the Tachycardia a heart rate over 100 beats per minutes.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407018" y="9334500"/>
            <a:ext cx="19102035" cy="1360363"/>
          </a:xfrm>
          <a:custGeom>
            <a:avLst/>
            <a:gdLst/>
            <a:ahLst/>
            <a:cxnLst/>
            <a:rect l="l" t="t" r="r" b="b"/>
            <a:pathLst>
              <a:path w="19102035" h="1360363">
                <a:moveTo>
                  <a:pt x="0" y="0"/>
                </a:moveTo>
                <a:lnTo>
                  <a:pt x="19102035" y="0"/>
                </a:lnTo>
                <a:lnTo>
                  <a:pt x="19102035" y="1360363"/>
                </a:lnTo>
                <a:lnTo>
                  <a:pt x="0" y="136036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 name="Freeform 3"/>
          <p:cNvSpPr/>
          <p:nvPr/>
        </p:nvSpPr>
        <p:spPr>
          <a:xfrm>
            <a:off x="14286651" y="-2781822"/>
            <a:ext cx="5538817" cy="5563643"/>
          </a:xfrm>
          <a:custGeom>
            <a:avLst/>
            <a:gdLst/>
            <a:ahLst/>
            <a:cxnLst/>
            <a:rect l="l" t="t" r="r" b="b"/>
            <a:pathLst>
              <a:path w="5538817" h="5563643">
                <a:moveTo>
                  <a:pt x="0" y="0"/>
                </a:moveTo>
                <a:lnTo>
                  <a:pt x="5538817" y="0"/>
                </a:lnTo>
                <a:lnTo>
                  <a:pt x="5538817" y="5563643"/>
                </a:lnTo>
                <a:lnTo>
                  <a:pt x="0" y="55636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4" name="Picture 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8"/>
          <a:srcRect/>
          <a:stretch>
            <a:fillRect/>
          </a:stretch>
        </p:blipFill>
        <p:spPr>
          <a:xfrm>
            <a:off x="11746688" y="3594016"/>
            <a:ext cx="6125368" cy="3445520"/>
          </a:xfrm>
          <a:prstGeom prst="rect">
            <a:avLst/>
          </a:prstGeom>
        </p:spPr>
      </p:pic>
      <p:sp>
        <p:nvSpPr>
          <p:cNvPr id="5" name="TextBox 5"/>
          <p:cNvSpPr txBox="1"/>
          <p:nvPr/>
        </p:nvSpPr>
        <p:spPr>
          <a:xfrm>
            <a:off x="310841" y="449673"/>
            <a:ext cx="11435847" cy="7781290"/>
          </a:xfrm>
          <a:prstGeom prst="rect">
            <a:avLst/>
          </a:prstGeom>
        </p:spPr>
        <p:txBody>
          <a:bodyPr lIns="0" tIns="0" rIns="0" bIns="0" rtlCol="0" anchor="t">
            <a:spAutoFit/>
          </a:bodyPr>
          <a:lstStyle/>
          <a:p>
            <a:pPr>
              <a:lnSpc>
                <a:spcPts val="4759"/>
              </a:lnSpc>
            </a:pPr>
            <a:r>
              <a:rPr lang="en-US" sz="3399">
                <a:solidFill>
                  <a:srgbClr val="000000"/>
                </a:solidFill>
                <a:latin typeface="Tex Gyre Termes"/>
              </a:rPr>
              <a:t>2.Atrial rhytms (it orginate from atria)</a:t>
            </a:r>
          </a:p>
          <a:p>
            <a:pPr>
              <a:lnSpc>
                <a:spcPts val="4759"/>
              </a:lnSpc>
            </a:pPr>
            <a:endParaRPr lang="en-US" sz="3399">
              <a:solidFill>
                <a:srgbClr val="000000"/>
              </a:solidFill>
              <a:latin typeface="Tex Gyre Termes"/>
            </a:endParaRPr>
          </a:p>
          <a:p>
            <a:pPr>
              <a:lnSpc>
                <a:spcPts val="4759"/>
              </a:lnSpc>
            </a:pPr>
            <a:r>
              <a:rPr lang="en-US" sz="3399">
                <a:solidFill>
                  <a:srgbClr val="000000"/>
                </a:solidFill>
                <a:latin typeface="Tex Gyre Termes"/>
              </a:rPr>
              <a:t>It is Classified into two  ⅰ) Atrial fibrillation (AF) : This is the most common type, characterized by rapid, irregular benting of the upper chambers (atria).</a:t>
            </a:r>
          </a:p>
          <a:p>
            <a:pPr>
              <a:lnSpc>
                <a:spcPts val="4759"/>
              </a:lnSpc>
            </a:pPr>
            <a:endParaRPr lang="en-US" sz="3399">
              <a:solidFill>
                <a:srgbClr val="000000"/>
              </a:solidFill>
              <a:latin typeface="Tex Gyre Termes"/>
            </a:endParaRPr>
          </a:p>
          <a:p>
            <a:pPr>
              <a:lnSpc>
                <a:spcPts val="4759"/>
              </a:lnSpc>
            </a:pPr>
            <a:r>
              <a:rPr lang="en-US" sz="3399">
                <a:solidFill>
                  <a:srgbClr val="000000"/>
                </a:solidFill>
                <a:latin typeface="Tex Gyre Termes"/>
              </a:rPr>
              <a:t>AF Can lead to blood clots and increase the risk of stroke.</a:t>
            </a:r>
          </a:p>
          <a:p>
            <a:pPr>
              <a:lnSpc>
                <a:spcPts val="4759"/>
              </a:lnSpc>
            </a:pPr>
            <a:endParaRPr lang="en-US" sz="3399">
              <a:solidFill>
                <a:srgbClr val="000000"/>
              </a:solidFill>
              <a:latin typeface="Tex Gyre Termes"/>
            </a:endParaRPr>
          </a:p>
          <a:p>
            <a:pPr>
              <a:lnSpc>
                <a:spcPts val="4759"/>
              </a:lnSpc>
            </a:pPr>
            <a:r>
              <a:rPr lang="en-US" sz="3399">
                <a:solidFill>
                  <a:srgbClr val="000000"/>
                </a:solidFill>
                <a:latin typeface="Tex Gyre Termes"/>
              </a:rPr>
              <a:t>ⅱ) Atarial flutter: It is similar to Af, but with more organized rythm.</a:t>
            </a:r>
          </a:p>
          <a:p>
            <a:pPr>
              <a:lnSpc>
                <a:spcPts val="4759"/>
              </a:lnSpc>
            </a:pPr>
            <a:endParaRPr lang="en-US" sz="3399">
              <a:solidFill>
                <a:srgbClr val="000000"/>
              </a:solidFill>
              <a:latin typeface="Tex Gyre Termes"/>
            </a:endParaRPr>
          </a:p>
          <a:p>
            <a:pPr>
              <a:lnSpc>
                <a:spcPts val="4759"/>
              </a:lnSpc>
            </a:pPr>
            <a:r>
              <a:rPr lang="en-US" sz="3399">
                <a:solidFill>
                  <a:srgbClr val="000000"/>
                </a:solidFill>
                <a:latin typeface="Tex Gyre Termes"/>
              </a:rPr>
              <a:t>It can cause palpitations and lead to complication like stroke it left Untreated.</a:t>
            </a:r>
          </a:p>
        </p:txBody>
      </p:sp>
    </p:spTree>
  </p:cSld>
  <p:clrMapOvr>
    <a:masterClrMapping/>
  </p:clrMapOvr>
  <p:timing>
    <p:tnLst>
      <p:par>
        <p:cTn id="1" dur="indefinite" restart="never" nodeType="tmRoot">
          <p:childTnLst>
            <p:video>
              <p:cMediaNode vol="0">
                <p:cTn id="2" fill="hold" display="0">
                  <p:stCondLst>
                    <p:cond delay="indefinite"/>
                  </p:stCondLst>
                </p:cTn>
                <p:tgtEl>
                  <p:spTgt spid="4"/>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407018" y="9334500"/>
            <a:ext cx="19102035" cy="1360363"/>
          </a:xfrm>
          <a:custGeom>
            <a:avLst/>
            <a:gdLst/>
            <a:ahLst/>
            <a:cxnLst/>
            <a:rect l="l" t="t" r="r" b="b"/>
            <a:pathLst>
              <a:path w="19102035" h="1360363">
                <a:moveTo>
                  <a:pt x="0" y="0"/>
                </a:moveTo>
                <a:lnTo>
                  <a:pt x="19102035" y="0"/>
                </a:lnTo>
                <a:lnTo>
                  <a:pt x="19102035" y="1360363"/>
                </a:lnTo>
                <a:lnTo>
                  <a:pt x="0" y="136036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 name="Freeform 3"/>
          <p:cNvSpPr/>
          <p:nvPr/>
        </p:nvSpPr>
        <p:spPr>
          <a:xfrm>
            <a:off x="14286651" y="-2781822"/>
            <a:ext cx="5538817" cy="5563643"/>
          </a:xfrm>
          <a:custGeom>
            <a:avLst/>
            <a:gdLst/>
            <a:ahLst/>
            <a:cxnLst/>
            <a:rect l="l" t="t" r="r" b="b"/>
            <a:pathLst>
              <a:path w="5538817" h="5563643">
                <a:moveTo>
                  <a:pt x="0" y="0"/>
                </a:moveTo>
                <a:lnTo>
                  <a:pt x="5538817" y="0"/>
                </a:lnTo>
                <a:lnTo>
                  <a:pt x="5538817" y="5563643"/>
                </a:lnTo>
                <a:lnTo>
                  <a:pt x="0" y="55636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4" name="TextBox 4"/>
          <p:cNvSpPr txBox="1"/>
          <p:nvPr/>
        </p:nvSpPr>
        <p:spPr>
          <a:xfrm>
            <a:off x="268941" y="392395"/>
            <a:ext cx="10981764" cy="8308861"/>
          </a:xfrm>
          <a:prstGeom prst="rect">
            <a:avLst/>
          </a:prstGeom>
        </p:spPr>
        <p:txBody>
          <a:bodyPr lIns="0" tIns="0" rIns="0" bIns="0" rtlCol="0" anchor="t">
            <a:spAutoFit/>
          </a:bodyPr>
          <a:lstStyle/>
          <a:p>
            <a:pPr algn="just">
              <a:lnSpc>
                <a:spcPts val="3500"/>
              </a:lnSpc>
              <a:spcBef>
                <a:spcPct val="0"/>
              </a:spcBef>
            </a:pPr>
            <a:r>
              <a:rPr lang="en-US" sz="2500" spc="501">
                <a:solidFill>
                  <a:srgbClr val="000000"/>
                </a:solidFill>
                <a:latin typeface="Tex Gyre Termes"/>
              </a:rPr>
              <a:t>3.Ventricular rhythms (originate from the ventricles)</a:t>
            </a:r>
          </a:p>
          <a:p>
            <a:pPr algn="just">
              <a:lnSpc>
                <a:spcPts val="3500"/>
              </a:lnSpc>
              <a:spcBef>
                <a:spcPct val="0"/>
              </a:spcBef>
            </a:pPr>
            <a:r>
              <a:rPr lang="en-US" sz="2500" spc="500">
                <a:solidFill>
                  <a:srgbClr val="000000"/>
                </a:solidFill>
                <a:latin typeface="Tex Gyre Termes"/>
              </a:rPr>
              <a:t>It is classified into two types</a:t>
            </a:r>
          </a:p>
          <a:p>
            <a:pPr algn="just">
              <a:lnSpc>
                <a:spcPts val="3500"/>
              </a:lnSpc>
              <a:spcBef>
                <a:spcPct val="0"/>
              </a:spcBef>
            </a:pPr>
            <a:endParaRPr lang="en-US" sz="2500" spc="500">
              <a:solidFill>
                <a:srgbClr val="000000"/>
              </a:solidFill>
              <a:latin typeface="Tex Gyre Termes"/>
            </a:endParaRPr>
          </a:p>
          <a:p>
            <a:pPr algn="just">
              <a:lnSpc>
                <a:spcPts val="3500"/>
              </a:lnSpc>
              <a:spcBef>
                <a:spcPct val="0"/>
              </a:spcBef>
            </a:pPr>
            <a:r>
              <a:rPr lang="en-US" sz="2500" spc="501">
                <a:solidFill>
                  <a:srgbClr val="000000"/>
                </a:solidFill>
                <a:latin typeface="Tex Gyre Termes"/>
              </a:rPr>
              <a:t>i) Ventricular tachycardia:-</a:t>
            </a:r>
          </a:p>
          <a:p>
            <a:pPr algn="just">
              <a:lnSpc>
                <a:spcPts val="3500"/>
              </a:lnSpc>
              <a:spcBef>
                <a:spcPct val="0"/>
              </a:spcBef>
            </a:pPr>
            <a:r>
              <a:rPr lang="en-US" sz="2500" spc="501">
                <a:solidFill>
                  <a:srgbClr val="000000"/>
                </a:solidFill>
                <a:latin typeface="Tex Gyre Termes"/>
              </a:rPr>
              <a:t>It occurs due to a problem in  the hearts electrical impulses.</a:t>
            </a:r>
          </a:p>
          <a:p>
            <a:pPr algn="just">
              <a:lnSpc>
                <a:spcPts val="3500"/>
              </a:lnSpc>
              <a:spcBef>
                <a:spcPct val="0"/>
              </a:spcBef>
            </a:pPr>
            <a:r>
              <a:rPr lang="en-US" sz="2500" spc="501">
                <a:solidFill>
                  <a:srgbClr val="000000"/>
                </a:solidFill>
                <a:latin typeface="Tex Gyre Termes"/>
              </a:rPr>
              <a:t>• The condition may develop as a Complication of an heart attack</a:t>
            </a:r>
          </a:p>
          <a:p>
            <a:pPr algn="just">
              <a:lnSpc>
                <a:spcPts val="3500"/>
              </a:lnSpc>
              <a:spcBef>
                <a:spcPct val="0"/>
              </a:spcBef>
            </a:pPr>
            <a:r>
              <a:rPr lang="en-US" sz="2500" spc="500">
                <a:solidFill>
                  <a:srgbClr val="000000"/>
                </a:solidFill>
                <a:latin typeface="Tex Gyre Termes"/>
              </a:rPr>
              <a:t>• In this disease, the lower chamber of the heart beat very quickly</a:t>
            </a:r>
          </a:p>
          <a:p>
            <a:pPr algn="just">
              <a:lnSpc>
                <a:spcPts val="3500"/>
              </a:lnSpc>
              <a:spcBef>
                <a:spcPct val="0"/>
              </a:spcBef>
            </a:pPr>
            <a:endParaRPr lang="en-US" sz="2500" spc="500">
              <a:solidFill>
                <a:srgbClr val="000000"/>
              </a:solidFill>
              <a:latin typeface="Tex Gyre Termes"/>
            </a:endParaRPr>
          </a:p>
          <a:p>
            <a:pPr algn="just">
              <a:lnSpc>
                <a:spcPts val="3500"/>
              </a:lnSpc>
              <a:spcBef>
                <a:spcPct val="0"/>
              </a:spcBef>
            </a:pPr>
            <a:r>
              <a:rPr lang="en-US" sz="2500" spc="500">
                <a:solidFill>
                  <a:srgbClr val="000000"/>
                </a:solidFill>
                <a:latin typeface="Tex Gyre Termes"/>
              </a:rPr>
              <a:t>Ventricular fibrillation (UF):</a:t>
            </a:r>
          </a:p>
          <a:p>
            <a:pPr algn="just">
              <a:lnSpc>
                <a:spcPts val="3500"/>
              </a:lnSpc>
              <a:spcBef>
                <a:spcPct val="0"/>
              </a:spcBef>
            </a:pPr>
            <a:endParaRPr lang="en-US" sz="2500" spc="500">
              <a:solidFill>
                <a:srgbClr val="000000"/>
              </a:solidFill>
              <a:latin typeface="Tex Gyre Termes"/>
            </a:endParaRPr>
          </a:p>
          <a:p>
            <a:pPr algn="just">
              <a:lnSpc>
                <a:spcPts val="3500"/>
              </a:lnSpc>
              <a:spcBef>
                <a:spcPct val="0"/>
              </a:spcBef>
            </a:pPr>
            <a:r>
              <a:rPr lang="en-US" sz="2500" spc="500">
                <a:solidFill>
                  <a:srgbClr val="000000"/>
                </a:solidFill>
                <a:latin typeface="Tex Gyre Termes"/>
              </a:rPr>
              <a:t>A life-threatening heart rhythm that results in a rapid, inadequate heartbeat.</a:t>
            </a:r>
          </a:p>
          <a:p>
            <a:pPr algn="just">
              <a:lnSpc>
                <a:spcPts val="3500"/>
              </a:lnSpc>
              <a:spcBef>
                <a:spcPct val="0"/>
              </a:spcBef>
            </a:pPr>
            <a:endParaRPr lang="en-US" sz="2500" spc="500">
              <a:solidFill>
                <a:srgbClr val="000000"/>
              </a:solidFill>
              <a:latin typeface="Tex Gyre Termes"/>
            </a:endParaRPr>
          </a:p>
          <a:p>
            <a:pPr algn="just">
              <a:lnSpc>
                <a:spcPts val="3500"/>
              </a:lnSpc>
              <a:spcBef>
                <a:spcPct val="0"/>
              </a:spcBef>
            </a:pPr>
            <a:r>
              <a:rPr lang="en-US" sz="2500" spc="501">
                <a:solidFill>
                  <a:srgbClr val="000000"/>
                </a:solidFill>
                <a:latin typeface="Tex Gyre Termes"/>
              </a:rPr>
              <a:t>VF is a rapid, life-threatening heart rhythm starting from lower chambers in the heart from this, a heart attack can be triggered.</a:t>
            </a:r>
          </a:p>
        </p:txBody>
      </p:sp>
      <p:pic>
        <p:nvPicPr>
          <p:cNvPr id="5" name="Picture 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8"/>
          <a:srcRect/>
          <a:stretch>
            <a:fillRect/>
          </a:stretch>
        </p:blipFill>
        <p:spPr>
          <a:xfrm>
            <a:off x="11484367" y="3041788"/>
            <a:ext cx="6074317" cy="4555738"/>
          </a:xfrm>
          <a:prstGeom prst="rect">
            <a:avLst/>
          </a:prstGeom>
        </p:spPr>
      </p:pic>
    </p:spTree>
  </p:cSld>
  <p:clrMapOvr>
    <a:masterClrMapping/>
  </p:clrMapOvr>
  <p:timing>
    <p:tnLst>
      <p:par>
        <p:cTn id="1" dur="indefinite" restart="never" nodeType="tmRoot">
          <p:childTnLst>
            <p:video>
              <p:cMediaNode vol="0">
                <p:cTn id="2" fill="hold" display="0">
                  <p:stCondLst>
                    <p:cond delay="indefinite"/>
                  </p:stCondLst>
                </p:cTn>
                <p:tgtEl>
                  <p:spTgt spid="5"/>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768300" y="-102870"/>
            <a:ext cx="1797000" cy="10625031"/>
          </a:xfrm>
          <a:custGeom>
            <a:avLst/>
            <a:gdLst/>
            <a:ahLst/>
            <a:cxnLst/>
            <a:rect l="l" t="t" r="r" b="b"/>
            <a:pathLst>
              <a:path w="1797000" h="10625031">
                <a:moveTo>
                  <a:pt x="0" y="0"/>
                </a:moveTo>
                <a:lnTo>
                  <a:pt x="1797000" y="0"/>
                </a:lnTo>
                <a:lnTo>
                  <a:pt x="1797000" y="10625031"/>
                </a:lnTo>
                <a:lnTo>
                  <a:pt x="0" y="106250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028700" y="2366213"/>
            <a:ext cx="16871779" cy="6275217"/>
            <a:chOff x="0" y="0"/>
            <a:chExt cx="22495705" cy="8366956"/>
          </a:xfrm>
        </p:grpSpPr>
        <p:sp>
          <p:nvSpPr>
            <p:cNvPr id="4" name="Freeform 4"/>
            <p:cNvSpPr/>
            <p:nvPr/>
          </p:nvSpPr>
          <p:spPr>
            <a:xfrm rot="5400000">
              <a:off x="10122763" y="-9890672"/>
              <a:ext cx="2234912" cy="22016256"/>
            </a:xfrm>
            <a:custGeom>
              <a:avLst/>
              <a:gdLst/>
              <a:ahLst/>
              <a:cxnLst/>
              <a:rect l="l" t="t" r="r" b="b"/>
              <a:pathLst>
                <a:path w="2234912" h="22016256">
                  <a:moveTo>
                    <a:pt x="0" y="0"/>
                  </a:moveTo>
                  <a:lnTo>
                    <a:pt x="2234912" y="0"/>
                  </a:lnTo>
                  <a:lnTo>
                    <a:pt x="2234912" y="22016256"/>
                  </a:lnTo>
                  <a:lnTo>
                    <a:pt x="0" y="22016256"/>
                  </a:lnTo>
                  <a:lnTo>
                    <a:pt x="0" y="0"/>
                  </a:lnTo>
                  <a:close/>
                </a:path>
              </a:pathLst>
            </a:custGeom>
            <a:blipFill>
              <a:blip r:embed="rId4"/>
              <a:stretch>
                <a:fillRect/>
              </a:stretch>
            </a:blipFill>
          </p:spPr>
        </p:sp>
        <p:sp>
          <p:nvSpPr>
            <p:cNvPr id="5" name="Freeform 5"/>
            <p:cNvSpPr/>
            <p:nvPr/>
          </p:nvSpPr>
          <p:spPr>
            <a:xfrm>
              <a:off x="0" y="2234912"/>
              <a:ext cx="22495705" cy="6132044"/>
            </a:xfrm>
            <a:custGeom>
              <a:avLst/>
              <a:gdLst/>
              <a:ahLst/>
              <a:cxnLst/>
              <a:rect l="l" t="t" r="r" b="b"/>
              <a:pathLst>
                <a:path w="22495705" h="6132044">
                  <a:moveTo>
                    <a:pt x="0" y="0"/>
                  </a:moveTo>
                  <a:lnTo>
                    <a:pt x="22495705" y="0"/>
                  </a:lnTo>
                  <a:lnTo>
                    <a:pt x="22495705" y="6132044"/>
                  </a:lnTo>
                  <a:lnTo>
                    <a:pt x="0" y="6132044"/>
                  </a:lnTo>
                  <a:lnTo>
                    <a:pt x="0" y="0"/>
                  </a:lnTo>
                  <a:close/>
                </a:path>
              </a:pathLst>
            </a:custGeom>
            <a:blipFill>
              <a:blip r:embed="rId5"/>
              <a:stretch>
                <a:fillRect l="-183" r="-183"/>
              </a:stretch>
            </a:blipFill>
          </p:spPr>
        </p:sp>
      </p:grpSp>
      <p:sp>
        <p:nvSpPr>
          <p:cNvPr id="6" name="TextBox 6"/>
          <p:cNvSpPr txBox="1"/>
          <p:nvPr/>
        </p:nvSpPr>
        <p:spPr>
          <a:xfrm>
            <a:off x="-457513" y="257874"/>
            <a:ext cx="12673071" cy="1057275"/>
          </a:xfrm>
          <a:prstGeom prst="rect">
            <a:avLst/>
          </a:prstGeom>
        </p:spPr>
        <p:txBody>
          <a:bodyPr lIns="0" tIns="0" rIns="0" bIns="0" rtlCol="0" anchor="t">
            <a:spAutoFit/>
          </a:bodyPr>
          <a:lstStyle/>
          <a:p>
            <a:pPr algn="ctr">
              <a:lnSpc>
                <a:spcPts val="8400"/>
              </a:lnSpc>
            </a:pPr>
            <a:r>
              <a:rPr lang="en-US" sz="6000">
                <a:solidFill>
                  <a:srgbClr val="DC1C4B"/>
                </a:solidFill>
                <a:latin typeface="Arimo Bold"/>
              </a:rPr>
              <a:t>Mathematical equation’s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768300" y="-102870"/>
            <a:ext cx="1797000" cy="10625031"/>
          </a:xfrm>
          <a:custGeom>
            <a:avLst/>
            <a:gdLst/>
            <a:ahLst/>
            <a:cxnLst/>
            <a:rect l="l" t="t" r="r" b="b"/>
            <a:pathLst>
              <a:path w="1797000" h="10625031">
                <a:moveTo>
                  <a:pt x="0" y="0"/>
                </a:moveTo>
                <a:lnTo>
                  <a:pt x="1797000" y="0"/>
                </a:lnTo>
                <a:lnTo>
                  <a:pt x="1797000" y="10625031"/>
                </a:lnTo>
                <a:lnTo>
                  <a:pt x="0" y="106250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2271684"/>
            <a:ext cx="17019243" cy="6203442"/>
          </a:xfrm>
          <a:custGeom>
            <a:avLst/>
            <a:gdLst/>
            <a:ahLst/>
            <a:cxnLst/>
            <a:rect l="l" t="t" r="r" b="b"/>
            <a:pathLst>
              <a:path w="17019243" h="6203442">
                <a:moveTo>
                  <a:pt x="0" y="0"/>
                </a:moveTo>
                <a:lnTo>
                  <a:pt x="17019243" y="0"/>
                </a:lnTo>
                <a:lnTo>
                  <a:pt x="17019243" y="6203442"/>
                </a:lnTo>
                <a:lnTo>
                  <a:pt x="0" y="6203442"/>
                </a:lnTo>
                <a:lnTo>
                  <a:pt x="0" y="0"/>
                </a:lnTo>
                <a:close/>
              </a:path>
            </a:pathLst>
          </a:custGeom>
          <a:blipFill>
            <a:blip r:embed="rId4"/>
            <a:stretch>
              <a:fillRect/>
            </a:stretch>
          </a:blipFill>
        </p:spPr>
      </p:sp>
      <p:sp>
        <p:nvSpPr>
          <p:cNvPr id="4" name="TextBox 4"/>
          <p:cNvSpPr txBox="1"/>
          <p:nvPr/>
        </p:nvSpPr>
        <p:spPr>
          <a:xfrm>
            <a:off x="-457513" y="257874"/>
            <a:ext cx="12673071" cy="1057275"/>
          </a:xfrm>
          <a:prstGeom prst="rect">
            <a:avLst/>
          </a:prstGeom>
        </p:spPr>
        <p:txBody>
          <a:bodyPr lIns="0" tIns="0" rIns="0" bIns="0" rtlCol="0" anchor="t">
            <a:spAutoFit/>
          </a:bodyPr>
          <a:lstStyle/>
          <a:p>
            <a:pPr algn="ctr">
              <a:lnSpc>
                <a:spcPts val="8400"/>
              </a:lnSpc>
            </a:pPr>
            <a:r>
              <a:rPr lang="en-US" sz="6000">
                <a:solidFill>
                  <a:srgbClr val="DC1C4B"/>
                </a:solidFill>
                <a:latin typeface="Arimo Bold"/>
              </a:rPr>
              <a:t>Mathematical equation’s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407018" y="9334500"/>
            <a:ext cx="19102035" cy="1360363"/>
          </a:xfrm>
          <a:custGeom>
            <a:avLst/>
            <a:gdLst/>
            <a:ahLst/>
            <a:cxnLst/>
            <a:rect l="l" t="t" r="r" b="b"/>
            <a:pathLst>
              <a:path w="19102035" h="1360363">
                <a:moveTo>
                  <a:pt x="0" y="0"/>
                </a:moveTo>
                <a:lnTo>
                  <a:pt x="19102035" y="0"/>
                </a:lnTo>
                <a:lnTo>
                  <a:pt x="19102035" y="1360363"/>
                </a:lnTo>
                <a:lnTo>
                  <a:pt x="0" y="13603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626781" y="2230109"/>
            <a:ext cx="8594130" cy="1200150"/>
          </a:xfrm>
          <a:prstGeom prst="rect">
            <a:avLst/>
          </a:prstGeom>
        </p:spPr>
        <p:txBody>
          <a:bodyPr lIns="0" tIns="0" rIns="0" bIns="0" rtlCol="0" anchor="t">
            <a:spAutoFit/>
          </a:bodyPr>
          <a:lstStyle/>
          <a:p>
            <a:pPr algn="ctr">
              <a:lnSpc>
                <a:spcPts val="8400"/>
              </a:lnSpc>
            </a:pPr>
            <a:r>
              <a:rPr lang="en-US" sz="6000">
                <a:solidFill>
                  <a:srgbClr val="DC1C4B"/>
                </a:solidFill>
                <a:latin typeface="Arimo Bold"/>
              </a:rPr>
              <a:t>DESIGN METHODOLGY</a:t>
            </a:r>
          </a:p>
        </p:txBody>
      </p:sp>
      <p:sp>
        <p:nvSpPr>
          <p:cNvPr id="4" name="TextBox 4"/>
          <p:cNvSpPr txBox="1"/>
          <p:nvPr/>
        </p:nvSpPr>
        <p:spPr>
          <a:xfrm>
            <a:off x="1028700" y="4345416"/>
            <a:ext cx="15960844" cy="2834940"/>
          </a:xfrm>
          <a:prstGeom prst="rect">
            <a:avLst/>
          </a:prstGeom>
        </p:spPr>
        <p:txBody>
          <a:bodyPr lIns="0" tIns="0" rIns="0" bIns="0" rtlCol="0" anchor="t">
            <a:spAutoFit/>
          </a:bodyPr>
          <a:lstStyle/>
          <a:p>
            <a:pPr marL="735037" lvl="2" indent="-245012" algn="just">
              <a:lnSpc>
                <a:spcPts val="6946"/>
              </a:lnSpc>
              <a:buFont typeface="Arial"/>
              <a:buChar char="⚬"/>
            </a:pPr>
            <a:r>
              <a:rPr lang="en-US" sz="3214">
                <a:solidFill>
                  <a:srgbClr val="000000"/>
                </a:solidFill>
                <a:latin typeface="Tex Gyre Termes"/>
              </a:rPr>
              <a:t>Convolutional Neural Network are effective in capturing spatial and temporal in ECG signals</a:t>
            </a:r>
          </a:p>
          <a:p>
            <a:pPr marL="735037" lvl="2" indent="-245012" algn="just">
              <a:lnSpc>
                <a:spcPts val="6946"/>
              </a:lnSpc>
              <a:buFont typeface="Arial"/>
              <a:buChar char="⚬"/>
            </a:pPr>
            <a:r>
              <a:rPr lang="en-US" sz="3214">
                <a:solidFill>
                  <a:srgbClr val="000000"/>
                </a:solidFill>
                <a:latin typeface="Tex Gyre Termes"/>
              </a:rPr>
              <a:t>The irregularities in ECG signals classify the heartbeats under different categories.</a:t>
            </a:r>
          </a:p>
          <a:p>
            <a:pPr marL="735037" lvl="2" indent="-245012" algn="just">
              <a:lnSpc>
                <a:spcPts val="6946"/>
              </a:lnSpc>
              <a:buFont typeface="Arial"/>
              <a:buChar char="⚬"/>
            </a:pPr>
            <a:r>
              <a:rPr lang="en-US" sz="3214">
                <a:solidFill>
                  <a:srgbClr val="000000"/>
                </a:solidFill>
                <a:latin typeface="Tex Gyre Termes"/>
              </a:rPr>
              <a:t>The performance of ECG pattern depends upon the features and design of cnn model.</a:t>
            </a:r>
          </a:p>
        </p:txBody>
      </p:sp>
      <p:sp>
        <p:nvSpPr>
          <p:cNvPr id="5" name="Freeform 5"/>
          <p:cNvSpPr/>
          <p:nvPr/>
        </p:nvSpPr>
        <p:spPr>
          <a:xfrm>
            <a:off x="14286651" y="-2781822"/>
            <a:ext cx="5538817" cy="5563643"/>
          </a:xfrm>
          <a:custGeom>
            <a:avLst/>
            <a:gdLst/>
            <a:ahLst/>
            <a:cxnLst/>
            <a:rect l="l" t="t" r="r" b="b"/>
            <a:pathLst>
              <a:path w="5538817" h="5563643">
                <a:moveTo>
                  <a:pt x="0" y="0"/>
                </a:moveTo>
                <a:lnTo>
                  <a:pt x="5538817" y="0"/>
                </a:lnTo>
                <a:lnTo>
                  <a:pt x="5538817" y="5563643"/>
                </a:lnTo>
                <a:lnTo>
                  <a:pt x="0" y="55636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6453408" y="3050375"/>
            <a:ext cx="1612437" cy="1619664"/>
          </a:xfrm>
          <a:custGeom>
            <a:avLst/>
            <a:gdLst/>
            <a:ahLst/>
            <a:cxnLst/>
            <a:rect l="l" t="t" r="r" b="b"/>
            <a:pathLst>
              <a:path w="1612437" h="1619664">
                <a:moveTo>
                  <a:pt x="0" y="0"/>
                </a:moveTo>
                <a:lnTo>
                  <a:pt x="1612437" y="0"/>
                </a:lnTo>
                <a:lnTo>
                  <a:pt x="1612437" y="1619664"/>
                </a:lnTo>
                <a:lnTo>
                  <a:pt x="0" y="161966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5016546" y="2690836"/>
            <a:ext cx="907611" cy="911679"/>
          </a:xfrm>
          <a:custGeom>
            <a:avLst/>
            <a:gdLst/>
            <a:ahLst/>
            <a:cxnLst/>
            <a:rect l="l" t="t" r="r" b="b"/>
            <a:pathLst>
              <a:path w="907611" h="911679">
                <a:moveTo>
                  <a:pt x="0" y="0"/>
                </a:moveTo>
                <a:lnTo>
                  <a:pt x="907611" y="0"/>
                </a:lnTo>
                <a:lnTo>
                  <a:pt x="907611" y="911679"/>
                </a:lnTo>
                <a:lnTo>
                  <a:pt x="0" y="91167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407018" y="9334500"/>
            <a:ext cx="19102035" cy="1360363"/>
          </a:xfrm>
          <a:custGeom>
            <a:avLst/>
            <a:gdLst/>
            <a:ahLst/>
            <a:cxnLst/>
            <a:rect l="l" t="t" r="r" b="b"/>
            <a:pathLst>
              <a:path w="19102035" h="1360363">
                <a:moveTo>
                  <a:pt x="0" y="0"/>
                </a:moveTo>
                <a:lnTo>
                  <a:pt x="19102035" y="0"/>
                </a:lnTo>
                <a:lnTo>
                  <a:pt x="19102035" y="1360363"/>
                </a:lnTo>
                <a:lnTo>
                  <a:pt x="0" y="13603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286651" y="-2781822"/>
            <a:ext cx="5538817" cy="5563643"/>
          </a:xfrm>
          <a:custGeom>
            <a:avLst/>
            <a:gdLst/>
            <a:ahLst/>
            <a:cxnLst/>
            <a:rect l="l" t="t" r="r" b="b"/>
            <a:pathLst>
              <a:path w="5538817" h="5563643">
                <a:moveTo>
                  <a:pt x="0" y="0"/>
                </a:moveTo>
                <a:lnTo>
                  <a:pt x="5538817" y="0"/>
                </a:lnTo>
                <a:lnTo>
                  <a:pt x="5538817" y="5563643"/>
                </a:lnTo>
                <a:lnTo>
                  <a:pt x="0" y="55636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835577" y="285750"/>
            <a:ext cx="14285759" cy="2124075"/>
          </a:xfrm>
          <a:prstGeom prst="rect">
            <a:avLst/>
          </a:prstGeom>
        </p:spPr>
        <p:txBody>
          <a:bodyPr lIns="0" tIns="0" rIns="0" bIns="0" rtlCol="0" anchor="t">
            <a:spAutoFit/>
          </a:bodyPr>
          <a:lstStyle/>
          <a:p>
            <a:pPr algn="ctr">
              <a:lnSpc>
                <a:spcPts val="8400"/>
              </a:lnSpc>
            </a:pPr>
            <a:r>
              <a:rPr lang="en-US" sz="6000">
                <a:solidFill>
                  <a:srgbClr val="DC1C4B"/>
                </a:solidFill>
                <a:latin typeface="Arimo Bold"/>
              </a:rPr>
              <a:t>DESIGN SPECIFICATION AND HARDWARE COMPONENTS</a:t>
            </a:r>
          </a:p>
        </p:txBody>
      </p:sp>
      <p:sp>
        <p:nvSpPr>
          <p:cNvPr id="5" name="Freeform 5"/>
          <p:cNvSpPr/>
          <p:nvPr/>
        </p:nvSpPr>
        <p:spPr>
          <a:xfrm>
            <a:off x="2357717" y="3143275"/>
            <a:ext cx="3446337" cy="1873946"/>
          </a:xfrm>
          <a:custGeom>
            <a:avLst/>
            <a:gdLst/>
            <a:ahLst/>
            <a:cxnLst/>
            <a:rect l="l" t="t" r="r" b="b"/>
            <a:pathLst>
              <a:path w="3446337" h="1873946">
                <a:moveTo>
                  <a:pt x="0" y="0"/>
                </a:moveTo>
                <a:lnTo>
                  <a:pt x="3446337" y="0"/>
                </a:lnTo>
                <a:lnTo>
                  <a:pt x="3446337" y="1873946"/>
                </a:lnTo>
                <a:lnTo>
                  <a:pt x="0" y="1873946"/>
                </a:lnTo>
                <a:lnTo>
                  <a:pt x="0" y="0"/>
                </a:lnTo>
                <a:close/>
              </a:path>
            </a:pathLst>
          </a:custGeom>
          <a:blipFill>
            <a:blip r:embed="rId6">
              <a:extLst>
                <a:ext uri="{96DAC541-7B7A-43D3-8B79-37D633B846F1}">
                  <asvg:svgBlip xmlns:asvg="http://schemas.microsoft.com/office/drawing/2016/SVG/main" r:embed="rId7"/>
                </a:ext>
              </a:extLst>
            </a:blip>
            <a:stretch>
              <a:fillRect b="-82"/>
            </a:stretch>
          </a:blipFill>
        </p:spPr>
      </p:sp>
      <p:sp>
        <p:nvSpPr>
          <p:cNvPr id="6" name="Freeform 6"/>
          <p:cNvSpPr/>
          <p:nvPr/>
        </p:nvSpPr>
        <p:spPr>
          <a:xfrm>
            <a:off x="7420832" y="3143275"/>
            <a:ext cx="3446337" cy="1873946"/>
          </a:xfrm>
          <a:custGeom>
            <a:avLst/>
            <a:gdLst/>
            <a:ahLst/>
            <a:cxnLst/>
            <a:rect l="l" t="t" r="r" b="b"/>
            <a:pathLst>
              <a:path w="3446337" h="1873946">
                <a:moveTo>
                  <a:pt x="0" y="0"/>
                </a:moveTo>
                <a:lnTo>
                  <a:pt x="3446337" y="0"/>
                </a:lnTo>
                <a:lnTo>
                  <a:pt x="3446337" y="1873946"/>
                </a:lnTo>
                <a:lnTo>
                  <a:pt x="0" y="1873946"/>
                </a:lnTo>
                <a:lnTo>
                  <a:pt x="0" y="0"/>
                </a:lnTo>
                <a:close/>
              </a:path>
            </a:pathLst>
          </a:custGeom>
          <a:blipFill>
            <a:blip r:embed="rId6">
              <a:extLst>
                <a:ext uri="{96DAC541-7B7A-43D3-8B79-37D633B846F1}">
                  <asvg:svgBlip xmlns:asvg="http://schemas.microsoft.com/office/drawing/2016/SVG/main" r:embed="rId7"/>
                </a:ext>
              </a:extLst>
            </a:blip>
            <a:stretch>
              <a:fillRect b="-82"/>
            </a:stretch>
          </a:blipFill>
        </p:spPr>
      </p:sp>
      <p:sp>
        <p:nvSpPr>
          <p:cNvPr id="7" name="Freeform 7"/>
          <p:cNvSpPr/>
          <p:nvPr/>
        </p:nvSpPr>
        <p:spPr>
          <a:xfrm>
            <a:off x="12483946" y="3143275"/>
            <a:ext cx="3446337" cy="1873946"/>
          </a:xfrm>
          <a:custGeom>
            <a:avLst/>
            <a:gdLst/>
            <a:ahLst/>
            <a:cxnLst/>
            <a:rect l="l" t="t" r="r" b="b"/>
            <a:pathLst>
              <a:path w="3446337" h="1873946">
                <a:moveTo>
                  <a:pt x="0" y="0"/>
                </a:moveTo>
                <a:lnTo>
                  <a:pt x="3446337" y="0"/>
                </a:lnTo>
                <a:lnTo>
                  <a:pt x="3446337" y="1873946"/>
                </a:lnTo>
                <a:lnTo>
                  <a:pt x="0" y="1873946"/>
                </a:lnTo>
                <a:lnTo>
                  <a:pt x="0" y="0"/>
                </a:lnTo>
                <a:close/>
              </a:path>
            </a:pathLst>
          </a:custGeom>
          <a:blipFill>
            <a:blip r:embed="rId6">
              <a:extLst>
                <a:ext uri="{96DAC541-7B7A-43D3-8B79-37D633B846F1}">
                  <asvg:svgBlip xmlns:asvg="http://schemas.microsoft.com/office/drawing/2016/SVG/main" r:embed="rId7"/>
                </a:ext>
              </a:extLst>
            </a:blip>
            <a:stretch>
              <a:fillRect b="-82"/>
            </a:stretch>
          </a:blipFill>
        </p:spPr>
      </p:sp>
      <p:sp>
        <p:nvSpPr>
          <p:cNvPr id="8" name="Freeform 8"/>
          <p:cNvSpPr/>
          <p:nvPr/>
        </p:nvSpPr>
        <p:spPr>
          <a:xfrm>
            <a:off x="12483946" y="6590754"/>
            <a:ext cx="3446337" cy="1873946"/>
          </a:xfrm>
          <a:custGeom>
            <a:avLst/>
            <a:gdLst/>
            <a:ahLst/>
            <a:cxnLst/>
            <a:rect l="l" t="t" r="r" b="b"/>
            <a:pathLst>
              <a:path w="3446337" h="1873946">
                <a:moveTo>
                  <a:pt x="0" y="0"/>
                </a:moveTo>
                <a:lnTo>
                  <a:pt x="3446337" y="0"/>
                </a:lnTo>
                <a:lnTo>
                  <a:pt x="3446337" y="1873946"/>
                </a:lnTo>
                <a:lnTo>
                  <a:pt x="0" y="1873946"/>
                </a:lnTo>
                <a:lnTo>
                  <a:pt x="0" y="0"/>
                </a:lnTo>
                <a:close/>
              </a:path>
            </a:pathLst>
          </a:custGeom>
          <a:blipFill>
            <a:blip r:embed="rId6">
              <a:extLst>
                <a:ext uri="{96DAC541-7B7A-43D3-8B79-37D633B846F1}">
                  <asvg:svgBlip xmlns:asvg="http://schemas.microsoft.com/office/drawing/2016/SVG/main" r:embed="rId7"/>
                </a:ext>
              </a:extLst>
            </a:blip>
            <a:stretch>
              <a:fillRect b="-82"/>
            </a:stretch>
          </a:blipFill>
        </p:spPr>
      </p:sp>
      <p:sp>
        <p:nvSpPr>
          <p:cNvPr id="9" name="Freeform 9"/>
          <p:cNvSpPr/>
          <p:nvPr/>
        </p:nvSpPr>
        <p:spPr>
          <a:xfrm>
            <a:off x="7420832" y="6710058"/>
            <a:ext cx="3446337" cy="1873946"/>
          </a:xfrm>
          <a:custGeom>
            <a:avLst/>
            <a:gdLst/>
            <a:ahLst/>
            <a:cxnLst/>
            <a:rect l="l" t="t" r="r" b="b"/>
            <a:pathLst>
              <a:path w="3446337" h="1873946">
                <a:moveTo>
                  <a:pt x="0" y="0"/>
                </a:moveTo>
                <a:lnTo>
                  <a:pt x="3446337" y="0"/>
                </a:lnTo>
                <a:lnTo>
                  <a:pt x="3446337" y="1873946"/>
                </a:lnTo>
                <a:lnTo>
                  <a:pt x="0" y="1873946"/>
                </a:lnTo>
                <a:lnTo>
                  <a:pt x="0" y="0"/>
                </a:lnTo>
                <a:close/>
              </a:path>
            </a:pathLst>
          </a:custGeom>
          <a:blipFill>
            <a:blip r:embed="rId6">
              <a:extLst>
                <a:ext uri="{96DAC541-7B7A-43D3-8B79-37D633B846F1}">
                  <asvg:svgBlip xmlns:asvg="http://schemas.microsoft.com/office/drawing/2016/SVG/main" r:embed="rId7"/>
                </a:ext>
              </a:extLst>
            </a:blip>
            <a:stretch>
              <a:fillRect b="-82"/>
            </a:stretch>
          </a:blipFill>
        </p:spPr>
      </p:sp>
      <p:sp>
        <p:nvSpPr>
          <p:cNvPr id="10" name="Freeform 10"/>
          <p:cNvSpPr/>
          <p:nvPr/>
        </p:nvSpPr>
        <p:spPr>
          <a:xfrm>
            <a:off x="2357717" y="6710058"/>
            <a:ext cx="3446337" cy="1873946"/>
          </a:xfrm>
          <a:custGeom>
            <a:avLst/>
            <a:gdLst/>
            <a:ahLst/>
            <a:cxnLst/>
            <a:rect l="l" t="t" r="r" b="b"/>
            <a:pathLst>
              <a:path w="3446337" h="1873946">
                <a:moveTo>
                  <a:pt x="0" y="0"/>
                </a:moveTo>
                <a:lnTo>
                  <a:pt x="3446337" y="0"/>
                </a:lnTo>
                <a:lnTo>
                  <a:pt x="3446337" y="1873946"/>
                </a:lnTo>
                <a:lnTo>
                  <a:pt x="0" y="1873946"/>
                </a:lnTo>
                <a:lnTo>
                  <a:pt x="0" y="0"/>
                </a:lnTo>
                <a:close/>
              </a:path>
            </a:pathLst>
          </a:custGeom>
          <a:blipFill>
            <a:blip r:embed="rId6">
              <a:extLst>
                <a:ext uri="{96DAC541-7B7A-43D3-8B79-37D633B846F1}">
                  <asvg:svgBlip xmlns:asvg="http://schemas.microsoft.com/office/drawing/2016/SVG/main" r:embed="rId7"/>
                </a:ext>
              </a:extLst>
            </a:blip>
            <a:stretch>
              <a:fillRect b="-82"/>
            </a:stretch>
          </a:blipFill>
        </p:spPr>
      </p:sp>
      <p:sp>
        <p:nvSpPr>
          <p:cNvPr id="11" name="Freeform 11"/>
          <p:cNvSpPr/>
          <p:nvPr/>
        </p:nvSpPr>
        <p:spPr>
          <a:xfrm>
            <a:off x="5804054" y="3626540"/>
            <a:ext cx="1616777" cy="907416"/>
          </a:xfrm>
          <a:custGeom>
            <a:avLst/>
            <a:gdLst/>
            <a:ahLst/>
            <a:cxnLst/>
            <a:rect l="l" t="t" r="r" b="b"/>
            <a:pathLst>
              <a:path w="1616777" h="907416">
                <a:moveTo>
                  <a:pt x="0" y="0"/>
                </a:moveTo>
                <a:lnTo>
                  <a:pt x="1616777" y="0"/>
                </a:lnTo>
                <a:lnTo>
                  <a:pt x="1616777" y="907416"/>
                </a:lnTo>
                <a:lnTo>
                  <a:pt x="0" y="907416"/>
                </a:lnTo>
                <a:lnTo>
                  <a:pt x="0" y="0"/>
                </a:lnTo>
                <a:close/>
              </a:path>
            </a:pathLst>
          </a:custGeom>
          <a:blipFill>
            <a:blip r:embed="rId8">
              <a:extLst>
                <a:ext uri="{96DAC541-7B7A-43D3-8B79-37D633B846F1}">
                  <asvg:svgBlip xmlns:asvg="http://schemas.microsoft.com/office/drawing/2016/SVG/main" r:embed="rId9"/>
                </a:ext>
              </a:extLst>
            </a:blip>
            <a:stretch>
              <a:fillRect b="-615"/>
            </a:stretch>
          </a:blipFill>
        </p:spPr>
      </p:sp>
      <p:sp>
        <p:nvSpPr>
          <p:cNvPr id="12" name="Freeform 12"/>
          <p:cNvSpPr/>
          <p:nvPr/>
        </p:nvSpPr>
        <p:spPr>
          <a:xfrm>
            <a:off x="10867168" y="3626540"/>
            <a:ext cx="1616777" cy="907416"/>
          </a:xfrm>
          <a:custGeom>
            <a:avLst/>
            <a:gdLst/>
            <a:ahLst/>
            <a:cxnLst/>
            <a:rect l="l" t="t" r="r" b="b"/>
            <a:pathLst>
              <a:path w="1616777" h="907416">
                <a:moveTo>
                  <a:pt x="0" y="0"/>
                </a:moveTo>
                <a:lnTo>
                  <a:pt x="1616777" y="0"/>
                </a:lnTo>
                <a:lnTo>
                  <a:pt x="1616777" y="907416"/>
                </a:lnTo>
                <a:lnTo>
                  <a:pt x="0" y="907416"/>
                </a:lnTo>
                <a:lnTo>
                  <a:pt x="0" y="0"/>
                </a:lnTo>
                <a:close/>
              </a:path>
            </a:pathLst>
          </a:custGeom>
          <a:blipFill>
            <a:blip r:embed="rId8">
              <a:extLst>
                <a:ext uri="{96DAC541-7B7A-43D3-8B79-37D633B846F1}">
                  <asvg:svgBlip xmlns:asvg="http://schemas.microsoft.com/office/drawing/2016/SVG/main" r:embed="rId9"/>
                </a:ext>
              </a:extLst>
            </a:blip>
            <a:stretch>
              <a:fillRect b="-615"/>
            </a:stretch>
          </a:blipFill>
        </p:spPr>
      </p:sp>
      <p:sp>
        <p:nvSpPr>
          <p:cNvPr id="13" name="Freeform 13"/>
          <p:cNvSpPr/>
          <p:nvPr/>
        </p:nvSpPr>
        <p:spPr>
          <a:xfrm rot="-10800000">
            <a:off x="5804054" y="7193323"/>
            <a:ext cx="1616777" cy="907416"/>
          </a:xfrm>
          <a:custGeom>
            <a:avLst/>
            <a:gdLst/>
            <a:ahLst/>
            <a:cxnLst/>
            <a:rect l="l" t="t" r="r" b="b"/>
            <a:pathLst>
              <a:path w="1616777" h="907416">
                <a:moveTo>
                  <a:pt x="0" y="0"/>
                </a:moveTo>
                <a:lnTo>
                  <a:pt x="1616777" y="0"/>
                </a:lnTo>
                <a:lnTo>
                  <a:pt x="1616777" y="907416"/>
                </a:lnTo>
                <a:lnTo>
                  <a:pt x="0" y="907416"/>
                </a:lnTo>
                <a:lnTo>
                  <a:pt x="0" y="0"/>
                </a:lnTo>
                <a:close/>
              </a:path>
            </a:pathLst>
          </a:custGeom>
          <a:blipFill>
            <a:blip r:embed="rId8">
              <a:extLst>
                <a:ext uri="{96DAC541-7B7A-43D3-8B79-37D633B846F1}">
                  <asvg:svgBlip xmlns:asvg="http://schemas.microsoft.com/office/drawing/2016/SVG/main" r:embed="rId9"/>
                </a:ext>
              </a:extLst>
            </a:blip>
            <a:stretch>
              <a:fillRect b="-615"/>
            </a:stretch>
          </a:blipFill>
        </p:spPr>
      </p:sp>
      <p:sp>
        <p:nvSpPr>
          <p:cNvPr id="14" name="Freeform 14"/>
          <p:cNvSpPr/>
          <p:nvPr/>
        </p:nvSpPr>
        <p:spPr>
          <a:xfrm rot="-10800000">
            <a:off x="10781396" y="7169253"/>
            <a:ext cx="1702550" cy="955556"/>
          </a:xfrm>
          <a:custGeom>
            <a:avLst/>
            <a:gdLst/>
            <a:ahLst/>
            <a:cxnLst/>
            <a:rect l="l" t="t" r="r" b="b"/>
            <a:pathLst>
              <a:path w="1702550" h="955556">
                <a:moveTo>
                  <a:pt x="0" y="0"/>
                </a:moveTo>
                <a:lnTo>
                  <a:pt x="1702550" y="0"/>
                </a:lnTo>
                <a:lnTo>
                  <a:pt x="1702550" y="955556"/>
                </a:lnTo>
                <a:lnTo>
                  <a:pt x="0" y="955556"/>
                </a:lnTo>
                <a:lnTo>
                  <a:pt x="0" y="0"/>
                </a:lnTo>
                <a:close/>
              </a:path>
            </a:pathLst>
          </a:custGeom>
          <a:blipFill>
            <a:blip r:embed="rId8">
              <a:extLst>
                <a:ext uri="{96DAC541-7B7A-43D3-8B79-37D633B846F1}">
                  <asvg:svgBlip xmlns:asvg="http://schemas.microsoft.com/office/drawing/2016/SVG/main" r:embed="rId9"/>
                </a:ext>
              </a:extLst>
            </a:blip>
            <a:stretch>
              <a:fillRect b="-533"/>
            </a:stretch>
          </a:blipFill>
        </p:spPr>
      </p:sp>
      <p:sp>
        <p:nvSpPr>
          <p:cNvPr id="15" name="TextBox 15"/>
          <p:cNvSpPr txBox="1"/>
          <p:nvPr/>
        </p:nvSpPr>
        <p:spPr>
          <a:xfrm>
            <a:off x="2679525" y="3351508"/>
            <a:ext cx="2623681" cy="950722"/>
          </a:xfrm>
          <a:prstGeom prst="rect">
            <a:avLst/>
          </a:prstGeom>
        </p:spPr>
        <p:txBody>
          <a:bodyPr lIns="0" tIns="0" rIns="0" bIns="0" rtlCol="0" anchor="t">
            <a:spAutoFit/>
          </a:bodyPr>
          <a:lstStyle/>
          <a:p>
            <a:pPr algn="ctr">
              <a:lnSpc>
                <a:spcPts val="3779"/>
              </a:lnSpc>
            </a:pPr>
            <a:r>
              <a:rPr lang="en-US" sz="2700">
                <a:solidFill>
                  <a:srgbClr val="000000"/>
                </a:solidFill>
                <a:latin typeface="Arimo Bold"/>
              </a:rPr>
              <a:t>ECG Surface Electrodes</a:t>
            </a:r>
          </a:p>
        </p:txBody>
      </p:sp>
      <p:sp>
        <p:nvSpPr>
          <p:cNvPr id="16" name="TextBox 16"/>
          <p:cNvSpPr txBox="1"/>
          <p:nvPr/>
        </p:nvSpPr>
        <p:spPr>
          <a:xfrm>
            <a:off x="7731233" y="3333371"/>
            <a:ext cx="2825532" cy="1372461"/>
          </a:xfrm>
          <a:prstGeom prst="rect">
            <a:avLst/>
          </a:prstGeom>
        </p:spPr>
        <p:txBody>
          <a:bodyPr lIns="0" tIns="0" rIns="0" bIns="0" rtlCol="0" anchor="t">
            <a:spAutoFit/>
          </a:bodyPr>
          <a:lstStyle/>
          <a:p>
            <a:pPr algn="ctr">
              <a:lnSpc>
                <a:spcPts val="3637"/>
              </a:lnSpc>
            </a:pPr>
            <a:r>
              <a:rPr lang="en-US" sz="2600">
                <a:solidFill>
                  <a:srgbClr val="000000"/>
                </a:solidFill>
                <a:latin typeface="Arimo Bold"/>
              </a:rPr>
              <a:t>AD8232/BMD101/ADAS1000</a:t>
            </a:r>
          </a:p>
          <a:p>
            <a:pPr algn="ctr">
              <a:lnSpc>
                <a:spcPts val="3639"/>
              </a:lnSpc>
            </a:pPr>
            <a:r>
              <a:rPr lang="en-US" sz="2600">
                <a:solidFill>
                  <a:srgbClr val="000000"/>
                </a:solidFill>
                <a:latin typeface="Arimo Bold"/>
              </a:rPr>
              <a:t>ECG Module</a:t>
            </a:r>
          </a:p>
        </p:txBody>
      </p:sp>
      <p:sp>
        <p:nvSpPr>
          <p:cNvPr id="17" name="TextBox 17"/>
          <p:cNvSpPr txBox="1"/>
          <p:nvPr/>
        </p:nvSpPr>
        <p:spPr>
          <a:xfrm>
            <a:off x="13009024" y="3395531"/>
            <a:ext cx="2112311" cy="950830"/>
          </a:xfrm>
          <a:prstGeom prst="rect">
            <a:avLst/>
          </a:prstGeom>
        </p:spPr>
        <p:txBody>
          <a:bodyPr lIns="0" tIns="0" rIns="0" bIns="0" rtlCol="0" anchor="t">
            <a:spAutoFit/>
          </a:bodyPr>
          <a:lstStyle/>
          <a:p>
            <a:pPr algn="ctr">
              <a:lnSpc>
                <a:spcPts val="3777"/>
              </a:lnSpc>
            </a:pPr>
            <a:r>
              <a:rPr lang="en-US" sz="2700">
                <a:solidFill>
                  <a:srgbClr val="000000"/>
                </a:solidFill>
                <a:latin typeface="Arimo Bold"/>
              </a:rPr>
              <a:t>MCP3008</a:t>
            </a:r>
          </a:p>
          <a:p>
            <a:pPr algn="ctr">
              <a:lnSpc>
                <a:spcPts val="3779"/>
              </a:lnSpc>
            </a:pPr>
            <a:r>
              <a:rPr lang="en-US" sz="2700">
                <a:solidFill>
                  <a:srgbClr val="000000"/>
                </a:solidFill>
                <a:latin typeface="Arimo Bold"/>
              </a:rPr>
              <a:t>Serial ADC</a:t>
            </a:r>
          </a:p>
        </p:txBody>
      </p:sp>
      <p:sp>
        <p:nvSpPr>
          <p:cNvPr id="18" name="TextBox 18"/>
          <p:cNvSpPr txBox="1"/>
          <p:nvPr/>
        </p:nvSpPr>
        <p:spPr>
          <a:xfrm>
            <a:off x="13009024" y="6938797"/>
            <a:ext cx="2286168" cy="950830"/>
          </a:xfrm>
          <a:prstGeom prst="rect">
            <a:avLst/>
          </a:prstGeom>
        </p:spPr>
        <p:txBody>
          <a:bodyPr lIns="0" tIns="0" rIns="0" bIns="0" rtlCol="0" anchor="t">
            <a:spAutoFit/>
          </a:bodyPr>
          <a:lstStyle/>
          <a:p>
            <a:pPr algn="ctr">
              <a:lnSpc>
                <a:spcPts val="3777"/>
              </a:lnSpc>
            </a:pPr>
            <a:r>
              <a:rPr lang="en-US" sz="2700">
                <a:solidFill>
                  <a:srgbClr val="000000"/>
                </a:solidFill>
                <a:latin typeface="Arimo Bold"/>
              </a:rPr>
              <a:t>Raspberry pi</a:t>
            </a:r>
          </a:p>
          <a:p>
            <a:pPr algn="ctr">
              <a:lnSpc>
                <a:spcPts val="3779"/>
              </a:lnSpc>
            </a:pPr>
            <a:r>
              <a:rPr lang="en-US" sz="2700">
                <a:solidFill>
                  <a:srgbClr val="000000"/>
                </a:solidFill>
                <a:latin typeface="Arimo Bold"/>
              </a:rPr>
              <a:t>Module</a:t>
            </a:r>
          </a:p>
        </p:txBody>
      </p:sp>
      <p:sp>
        <p:nvSpPr>
          <p:cNvPr id="19" name="TextBox 19"/>
          <p:cNvSpPr txBox="1"/>
          <p:nvPr/>
        </p:nvSpPr>
        <p:spPr>
          <a:xfrm>
            <a:off x="7724809" y="7102578"/>
            <a:ext cx="2752609" cy="915157"/>
          </a:xfrm>
          <a:prstGeom prst="rect">
            <a:avLst/>
          </a:prstGeom>
        </p:spPr>
        <p:txBody>
          <a:bodyPr lIns="0" tIns="0" rIns="0" bIns="0" rtlCol="0" anchor="t">
            <a:spAutoFit/>
          </a:bodyPr>
          <a:lstStyle/>
          <a:p>
            <a:pPr algn="ctr">
              <a:lnSpc>
                <a:spcPts val="3639"/>
              </a:lnSpc>
            </a:pPr>
            <a:r>
              <a:rPr lang="en-US" sz="2600">
                <a:solidFill>
                  <a:srgbClr val="000000"/>
                </a:solidFill>
                <a:latin typeface="Arimo Bold"/>
              </a:rPr>
              <a:t>Machine learning model </a:t>
            </a:r>
          </a:p>
        </p:txBody>
      </p:sp>
      <p:sp>
        <p:nvSpPr>
          <p:cNvPr id="20" name="Freeform 20"/>
          <p:cNvSpPr/>
          <p:nvPr/>
        </p:nvSpPr>
        <p:spPr>
          <a:xfrm rot="5400000">
            <a:off x="13398726" y="5381426"/>
            <a:ext cx="1616777" cy="907416"/>
          </a:xfrm>
          <a:custGeom>
            <a:avLst/>
            <a:gdLst/>
            <a:ahLst/>
            <a:cxnLst/>
            <a:rect l="l" t="t" r="r" b="b"/>
            <a:pathLst>
              <a:path w="1616777" h="907416">
                <a:moveTo>
                  <a:pt x="0" y="0"/>
                </a:moveTo>
                <a:lnTo>
                  <a:pt x="1616777" y="0"/>
                </a:lnTo>
                <a:lnTo>
                  <a:pt x="1616777" y="907416"/>
                </a:lnTo>
                <a:lnTo>
                  <a:pt x="0" y="907416"/>
                </a:lnTo>
                <a:lnTo>
                  <a:pt x="0" y="0"/>
                </a:lnTo>
                <a:close/>
              </a:path>
            </a:pathLst>
          </a:custGeom>
          <a:blipFill>
            <a:blip r:embed="rId8">
              <a:extLst>
                <a:ext uri="{96DAC541-7B7A-43D3-8B79-37D633B846F1}">
                  <asvg:svgBlip xmlns:asvg="http://schemas.microsoft.com/office/drawing/2016/SVG/main" r:embed="rId9"/>
                </a:ext>
              </a:extLst>
            </a:blip>
            <a:stretch>
              <a:fillRect b="-615"/>
            </a:stretch>
          </a:blipFill>
        </p:spPr>
      </p:sp>
      <p:sp>
        <p:nvSpPr>
          <p:cNvPr id="21" name="TextBox 21"/>
          <p:cNvSpPr txBox="1"/>
          <p:nvPr/>
        </p:nvSpPr>
        <p:spPr>
          <a:xfrm>
            <a:off x="2615061" y="6873926"/>
            <a:ext cx="2752609" cy="1372461"/>
          </a:xfrm>
          <a:prstGeom prst="rect">
            <a:avLst/>
          </a:prstGeom>
        </p:spPr>
        <p:txBody>
          <a:bodyPr lIns="0" tIns="0" rIns="0" bIns="0" rtlCol="0" anchor="t">
            <a:spAutoFit/>
          </a:bodyPr>
          <a:lstStyle/>
          <a:p>
            <a:pPr algn="ctr">
              <a:lnSpc>
                <a:spcPts val="3637"/>
              </a:lnSpc>
            </a:pPr>
            <a:r>
              <a:rPr lang="en-US" sz="2600">
                <a:solidFill>
                  <a:srgbClr val="000000"/>
                </a:solidFill>
                <a:latin typeface="Arimo Bold"/>
              </a:rPr>
              <a:t>Output by detection and </a:t>
            </a:r>
          </a:p>
          <a:p>
            <a:pPr algn="ctr">
              <a:lnSpc>
                <a:spcPts val="3639"/>
              </a:lnSpc>
            </a:pPr>
            <a:r>
              <a:rPr lang="en-US" sz="2600">
                <a:solidFill>
                  <a:srgbClr val="000000"/>
                </a:solidFill>
                <a:latin typeface="Arimo Bold"/>
              </a:rPr>
              <a:t>classification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1899285" y="-69360"/>
            <a:ext cx="6351270" cy="12180570"/>
          </a:xfrm>
          <a:custGeom>
            <a:avLst/>
            <a:gdLst/>
            <a:ahLst/>
            <a:cxnLst/>
            <a:rect l="l" t="t" r="r" b="b"/>
            <a:pathLst>
              <a:path w="6351270" h="12180570">
                <a:moveTo>
                  <a:pt x="0" y="0"/>
                </a:moveTo>
                <a:lnTo>
                  <a:pt x="6351270" y="0"/>
                </a:lnTo>
                <a:lnTo>
                  <a:pt x="6351270" y="12180570"/>
                </a:lnTo>
                <a:lnTo>
                  <a:pt x="0" y="12180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893864" y="2178474"/>
            <a:ext cx="12612865" cy="6856228"/>
          </a:xfrm>
          <a:prstGeom prst="rect">
            <a:avLst/>
          </a:prstGeom>
        </p:spPr>
        <p:txBody>
          <a:bodyPr lIns="0" tIns="0" rIns="0" bIns="0" rtlCol="0" anchor="t">
            <a:spAutoFit/>
          </a:bodyPr>
          <a:lstStyle/>
          <a:p>
            <a:pPr algn="just">
              <a:lnSpc>
                <a:spcPts val="4451"/>
              </a:lnSpc>
            </a:pPr>
            <a:r>
              <a:rPr lang="en-US" sz="2696">
                <a:solidFill>
                  <a:srgbClr val="000000"/>
                </a:solidFill>
                <a:latin typeface="Arimo Bold"/>
              </a:rPr>
              <a:t>Machine learning is a subfield of artificial intelligence, which is broadly defined as the capability of a machine to imitate intelligent human behaviour.</a:t>
            </a:r>
          </a:p>
          <a:p>
            <a:pPr marL="616606" lvl="2" indent="-205535" algn="just">
              <a:lnSpc>
                <a:spcPts val="4451"/>
              </a:lnSpc>
              <a:buFont typeface="Arial"/>
              <a:buChar char="⚬"/>
            </a:pPr>
            <a:r>
              <a:rPr lang="en-US" sz="2696">
                <a:solidFill>
                  <a:srgbClr val="000000"/>
                </a:solidFill>
                <a:latin typeface="Arimo"/>
              </a:rPr>
              <a:t>Improves accuracy.</a:t>
            </a:r>
          </a:p>
          <a:p>
            <a:pPr marL="616606" lvl="2" indent="-205535" algn="just">
              <a:lnSpc>
                <a:spcPts val="4451"/>
              </a:lnSpc>
              <a:buFont typeface="Arial"/>
              <a:buChar char="⚬"/>
            </a:pPr>
            <a:r>
              <a:rPr lang="en-US" sz="2696">
                <a:solidFill>
                  <a:srgbClr val="000000"/>
                </a:solidFill>
                <a:latin typeface="Arimo"/>
              </a:rPr>
              <a:t>Computational Statistics to focus on making predictions.</a:t>
            </a:r>
          </a:p>
          <a:p>
            <a:pPr marL="616606" lvl="2" indent="-205535" algn="just">
              <a:lnSpc>
                <a:spcPts val="4451"/>
              </a:lnSpc>
            </a:pPr>
            <a:r>
              <a:rPr lang="en-US" sz="2696">
                <a:solidFill>
                  <a:srgbClr val="000000"/>
                </a:solidFill>
                <a:latin typeface="Arimo"/>
              </a:rPr>
              <a:t>Mathematical Optimization which relates to:-</a:t>
            </a:r>
          </a:p>
          <a:p>
            <a:pPr marL="616606" lvl="2" indent="-205535" algn="just">
              <a:lnSpc>
                <a:spcPts val="4451"/>
              </a:lnSpc>
              <a:buFont typeface="Arial"/>
              <a:buChar char="⚬"/>
            </a:pPr>
            <a:r>
              <a:rPr lang="en-US" sz="2696">
                <a:solidFill>
                  <a:srgbClr val="000000"/>
                </a:solidFill>
                <a:latin typeface="Arimo"/>
              </a:rPr>
              <a:t>Models, applications</a:t>
            </a:r>
          </a:p>
          <a:p>
            <a:pPr marL="616606" lvl="2" indent="-205535" algn="just">
              <a:lnSpc>
                <a:spcPts val="4451"/>
              </a:lnSpc>
              <a:buFont typeface="Arial"/>
              <a:buChar char="⚬"/>
            </a:pPr>
            <a:r>
              <a:rPr lang="en-US" sz="2696">
                <a:solidFill>
                  <a:srgbClr val="000000"/>
                </a:solidFill>
                <a:latin typeface="Arimo"/>
              </a:rPr>
              <a:t>Frameworks to the field of statistics.</a:t>
            </a:r>
          </a:p>
          <a:p>
            <a:pPr marL="616606" lvl="2" indent="-205535" algn="just">
              <a:lnSpc>
                <a:spcPts val="4451"/>
              </a:lnSpc>
            </a:pPr>
            <a:r>
              <a:rPr lang="en-US" sz="2696">
                <a:solidFill>
                  <a:srgbClr val="000000"/>
                </a:solidFill>
                <a:latin typeface="Arimo"/>
              </a:rPr>
              <a:t>Real-world problems make suitable applications.</a:t>
            </a:r>
          </a:p>
          <a:p>
            <a:pPr marL="616606" lvl="2" indent="-205535" algn="just">
              <a:lnSpc>
                <a:spcPts val="4451"/>
              </a:lnSpc>
              <a:buFont typeface="Arial"/>
              <a:buChar char="⚬"/>
            </a:pPr>
            <a:r>
              <a:rPr lang="en-US" sz="2696">
                <a:solidFill>
                  <a:srgbClr val="000000"/>
                </a:solidFill>
                <a:latin typeface="Arimo"/>
              </a:rPr>
              <a:t>Speech Recognition</a:t>
            </a:r>
          </a:p>
          <a:p>
            <a:pPr marL="616606" lvl="2" indent="-205535" algn="just">
              <a:lnSpc>
                <a:spcPts val="4451"/>
              </a:lnSpc>
              <a:buFont typeface="Arial"/>
              <a:buChar char="⚬"/>
            </a:pPr>
            <a:r>
              <a:rPr lang="en-US" sz="2696">
                <a:solidFill>
                  <a:srgbClr val="000000"/>
                </a:solidFill>
                <a:latin typeface="Arimo"/>
              </a:rPr>
              <a:t>Robotics and Artificial Intelligence</a:t>
            </a:r>
          </a:p>
          <a:p>
            <a:pPr marL="616606" lvl="2" indent="-205535" algn="just">
              <a:lnSpc>
                <a:spcPts val="4451"/>
              </a:lnSpc>
              <a:buFont typeface="Arial"/>
              <a:buChar char="⚬"/>
            </a:pPr>
            <a:r>
              <a:rPr lang="en-US" sz="2696">
                <a:solidFill>
                  <a:srgbClr val="000000"/>
                </a:solidFill>
                <a:latin typeface="Arimo"/>
              </a:rPr>
              <a:t>Web and Social Media</a:t>
            </a:r>
          </a:p>
          <a:p>
            <a:pPr marL="616606" lvl="2" indent="-205535" algn="just">
              <a:lnSpc>
                <a:spcPts val="4451"/>
              </a:lnSpc>
              <a:buFont typeface="Arial"/>
              <a:buChar char="⚬"/>
            </a:pPr>
            <a:r>
              <a:rPr lang="en-US" sz="2696">
                <a:solidFill>
                  <a:srgbClr val="000000"/>
                </a:solidFill>
                <a:latin typeface="Arimo"/>
              </a:rPr>
              <a:t>Healthcare</a:t>
            </a:r>
          </a:p>
        </p:txBody>
      </p:sp>
      <p:sp>
        <p:nvSpPr>
          <p:cNvPr id="4" name="Freeform 4"/>
          <p:cNvSpPr/>
          <p:nvPr/>
        </p:nvSpPr>
        <p:spPr>
          <a:xfrm>
            <a:off x="-1391684" y="5509984"/>
            <a:ext cx="6285548" cy="4777016"/>
          </a:xfrm>
          <a:custGeom>
            <a:avLst/>
            <a:gdLst/>
            <a:ahLst/>
            <a:cxnLst/>
            <a:rect l="l" t="t" r="r" b="b"/>
            <a:pathLst>
              <a:path w="6285548" h="4777016">
                <a:moveTo>
                  <a:pt x="0" y="0"/>
                </a:moveTo>
                <a:lnTo>
                  <a:pt x="6285548" y="0"/>
                </a:lnTo>
                <a:lnTo>
                  <a:pt x="6285548" y="4777016"/>
                </a:lnTo>
                <a:lnTo>
                  <a:pt x="0" y="4777016"/>
                </a:lnTo>
                <a:lnTo>
                  <a:pt x="0" y="0"/>
                </a:lnTo>
                <a:close/>
              </a:path>
            </a:pathLst>
          </a:custGeom>
          <a:blipFill>
            <a:blip r:embed="rId4">
              <a:extLst>
                <a:ext uri="{96DAC541-7B7A-43D3-8B79-37D633B846F1}">
                  <asvg:svgBlip xmlns:asvg="http://schemas.microsoft.com/office/drawing/2016/SVG/main" r:embed="rId5"/>
                </a:ext>
              </a:extLst>
            </a:blip>
            <a:stretch>
              <a:fillRect b="-478"/>
            </a:stretch>
          </a:blipFill>
        </p:spPr>
      </p:sp>
      <p:sp>
        <p:nvSpPr>
          <p:cNvPr id="5" name="TextBox 5"/>
          <p:cNvSpPr txBox="1"/>
          <p:nvPr/>
        </p:nvSpPr>
        <p:spPr>
          <a:xfrm>
            <a:off x="5879835" y="339079"/>
            <a:ext cx="11379465" cy="1350645"/>
          </a:xfrm>
          <a:prstGeom prst="rect">
            <a:avLst/>
          </a:prstGeom>
        </p:spPr>
        <p:txBody>
          <a:bodyPr lIns="0" tIns="0" rIns="0" bIns="0" rtlCol="0" anchor="t">
            <a:spAutoFit/>
          </a:bodyPr>
          <a:lstStyle/>
          <a:p>
            <a:pPr algn="r">
              <a:lnSpc>
                <a:spcPts val="9240"/>
              </a:lnSpc>
            </a:pPr>
            <a:r>
              <a:rPr lang="en-US" sz="6000">
                <a:solidFill>
                  <a:srgbClr val="DC1C4B"/>
                </a:solidFill>
                <a:latin typeface="Arimo Bold"/>
              </a:rPr>
              <a:t>MACHINE LEARNING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407018" y="9334500"/>
            <a:ext cx="19102035" cy="1360363"/>
          </a:xfrm>
          <a:custGeom>
            <a:avLst/>
            <a:gdLst/>
            <a:ahLst/>
            <a:cxnLst/>
            <a:rect l="l" t="t" r="r" b="b"/>
            <a:pathLst>
              <a:path w="19102035" h="1360363">
                <a:moveTo>
                  <a:pt x="0" y="0"/>
                </a:moveTo>
                <a:lnTo>
                  <a:pt x="19102035" y="0"/>
                </a:lnTo>
                <a:lnTo>
                  <a:pt x="19102035" y="1360363"/>
                </a:lnTo>
                <a:lnTo>
                  <a:pt x="0" y="13603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658000" y="1796950"/>
            <a:ext cx="13293940" cy="6996948"/>
          </a:xfrm>
          <a:prstGeom prst="rect">
            <a:avLst/>
          </a:prstGeom>
        </p:spPr>
        <p:txBody>
          <a:bodyPr lIns="0" tIns="0" rIns="0" bIns="0" rtlCol="0" anchor="t">
            <a:spAutoFit/>
          </a:bodyPr>
          <a:lstStyle/>
          <a:p>
            <a:pPr algn="l">
              <a:lnSpc>
                <a:spcPts val="4556"/>
              </a:lnSpc>
            </a:pPr>
            <a:r>
              <a:rPr lang="en-US" sz="2958">
                <a:solidFill>
                  <a:srgbClr val="000000"/>
                </a:solidFill>
                <a:latin typeface="Arimo Bold"/>
              </a:rPr>
              <a:t>Deep Learning</a:t>
            </a:r>
          </a:p>
          <a:p>
            <a:pPr marL="676263" lvl="2" indent="-225421" algn="l">
              <a:lnSpc>
                <a:spcPts val="4556"/>
              </a:lnSpc>
              <a:buFont typeface="Arial"/>
              <a:buChar char="⚬"/>
            </a:pPr>
            <a:r>
              <a:rPr lang="en-US" sz="2958">
                <a:solidFill>
                  <a:srgbClr val="000000"/>
                </a:solidFill>
                <a:latin typeface="Arimo"/>
              </a:rPr>
              <a:t> A subfield of machine learning that focuses on training and building artificial neural networks with multiple layers to learn and represent complex patterns and relationships in data, enabling them to make accurate predictions or classifications.</a:t>
            </a:r>
          </a:p>
          <a:p>
            <a:pPr marL="676263" lvl="2" indent="-225421" algn="l">
              <a:lnSpc>
                <a:spcPts val="4556"/>
              </a:lnSpc>
            </a:pPr>
            <a:r>
              <a:rPr lang="en-US" sz="2958">
                <a:solidFill>
                  <a:srgbClr val="000000"/>
                </a:solidFill>
                <a:latin typeface="Arimo"/>
              </a:rPr>
              <a:t>      The different approaches to ML</a:t>
            </a:r>
          </a:p>
          <a:p>
            <a:pPr marL="721981" lvl="2" indent="-240660" algn="l">
              <a:lnSpc>
                <a:spcPts val="4864"/>
              </a:lnSpc>
              <a:buFont typeface="Arial"/>
              <a:buChar char="⚬"/>
            </a:pPr>
            <a:r>
              <a:rPr lang="en-US" sz="3158" u="sng">
                <a:solidFill>
                  <a:srgbClr val="000000"/>
                </a:solidFill>
                <a:latin typeface="Arimo"/>
              </a:rPr>
              <a:t>Neural Networks (NN)</a:t>
            </a:r>
          </a:p>
          <a:p>
            <a:pPr marL="676263" lvl="2" indent="-225421" algn="l">
              <a:lnSpc>
                <a:spcPts val="4556"/>
              </a:lnSpc>
              <a:buFont typeface="Arial"/>
              <a:buChar char="⚬"/>
            </a:pPr>
            <a:r>
              <a:rPr lang="en-US" sz="2958">
                <a:solidFill>
                  <a:srgbClr val="000000"/>
                </a:solidFill>
                <a:latin typeface="Arimo"/>
              </a:rPr>
              <a:t>Computational models inspired by the structure and function of biological brains. </a:t>
            </a:r>
          </a:p>
          <a:p>
            <a:pPr marL="676263" lvl="2" indent="-225421" algn="l">
              <a:lnSpc>
                <a:spcPts val="4556"/>
              </a:lnSpc>
              <a:buFont typeface="Arial"/>
              <a:buChar char="⚬"/>
            </a:pPr>
            <a:r>
              <a:rPr lang="en-US" sz="2958">
                <a:solidFill>
                  <a:srgbClr val="000000"/>
                </a:solidFill>
                <a:latin typeface="Arimo"/>
              </a:rPr>
              <a:t>They consist of interconnected nodes, called neurons, organized into layers</a:t>
            </a:r>
          </a:p>
          <a:p>
            <a:pPr marL="676263" lvl="2" indent="-225421" algn="l">
              <a:lnSpc>
                <a:spcPts val="4556"/>
              </a:lnSpc>
              <a:buFont typeface="Arial"/>
              <a:buChar char="⚬"/>
            </a:pPr>
            <a:r>
              <a:rPr lang="en-US" sz="2958">
                <a:solidFill>
                  <a:srgbClr val="000000"/>
                </a:solidFill>
                <a:latin typeface="Arimo"/>
              </a:rPr>
              <a:t>Each neuron receives input signals, performs computations, and     generates an output signal</a:t>
            </a:r>
          </a:p>
        </p:txBody>
      </p:sp>
      <p:sp>
        <p:nvSpPr>
          <p:cNvPr id="4" name="Freeform 4"/>
          <p:cNvSpPr/>
          <p:nvPr/>
        </p:nvSpPr>
        <p:spPr>
          <a:xfrm>
            <a:off x="13543858" y="3478060"/>
            <a:ext cx="4744142" cy="3350551"/>
          </a:xfrm>
          <a:custGeom>
            <a:avLst/>
            <a:gdLst/>
            <a:ahLst/>
            <a:cxnLst/>
            <a:rect l="l" t="t" r="r" b="b"/>
            <a:pathLst>
              <a:path w="4744142" h="3350551">
                <a:moveTo>
                  <a:pt x="0" y="0"/>
                </a:moveTo>
                <a:lnTo>
                  <a:pt x="4744142" y="0"/>
                </a:lnTo>
                <a:lnTo>
                  <a:pt x="4744142" y="3350551"/>
                </a:lnTo>
                <a:lnTo>
                  <a:pt x="0" y="3350551"/>
                </a:lnTo>
                <a:lnTo>
                  <a:pt x="0" y="0"/>
                </a:lnTo>
                <a:close/>
              </a:path>
            </a:pathLst>
          </a:custGeom>
          <a:blipFill>
            <a:blip r:embed="rId4">
              <a:extLst>
                <a:ext uri="{96DAC541-7B7A-43D3-8B79-37D633B846F1}">
                  <asvg:svgBlip xmlns:asvg="http://schemas.microsoft.com/office/drawing/2016/SVG/main" r:embed="rId5"/>
                </a:ext>
              </a:extLst>
            </a:blip>
            <a:stretch>
              <a:fillRect r="-118"/>
            </a:stretch>
          </a:blipFill>
        </p:spPr>
      </p:sp>
      <p:sp>
        <p:nvSpPr>
          <p:cNvPr id="5" name="TextBox 5"/>
          <p:cNvSpPr txBox="1"/>
          <p:nvPr/>
        </p:nvSpPr>
        <p:spPr>
          <a:xfrm>
            <a:off x="658000" y="134302"/>
            <a:ext cx="15350890" cy="1350645"/>
          </a:xfrm>
          <a:prstGeom prst="rect">
            <a:avLst/>
          </a:prstGeom>
        </p:spPr>
        <p:txBody>
          <a:bodyPr lIns="0" tIns="0" rIns="0" bIns="0" rtlCol="0" anchor="t">
            <a:spAutoFit/>
          </a:bodyPr>
          <a:lstStyle/>
          <a:p>
            <a:pPr algn="l">
              <a:lnSpc>
                <a:spcPts val="9240"/>
              </a:lnSpc>
            </a:pPr>
            <a:r>
              <a:rPr lang="en-US" sz="6000">
                <a:solidFill>
                  <a:srgbClr val="DC1C4B"/>
                </a:solidFill>
                <a:latin typeface="Arimo Bold"/>
              </a:rPr>
              <a:t>DEEP LEARNING- A SUBFIELD OF ML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407018" y="9334500"/>
            <a:ext cx="19102035" cy="1360363"/>
          </a:xfrm>
          <a:custGeom>
            <a:avLst/>
            <a:gdLst/>
            <a:ahLst/>
            <a:cxnLst/>
            <a:rect l="l" t="t" r="r" b="b"/>
            <a:pathLst>
              <a:path w="19102035" h="1360363">
                <a:moveTo>
                  <a:pt x="0" y="0"/>
                </a:moveTo>
                <a:lnTo>
                  <a:pt x="19102035" y="0"/>
                </a:lnTo>
                <a:lnTo>
                  <a:pt x="19102035" y="1360363"/>
                </a:lnTo>
                <a:lnTo>
                  <a:pt x="0" y="13603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658000" y="387726"/>
            <a:ext cx="15726138" cy="9282948"/>
          </a:xfrm>
          <a:prstGeom prst="rect">
            <a:avLst/>
          </a:prstGeom>
        </p:spPr>
        <p:txBody>
          <a:bodyPr lIns="0" tIns="0" rIns="0" bIns="0" rtlCol="0" anchor="t">
            <a:spAutoFit/>
          </a:bodyPr>
          <a:lstStyle/>
          <a:p>
            <a:pPr algn="l">
              <a:lnSpc>
                <a:spcPts val="4556"/>
              </a:lnSpc>
            </a:pPr>
            <a:endParaRPr/>
          </a:p>
          <a:p>
            <a:pPr algn="l">
              <a:lnSpc>
                <a:spcPts val="4864"/>
              </a:lnSpc>
            </a:pPr>
            <a:r>
              <a:rPr lang="en-US" sz="3158">
                <a:solidFill>
                  <a:srgbClr val="000000"/>
                </a:solidFill>
                <a:latin typeface="Arimo"/>
              </a:rPr>
              <a:t>   2. </a:t>
            </a:r>
            <a:r>
              <a:rPr lang="en-US" sz="3158" u="sng">
                <a:solidFill>
                  <a:srgbClr val="000000"/>
                </a:solidFill>
                <a:latin typeface="Arimo"/>
              </a:rPr>
              <a:t>Deep Neural Network (DNN)</a:t>
            </a:r>
          </a:p>
          <a:p>
            <a:pPr marL="676263" lvl="2" indent="-225421" algn="l">
              <a:lnSpc>
                <a:spcPts val="4556"/>
              </a:lnSpc>
              <a:buFont typeface="Arial"/>
              <a:buChar char="⚬"/>
            </a:pPr>
            <a:r>
              <a:rPr lang="en-US" sz="2958">
                <a:solidFill>
                  <a:srgbClr val="000000"/>
                </a:solidFill>
                <a:latin typeface="Arimo"/>
              </a:rPr>
              <a:t>Neural networks with multiple hidden layers.</a:t>
            </a:r>
          </a:p>
          <a:p>
            <a:pPr marL="676263" lvl="2" indent="-225421" algn="l">
              <a:lnSpc>
                <a:spcPts val="4556"/>
              </a:lnSpc>
              <a:buFont typeface="Arial"/>
              <a:buChar char="⚬"/>
            </a:pPr>
            <a:r>
              <a:rPr lang="en-US" sz="2958">
                <a:solidFill>
                  <a:srgbClr val="000000"/>
                </a:solidFill>
                <a:latin typeface="Arimo"/>
              </a:rPr>
              <a:t>The depth of these networks allows them to capture intricate and abstract features in the data, leading to improved performance on complex tasks.</a:t>
            </a:r>
          </a:p>
          <a:p>
            <a:pPr marL="676263" lvl="2" indent="-225421" algn="l">
              <a:lnSpc>
                <a:spcPts val="4556"/>
              </a:lnSpc>
            </a:pPr>
            <a:r>
              <a:rPr lang="en-US" sz="2958">
                <a:solidFill>
                  <a:srgbClr val="000000"/>
                </a:solidFill>
                <a:latin typeface="Arimo"/>
              </a:rPr>
              <a:t>      Types</a:t>
            </a:r>
          </a:p>
          <a:p>
            <a:pPr marL="676263" lvl="2" indent="-225421" algn="l">
              <a:lnSpc>
                <a:spcPts val="4556"/>
              </a:lnSpc>
            </a:pPr>
            <a:r>
              <a:rPr lang="en-US" sz="2958">
                <a:solidFill>
                  <a:srgbClr val="000000"/>
                </a:solidFill>
                <a:latin typeface="Arimo"/>
              </a:rPr>
              <a:t>       i) Convolutional Neural Networks (CNN)</a:t>
            </a:r>
          </a:p>
          <a:p>
            <a:pPr marL="676263" lvl="2" indent="-225421" algn="l">
              <a:lnSpc>
                <a:spcPts val="4556"/>
              </a:lnSpc>
            </a:pPr>
            <a:r>
              <a:rPr lang="en-US" sz="2958">
                <a:solidFill>
                  <a:srgbClr val="000000"/>
                </a:solidFill>
                <a:latin typeface="Arimo"/>
              </a:rPr>
              <a:t>          Specialized deep learning models</a:t>
            </a:r>
          </a:p>
          <a:p>
            <a:pPr marL="676263" lvl="2" indent="-225421" algn="l">
              <a:lnSpc>
                <a:spcPts val="4556"/>
              </a:lnSpc>
            </a:pPr>
            <a:r>
              <a:rPr lang="en-US" sz="2958">
                <a:solidFill>
                  <a:srgbClr val="000000"/>
                </a:solidFill>
                <a:latin typeface="Arimo"/>
              </a:rPr>
              <a:t>          commonly used for image and signal </a:t>
            </a:r>
          </a:p>
          <a:p>
            <a:pPr marL="676263" lvl="2" indent="-225421" algn="l">
              <a:lnSpc>
                <a:spcPts val="4556"/>
              </a:lnSpc>
            </a:pPr>
            <a:r>
              <a:rPr lang="en-US" sz="2958">
                <a:solidFill>
                  <a:srgbClr val="000000"/>
                </a:solidFill>
                <a:latin typeface="Arimo"/>
              </a:rPr>
              <a:t>          processing tasks.</a:t>
            </a:r>
          </a:p>
          <a:p>
            <a:pPr marL="676263" lvl="2" indent="-225421" algn="l">
              <a:lnSpc>
                <a:spcPts val="4556"/>
              </a:lnSpc>
            </a:pPr>
            <a:endParaRPr lang="en-US" sz="2958">
              <a:solidFill>
                <a:srgbClr val="000000"/>
              </a:solidFill>
              <a:latin typeface="Arimo"/>
            </a:endParaRPr>
          </a:p>
          <a:p>
            <a:pPr marL="676263" lvl="2" indent="-225421" algn="l">
              <a:lnSpc>
                <a:spcPts val="4556"/>
              </a:lnSpc>
            </a:pPr>
            <a:r>
              <a:rPr lang="en-US" sz="2958">
                <a:solidFill>
                  <a:srgbClr val="000000"/>
                </a:solidFill>
                <a:latin typeface="Arimo"/>
              </a:rPr>
              <a:t>       ii) Recurrent Neural Networks (RNN)</a:t>
            </a:r>
          </a:p>
          <a:p>
            <a:pPr marL="676263" lvl="2" indent="-225421" algn="l">
              <a:lnSpc>
                <a:spcPts val="4556"/>
              </a:lnSpc>
            </a:pPr>
            <a:r>
              <a:rPr lang="en-US" sz="2958">
                <a:solidFill>
                  <a:srgbClr val="000000"/>
                </a:solidFill>
                <a:latin typeface="Arimo"/>
              </a:rPr>
              <a:t>           Deep learning models suitable for sequence data, such as time-series or</a:t>
            </a:r>
          </a:p>
          <a:p>
            <a:pPr marL="676263" lvl="2" indent="-225421" algn="l">
              <a:lnSpc>
                <a:spcPts val="4556"/>
              </a:lnSpc>
            </a:pPr>
            <a:r>
              <a:rPr lang="en-US" sz="2958">
                <a:solidFill>
                  <a:srgbClr val="000000"/>
                </a:solidFill>
                <a:latin typeface="Arimo"/>
              </a:rPr>
              <a:t>           natural language data.  </a:t>
            </a:r>
          </a:p>
          <a:p>
            <a:pPr marL="676263" lvl="2" indent="-225421" algn="l">
              <a:lnSpc>
                <a:spcPts val="4556"/>
              </a:lnSpc>
            </a:pPr>
            <a:endParaRPr lang="en-US" sz="2958">
              <a:solidFill>
                <a:srgbClr val="000000"/>
              </a:solidFill>
              <a:latin typeface="Arimo"/>
            </a:endParaRPr>
          </a:p>
          <a:p>
            <a:pPr marL="676263" lvl="2" indent="-225421" algn="l">
              <a:lnSpc>
                <a:spcPts val="4556"/>
              </a:lnSpc>
            </a:pPr>
            <a:endParaRPr lang="en-US" sz="2958">
              <a:solidFill>
                <a:srgbClr val="000000"/>
              </a:solidFill>
              <a:latin typeface="Arimo"/>
            </a:endParaRPr>
          </a:p>
        </p:txBody>
      </p:sp>
      <p:sp>
        <p:nvSpPr>
          <p:cNvPr id="4" name="Freeform 4"/>
          <p:cNvSpPr/>
          <p:nvPr/>
        </p:nvSpPr>
        <p:spPr>
          <a:xfrm>
            <a:off x="8611722" y="3428117"/>
            <a:ext cx="8647578" cy="4059558"/>
          </a:xfrm>
          <a:custGeom>
            <a:avLst/>
            <a:gdLst/>
            <a:ahLst/>
            <a:cxnLst/>
            <a:rect l="l" t="t" r="r" b="b"/>
            <a:pathLst>
              <a:path w="8647578" h="4059558">
                <a:moveTo>
                  <a:pt x="0" y="0"/>
                </a:moveTo>
                <a:lnTo>
                  <a:pt x="8647578" y="0"/>
                </a:lnTo>
                <a:lnTo>
                  <a:pt x="8647578" y="4059558"/>
                </a:lnTo>
                <a:lnTo>
                  <a:pt x="0" y="4059558"/>
                </a:lnTo>
                <a:lnTo>
                  <a:pt x="0" y="0"/>
                </a:lnTo>
                <a:close/>
              </a:path>
            </a:pathLst>
          </a:custGeom>
          <a:blipFill>
            <a:blip r:embed="rId4"/>
            <a:stretch>
              <a:fillRect/>
            </a:stretch>
          </a:blipFill>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15592956" y="3442071"/>
            <a:ext cx="3623227" cy="8466348"/>
          </a:xfrm>
          <a:custGeom>
            <a:avLst/>
            <a:gdLst/>
            <a:ahLst/>
            <a:cxnLst/>
            <a:rect l="l" t="t" r="r" b="b"/>
            <a:pathLst>
              <a:path w="3623227" h="8466348">
                <a:moveTo>
                  <a:pt x="0" y="0"/>
                </a:moveTo>
                <a:lnTo>
                  <a:pt x="3623227" y="0"/>
                </a:lnTo>
                <a:lnTo>
                  <a:pt x="3623227" y="8466348"/>
                </a:lnTo>
                <a:lnTo>
                  <a:pt x="0" y="84663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629620" y="-1280291"/>
            <a:ext cx="8754474" cy="12979873"/>
          </a:xfrm>
          <a:custGeom>
            <a:avLst/>
            <a:gdLst/>
            <a:ahLst/>
            <a:cxnLst/>
            <a:rect l="l" t="t" r="r" b="b"/>
            <a:pathLst>
              <a:path w="8754474" h="12979873">
                <a:moveTo>
                  <a:pt x="0" y="0"/>
                </a:moveTo>
                <a:lnTo>
                  <a:pt x="8754474" y="0"/>
                </a:lnTo>
                <a:lnTo>
                  <a:pt x="8754474" y="12979873"/>
                </a:lnTo>
                <a:lnTo>
                  <a:pt x="0" y="129798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7287876" y="-4334243"/>
            <a:ext cx="3676018" cy="8462747"/>
          </a:xfrm>
          <a:custGeom>
            <a:avLst/>
            <a:gdLst/>
            <a:ahLst/>
            <a:cxnLst/>
            <a:rect l="l" t="t" r="r" b="b"/>
            <a:pathLst>
              <a:path w="3676018" h="8462747">
                <a:moveTo>
                  <a:pt x="0" y="0"/>
                </a:moveTo>
                <a:lnTo>
                  <a:pt x="3676019" y="0"/>
                </a:lnTo>
                <a:lnTo>
                  <a:pt x="3676019" y="8462747"/>
                </a:lnTo>
                <a:lnTo>
                  <a:pt x="0" y="846274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784690" y="5441333"/>
            <a:ext cx="9220864" cy="819342"/>
          </a:xfrm>
          <a:prstGeom prst="rect">
            <a:avLst/>
          </a:prstGeom>
        </p:spPr>
        <p:txBody>
          <a:bodyPr lIns="0" tIns="0" rIns="0" bIns="0" rtlCol="0" anchor="t">
            <a:spAutoFit/>
          </a:bodyPr>
          <a:lstStyle/>
          <a:p>
            <a:pPr algn="l">
              <a:lnSpc>
                <a:spcPts val="5427"/>
              </a:lnSpc>
            </a:pPr>
            <a:r>
              <a:rPr lang="en-US" sz="3523">
                <a:solidFill>
                  <a:srgbClr val="DC1C4B"/>
                </a:solidFill>
                <a:latin typeface="Arimo Bold"/>
              </a:rPr>
              <a:t>Architectuof Convolutional Neural Network</a:t>
            </a:r>
          </a:p>
        </p:txBody>
      </p:sp>
      <p:sp>
        <p:nvSpPr>
          <p:cNvPr id="6" name="TextBox 6"/>
          <p:cNvSpPr txBox="1"/>
          <p:nvPr/>
        </p:nvSpPr>
        <p:spPr>
          <a:xfrm>
            <a:off x="1784690" y="742950"/>
            <a:ext cx="8515601" cy="814476"/>
          </a:xfrm>
          <a:prstGeom prst="rect">
            <a:avLst/>
          </a:prstGeom>
        </p:spPr>
        <p:txBody>
          <a:bodyPr lIns="0" tIns="0" rIns="0" bIns="0" rtlCol="0" anchor="t">
            <a:spAutoFit/>
          </a:bodyPr>
          <a:lstStyle/>
          <a:p>
            <a:pPr algn="l">
              <a:lnSpc>
                <a:spcPts val="5409"/>
              </a:lnSpc>
            </a:pPr>
            <a:r>
              <a:rPr lang="en-US" sz="3513">
                <a:solidFill>
                  <a:srgbClr val="DC1C4B"/>
                </a:solidFill>
                <a:latin typeface="Arimo Bold"/>
              </a:rPr>
              <a:t>Convolutional Neural Network (CNN) </a:t>
            </a:r>
          </a:p>
        </p:txBody>
      </p:sp>
      <p:sp>
        <p:nvSpPr>
          <p:cNvPr id="7" name="TextBox 7"/>
          <p:cNvSpPr txBox="1"/>
          <p:nvPr/>
        </p:nvSpPr>
        <p:spPr>
          <a:xfrm>
            <a:off x="1798977" y="1574960"/>
            <a:ext cx="14718620" cy="3587348"/>
          </a:xfrm>
          <a:prstGeom prst="rect">
            <a:avLst/>
          </a:prstGeom>
        </p:spPr>
        <p:txBody>
          <a:bodyPr lIns="0" tIns="0" rIns="0" bIns="0" rtlCol="0" anchor="t">
            <a:spAutoFit/>
          </a:bodyPr>
          <a:lstStyle/>
          <a:p>
            <a:pPr marL="603974" lvl="2" indent="-201325" algn="l">
              <a:lnSpc>
                <a:spcPts val="4623"/>
              </a:lnSpc>
              <a:buFont typeface="Arial"/>
              <a:buChar char="⚬"/>
            </a:pPr>
            <a:r>
              <a:rPr lang="en-US" sz="2642">
                <a:solidFill>
                  <a:srgbClr val="000000"/>
                </a:solidFill>
                <a:latin typeface="Tex Gyre Termes"/>
              </a:rPr>
              <a:t>Convolutional Neural Networks (CNNs) are a type of deep learning architecture specifically designed for processing grid-like data, such as images or signals.</a:t>
            </a:r>
          </a:p>
          <a:p>
            <a:pPr marL="603974" lvl="2" indent="-201325" algn="l">
              <a:lnSpc>
                <a:spcPts val="4623"/>
              </a:lnSpc>
              <a:buFont typeface="Arial"/>
              <a:buChar char="⚬"/>
            </a:pPr>
            <a:r>
              <a:rPr lang="en-US" sz="2642">
                <a:solidFill>
                  <a:srgbClr val="000000"/>
                </a:solidFill>
                <a:latin typeface="Tex Gyre Termes"/>
              </a:rPr>
              <a:t> CNNs have been widely used in computer vision tasks, including image classification, object detection, and image segmentation. </a:t>
            </a:r>
          </a:p>
          <a:p>
            <a:pPr marL="603974" lvl="2" indent="-201325" algn="l">
              <a:lnSpc>
                <a:spcPts val="4623"/>
              </a:lnSpc>
              <a:buFont typeface="Arial"/>
              <a:buChar char="⚬"/>
            </a:pPr>
            <a:r>
              <a:rPr lang="en-US" sz="2642">
                <a:solidFill>
                  <a:srgbClr val="000000"/>
                </a:solidFill>
                <a:latin typeface="Tex Gyre Termes"/>
              </a:rPr>
              <a:t>They have also proven to be highly effective in various applications involving sequential data, such as natural language processing and time-series analysis, including electrocardiogram (ECG) analysis.</a:t>
            </a:r>
          </a:p>
        </p:txBody>
      </p:sp>
      <p:sp>
        <p:nvSpPr>
          <p:cNvPr id="8" name="Freeform 8"/>
          <p:cNvSpPr/>
          <p:nvPr/>
        </p:nvSpPr>
        <p:spPr>
          <a:xfrm>
            <a:off x="3218525" y="6405834"/>
            <a:ext cx="10184607" cy="3747741"/>
          </a:xfrm>
          <a:custGeom>
            <a:avLst/>
            <a:gdLst/>
            <a:ahLst/>
            <a:cxnLst/>
            <a:rect l="l" t="t" r="r" b="b"/>
            <a:pathLst>
              <a:path w="10184607" h="3747741">
                <a:moveTo>
                  <a:pt x="0" y="0"/>
                </a:moveTo>
                <a:lnTo>
                  <a:pt x="10184607" y="0"/>
                </a:lnTo>
                <a:lnTo>
                  <a:pt x="10184607" y="3747741"/>
                </a:lnTo>
                <a:lnTo>
                  <a:pt x="0" y="3747741"/>
                </a:lnTo>
                <a:lnTo>
                  <a:pt x="0" y="0"/>
                </a:lnTo>
                <a:close/>
              </a:path>
            </a:pathLst>
          </a:custGeom>
          <a:blipFill>
            <a:blip r:embed="rId8"/>
            <a:stretch>
              <a:fillRect/>
            </a:stretch>
          </a:blipFill>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768300" y="-102870"/>
            <a:ext cx="1797000" cy="10625031"/>
          </a:xfrm>
          <a:custGeom>
            <a:avLst/>
            <a:gdLst/>
            <a:ahLst/>
            <a:cxnLst/>
            <a:rect l="l" t="t" r="r" b="b"/>
            <a:pathLst>
              <a:path w="1797000" h="10625031">
                <a:moveTo>
                  <a:pt x="0" y="0"/>
                </a:moveTo>
                <a:lnTo>
                  <a:pt x="1797000" y="0"/>
                </a:lnTo>
                <a:lnTo>
                  <a:pt x="1797000" y="10625031"/>
                </a:lnTo>
                <a:lnTo>
                  <a:pt x="0" y="106250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592956" y="3442071"/>
            <a:ext cx="3623227" cy="8466348"/>
          </a:xfrm>
          <a:custGeom>
            <a:avLst/>
            <a:gdLst/>
            <a:ahLst/>
            <a:cxnLst/>
            <a:rect l="l" t="t" r="r" b="b"/>
            <a:pathLst>
              <a:path w="3623227" h="8466348">
                <a:moveTo>
                  <a:pt x="0" y="0"/>
                </a:moveTo>
                <a:lnTo>
                  <a:pt x="3623227" y="0"/>
                </a:lnTo>
                <a:lnTo>
                  <a:pt x="3623227" y="8466348"/>
                </a:lnTo>
                <a:lnTo>
                  <a:pt x="0" y="84663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6629620" y="-1280291"/>
            <a:ext cx="8754474" cy="12979873"/>
          </a:xfrm>
          <a:custGeom>
            <a:avLst/>
            <a:gdLst/>
            <a:ahLst/>
            <a:cxnLst/>
            <a:rect l="l" t="t" r="r" b="b"/>
            <a:pathLst>
              <a:path w="8754474" h="12979873">
                <a:moveTo>
                  <a:pt x="0" y="0"/>
                </a:moveTo>
                <a:lnTo>
                  <a:pt x="8754474" y="0"/>
                </a:lnTo>
                <a:lnTo>
                  <a:pt x="8754474" y="12979873"/>
                </a:lnTo>
                <a:lnTo>
                  <a:pt x="0" y="129798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7287876" y="-4334243"/>
            <a:ext cx="3676018" cy="8462747"/>
          </a:xfrm>
          <a:custGeom>
            <a:avLst/>
            <a:gdLst/>
            <a:ahLst/>
            <a:cxnLst/>
            <a:rect l="l" t="t" r="r" b="b"/>
            <a:pathLst>
              <a:path w="3676018" h="8462747">
                <a:moveTo>
                  <a:pt x="0" y="0"/>
                </a:moveTo>
                <a:lnTo>
                  <a:pt x="3676019" y="0"/>
                </a:lnTo>
                <a:lnTo>
                  <a:pt x="3676019" y="8462747"/>
                </a:lnTo>
                <a:lnTo>
                  <a:pt x="0" y="84627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1357537" y="2918427"/>
            <a:ext cx="9220864" cy="780587"/>
          </a:xfrm>
          <a:prstGeom prst="rect">
            <a:avLst/>
          </a:prstGeom>
        </p:spPr>
        <p:txBody>
          <a:bodyPr lIns="0" tIns="0" rIns="0" bIns="0" rtlCol="0" anchor="t">
            <a:spAutoFit/>
          </a:bodyPr>
          <a:lstStyle/>
          <a:p>
            <a:pPr algn="l">
              <a:lnSpc>
                <a:spcPts val="5274"/>
              </a:lnSpc>
            </a:pPr>
            <a:r>
              <a:rPr lang="en-US" sz="3424">
                <a:solidFill>
                  <a:srgbClr val="DC1C4B"/>
                </a:solidFill>
                <a:latin typeface="Arimo Bold"/>
              </a:rPr>
              <a:t>Working of Convolutional Neural Network</a:t>
            </a:r>
          </a:p>
        </p:txBody>
      </p:sp>
      <p:sp>
        <p:nvSpPr>
          <p:cNvPr id="7" name="TextBox 7"/>
          <p:cNvSpPr txBox="1"/>
          <p:nvPr/>
        </p:nvSpPr>
        <p:spPr>
          <a:xfrm>
            <a:off x="-2523655" y="533781"/>
            <a:ext cx="14098033" cy="494919"/>
          </a:xfrm>
          <a:prstGeom prst="rect">
            <a:avLst/>
          </a:prstGeom>
        </p:spPr>
        <p:txBody>
          <a:bodyPr lIns="0" tIns="0" rIns="0" bIns="0" rtlCol="0" anchor="t">
            <a:spAutoFit/>
          </a:bodyPr>
          <a:lstStyle/>
          <a:p>
            <a:pPr algn="ctr">
              <a:lnSpc>
                <a:spcPts val="3694"/>
              </a:lnSpc>
            </a:pPr>
            <a:r>
              <a:rPr lang="en-US" sz="2639">
                <a:solidFill>
                  <a:srgbClr val="000000"/>
                </a:solidFill>
                <a:latin typeface="Tex Gyre Termes"/>
              </a:rPr>
              <a:t>They have three main types of layers, which are:</a:t>
            </a:r>
          </a:p>
        </p:txBody>
      </p:sp>
      <p:sp>
        <p:nvSpPr>
          <p:cNvPr id="8" name="TextBox 8"/>
          <p:cNvSpPr txBox="1"/>
          <p:nvPr/>
        </p:nvSpPr>
        <p:spPr>
          <a:xfrm>
            <a:off x="-1418893" y="1146431"/>
            <a:ext cx="8174017" cy="1634719"/>
          </a:xfrm>
          <a:prstGeom prst="rect">
            <a:avLst/>
          </a:prstGeom>
        </p:spPr>
        <p:txBody>
          <a:bodyPr lIns="0" tIns="0" rIns="0" bIns="0" rtlCol="0" anchor="t">
            <a:spAutoFit/>
          </a:bodyPr>
          <a:lstStyle/>
          <a:p>
            <a:pPr algn="ctr">
              <a:lnSpc>
                <a:spcPts val="4171"/>
              </a:lnSpc>
            </a:pPr>
            <a:r>
              <a:rPr lang="en-US" sz="2640">
                <a:solidFill>
                  <a:srgbClr val="000000"/>
                </a:solidFill>
                <a:latin typeface="Tex Gyre Termes"/>
              </a:rPr>
              <a:t>          1. Convolutional layer</a:t>
            </a:r>
          </a:p>
          <a:p>
            <a:pPr algn="ctr">
              <a:lnSpc>
                <a:spcPts val="4171"/>
              </a:lnSpc>
            </a:pPr>
            <a:r>
              <a:rPr lang="en-US" sz="2640">
                <a:solidFill>
                  <a:srgbClr val="000000"/>
                </a:solidFill>
                <a:latin typeface="Tex Gyre Termes"/>
              </a:rPr>
              <a:t>2. Pooling layer</a:t>
            </a:r>
          </a:p>
          <a:p>
            <a:pPr algn="ctr">
              <a:lnSpc>
                <a:spcPts val="4171"/>
              </a:lnSpc>
            </a:pPr>
            <a:r>
              <a:rPr lang="en-US" sz="2640">
                <a:solidFill>
                  <a:srgbClr val="000000"/>
                </a:solidFill>
                <a:latin typeface="Tex Gyre Termes"/>
              </a:rPr>
              <a:t>                      3. Fully-connected (FC) layer</a:t>
            </a:r>
          </a:p>
        </p:txBody>
      </p:sp>
      <p:sp>
        <p:nvSpPr>
          <p:cNvPr id="9" name="TextBox 9"/>
          <p:cNvSpPr txBox="1"/>
          <p:nvPr/>
        </p:nvSpPr>
        <p:spPr>
          <a:xfrm>
            <a:off x="1357537" y="3908564"/>
            <a:ext cx="16408734" cy="5478615"/>
          </a:xfrm>
          <a:prstGeom prst="rect">
            <a:avLst/>
          </a:prstGeom>
        </p:spPr>
        <p:txBody>
          <a:bodyPr lIns="0" tIns="0" rIns="0" bIns="0" rtlCol="0" anchor="t">
            <a:spAutoFit/>
          </a:bodyPr>
          <a:lstStyle/>
          <a:p>
            <a:pPr algn="just">
              <a:lnSpc>
                <a:spcPts val="3684"/>
              </a:lnSpc>
            </a:pPr>
            <a:r>
              <a:rPr lang="en-US" sz="2631">
                <a:solidFill>
                  <a:srgbClr val="000000"/>
                </a:solidFill>
                <a:latin typeface="Tex Gyre Termes"/>
              </a:rPr>
              <a:t>1.Convolutional Layer:   - The core building block of a CNN is the convolutional layer.</a:t>
            </a:r>
          </a:p>
          <a:p>
            <a:pPr algn="just">
              <a:lnSpc>
                <a:spcPts val="3684"/>
              </a:lnSpc>
            </a:pPr>
            <a:r>
              <a:rPr lang="en-US" sz="2631">
                <a:solidFill>
                  <a:srgbClr val="000000"/>
                </a:solidFill>
                <a:latin typeface="Tex Gyre Termes"/>
              </a:rPr>
              <a:t>                                         - It applies a set of learnable filters to input data, enabling the network to automatically</a:t>
            </a:r>
          </a:p>
          <a:p>
            <a:pPr algn="just">
              <a:lnSpc>
                <a:spcPts val="3684"/>
              </a:lnSpc>
            </a:pPr>
            <a:r>
              <a:rPr lang="en-US" sz="2631">
                <a:solidFill>
                  <a:srgbClr val="000000"/>
                </a:solidFill>
                <a:latin typeface="Tex Gyre Termes"/>
              </a:rPr>
              <a:t>                                           extract relevant features from ECG signals.</a:t>
            </a:r>
          </a:p>
          <a:p>
            <a:pPr algn="just">
              <a:lnSpc>
                <a:spcPts val="3684"/>
              </a:lnSpc>
            </a:pPr>
            <a:r>
              <a:rPr lang="en-US" sz="2631">
                <a:solidFill>
                  <a:srgbClr val="000000"/>
                </a:solidFill>
                <a:latin typeface="Tex Gyre Termes"/>
              </a:rPr>
              <a:t>2.Pooling Layer:              - Pooling layers are typically used after convolutional layers to reduce the spatial</a:t>
            </a:r>
          </a:p>
          <a:p>
            <a:pPr algn="just">
              <a:lnSpc>
                <a:spcPts val="3684"/>
              </a:lnSpc>
            </a:pPr>
            <a:r>
              <a:rPr lang="en-US" sz="2631">
                <a:solidFill>
                  <a:srgbClr val="000000"/>
                </a:solidFill>
                <a:latin typeface="Tex Gyre Termes"/>
              </a:rPr>
              <a:t>                                           dimensionality of the feature maps while retaining the most important information.</a:t>
            </a:r>
          </a:p>
          <a:p>
            <a:pPr algn="just">
              <a:lnSpc>
                <a:spcPts val="3684"/>
              </a:lnSpc>
            </a:pPr>
            <a:r>
              <a:rPr lang="en-US" sz="2631">
                <a:solidFill>
                  <a:srgbClr val="000000"/>
                </a:solidFill>
                <a:latin typeface="Tex Gyre Termes"/>
              </a:rPr>
              <a:t>                                          -Max pooling, for example, selects the maximum value within a small neighborhood,</a:t>
            </a:r>
          </a:p>
          <a:p>
            <a:pPr algn="just">
              <a:lnSpc>
                <a:spcPts val="3684"/>
              </a:lnSpc>
            </a:pPr>
            <a:r>
              <a:rPr lang="en-US" sz="2631">
                <a:solidFill>
                  <a:srgbClr val="000000"/>
                </a:solidFill>
                <a:latin typeface="Tex Gyre Termes"/>
              </a:rPr>
              <a:t>                                          effectively downsampling the feature maps.</a:t>
            </a:r>
          </a:p>
          <a:p>
            <a:pPr algn="just">
              <a:lnSpc>
                <a:spcPts val="3684"/>
              </a:lnSpc>
            </a:pPr>
            <a:r>
              <a:rPr lang="en-US" sz="2631">
                <a:solidFill>
                  <a:srgbClr val="000000"/>
                </a:solidFill>
                <a:latin typeface="Tex Gyre Termes"/>
              </a:rPr>
              <a:t>3.Fully-Connected Layer: -These are typically employed to transform the  high-level features learned from    </a:t>
            </a:r>
          </a:p>
          <a:p>
            <a:pPr algn="just">
              <a:lnSpc>
                <a:spcPts val="3684"/>
              </a:lnSpc>
            </a:pPr>
            <a:r>
              <a:rPr lang="en-US" sz="2631">
                <a:solidFill>
                  <a:srgbClr val="000000"/>
                </a:solidFill>
                <a:latin typeface="Tex Gyre Termes"/>
              </a:rPr>
              <a:t>                                            the earlier layers into class probabilities or regression predictions.</a:t>
            </a:r>
          </a:p>
          <a:p>
            <a:pPr algn="just">
              <a:lnSpc>
                <a:spcPts val="3684"/>
              </a:lnSpc>
            </a:pPr>
            <a:r>
              <a:rPr lang="en-US" sz="2631">
                <a:solidFill>
                  <a:srgbClr val="000000"/>
                </a:solidFill>
                <a:latin typeface="Tex Gyre Termes"/>
              </a:rPr>
              <a:t>                                          -They connect every neuron to every neuron in the previous and subsequent layers.                                                                                  </a:t>
            </a:r>
          </a:p>
          <a:p>
            <a:pPr algn="just">
              <a:lnSpc>
                <a:spcPts val="3684"/>
              </a:lnSpc>
            </a:pPr>
            <a:endParaRPr lang="en-US" sz="2631">
              <a:solidFill>
                <a:srgbClr val="000000"/>
              </a:solidFill>
              <a:latin typeface="Tex Gyre Termes"/>
            </a:endParaRPr>
          </a:p>
          <a:p>
            <a:pPr algn="just">
              <a:lnSpc>
                <a:spcPts val="2424"/>
              </a:lnSpc>
            </a:pPr>
            <a:r>
              <a:rPr lang="en-US" sz="1730">
                <a:solidFill>
                  <a:srgbClr val="000000"/>
                </a:solidFill>
                <a:latin typeface="Tex Gyre Termes Bold"/>
              </a:rPr>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768300" y="-102870"/>
            <a:ext cx="1797000" cy="10625031"/>
          </a:xfrm>
          <a:custGeom>
            <a:avLst/>
            <a:gdLst/>
            <a:ahLst/>
            <a:cxnLst/>
            <a:rect l="l" t="t" r="r" b="b"/>
            <a:pathLst>
              <a:path w="1797000" h="10625031">
                <a:moveTo>
                  <a:pt x="0" y="0"/>
                </a:moveTo>
                <a:lnTo>
                  <a:pt x="1797000" y="0"/>
                </a:lnTo>
                <a:lnTo>
                  <a:pt x="1797000" y="10625031"/>
                </a:lnTo>
                <a:lnTo>
                  <a:pt x="0" y="106250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592956" y="3442071"/>
            <a:ext cx="3623227" cy="8466348"/>
          </a:xfrm>
          <a:custGeom>
            <a:avLst/>
            <a:gdLst/>
            <a:ahLst/>
            <a:cxnLst/>
            <a:rect l="l" t="t" r="r" b="b"/>
            <a:pathLst>
              <a:path w="3623227" h="8466348">
                <a:moveTo>
                  <a:pt x="0" y="0"/>
                </a:moveTo>
                <a:lnTo>
                  <a:pt x="3623227" y="0"/>
                </a:lnTo>
                <a:lnTo>
                  <a:pt x="3623227" y="8466348"/>
                </a:lnTo>
                <a:lnTo>
                  <a:pt x="0" y="84663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6629620" y="-1280291"/>
            <a:ext cx="8754474" cy="12979873"/>
          </a:xfrm>
          <a:custGeom>
            <a:avLst/>
            <a:gdLst/>
            <a:ahLst/>
            <a:cxnLst/>
            <a:rect l="l" t="t" r="r" b="b"/>
            <a:pathLst>
              <a:path w="8754474" h="12979873">
                <a:moveTo>
                  <a:pt x="0" y="0"/>
                </a:moveTo>
                <a:lnTo>
                  <a:pt x="8754474" y="0"/>
                </a:lnTo>
                <a:lnTo>
                  <a:pt x="8754474" y="12979873"/>
                </a:lnTo>
                <a:lnTo>
                  <a:pt x="0" y="129798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7287876" y="-4334243"/>
            <a:ext cx="3676018" cy="8462747"/>
          </a:xfrm>
          <a:custGeom>
            <a:avLst/>
            <a:gdLst/>
            <a:ahLst/>
            <a:cxnLst/>
            <a:rect l="l" t="t" r="r" b="b"/>
            <a:pathLst>
              <a:path w="3676018" h="8462747">
                <a:moveTo>
                  <a:pt x="0" y="0"/>
                </a:moveTo>
                <a:lnTo>
                  <a:pt x="3676019" y="0"/>
                </a:lnTo>
                <a:lnTo>
                  <a:pt x="3676019" y="8462747"/>
                </a:lnTo>
                <a:lnTo>
                  <a:pt x="0" y="84627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357537" y="2109997"/>
            <a:ext cx="7786463" cy="2865515"/>
          </a:xfrm>
          <a:custGeom>
            <a:avLst/>
            <a:gdLst/>
            <a:ahLst/>
            <a:cxnLst/>
            <a:rect l="l" t="t" r="r" b="b"/>
            <a:pathLst>
              <a:path w="7786463" h="2865515">
                <a:moveTo>
                  <a:pt x="0" y="0"/>
                </a:moveTo>
                <a:lnTo>
                  <a:pt x="7786463" y="0"/>
                </a:lnTo>
                <a:lnTo>
                  <a:pt x="7786463" y="2865515"/>
                </a:lnTo>
                <a:lnTo>
                  <a:pt x="0" y="2865515"/>
                </a:lnTo>
                <a:lnTo>
                  <a:pt x="0" y="0"/>
                </a:lnTo>
                <a:close/>
              </a:path>
            </a:pathLst>
          </a:custGeom>
          <a:blipFill>
            <a:blip r:embed="rId10"/>
            <a:stretch>
              <a:fillRect/>
            </a:stretch>
          </a:blipFill>
        </p:spPr>
      </p:sp>
      <p:sp>
        <p:nvSpPr>
          <p:cNvPr id="7" name="Freeform 7"/>
          <p:cNvSpPr/>
          <p:nvPr/>
        </p:nvSpPr>
        <p:spPr>
          <a:xfrm>
            <a:off x="3106123" y="6556427"/>
            <a:ext cx="11446074" cy="3405443"/>
          </a:xfrm>
          <a:custGeom>
            <a:avLst/>
            <a:gdLst/>
            <a:ahLst/>
            <a:cxnLst/>
            <a:rect l="l" t="t" r="r" b="b"/>
            <a:pathLst>
              <a:path w="11446074" h="3405443">
                <a:moveTo>
                  <a:pt x="0" y="0"/>
                </a:moveTo>
                <a:lnTo>
                  <a:pt x="11446074" y="0"/>
                </a:lnTo>
                <a:lnTo>
                  <a:pt x="11446074" y="3405443"/>
                </a:lnTo>
                <a:lnTo>
                  <a:pt x="0" y="3405443"/>
                </a:lnTo>
                <a:lnTo>
                  <a:pt x="0" y="0"/>
                </a:lnTo>
                <a:close/>
              </a:path>
            </a:pathLst>
          </a:custGeom>
          <a:blipFill>
            <a:blip r:embed="rId11"/>
            <a:stretch>
              <a:fillRect/>
            </a:stretch>
          </a:blipFill>
        </p:spPr>
      </p:sp>
      <p:sp>
        <p:nvSpPr>
          <p:cNvPr id="8" name="Freeform 8"/>
          <p:cNvSpPr/>
          <p:nvPr/>
        </p:nvSpPr>
        <p:spPr>
          <a:xfrm>
            <a:off x="10578400" y="2109997"/>
            <a:ext cx="4945183" cy="3033503"/>
          </a:xfrm>
          <a:custGeom>
            <a:avLst/>
            <a:gdLst/>
            <a:ahLst/>
            <a:cxnLst/>
            <a:rect l="l" t="t" r="r" b="b"/>
            <a:pathLst>
              <a:path w="4945183" h="3033503">
                <a:moveTo>
                  <a:pt x="0" y="0"/>
                </a:moveTo>
                <a:lnTo>
                  <a:pt x="4945183" y="0"/>
                </a:lnTo>
                <a:lnTo>
                  <a:pt x="4945183" y="3033503"/>
                </a:lnTo>
                <a:lnTo>
                  <a:pt x="0" y="3033503"/>
                </a:lnTo>
                <a:lnTo>
                  <a:pt x="0" y="0"/>
                </a:lnTo>
                <a:close/>
              </a:path>
            </a:pathLst>
          </a:custGeom>
          <a:blipFill>
            <a:blip r:embed="rId12"/>
            <a:stretch>
              <a:fillRect/>
            </a:stretch>
          </a:blipFill>
        </p:spPr>
      </p:sp>
      <p:sp>
        <p:nvSpPr>
          <p:cNvPr id="9" name="TextBox 9"/>
          <p:cNvSpPr txBox="1"/>
          <p:nvPr/>
        </p:nvSpPr>
        <p:spPr>
          <a:xfrm>
            <a:off x="1357537" y="723900"/>
            <a:ext cx="9220864" cy="867856"/>
          </a:xfrm>
          <a:prstGeom prst="rect">
            <a:avLst/>
          </a:prstGeom>
        </p:spPr>
        <p:txBody>
          <a:bodyPr lIns="0" tIns="0" rIns="0" bIns="0" rtlCol="0" anchor="t">
            <a:spAutoFit/>
          </a:bodyPr>
          <a:lstStyle/>
          <a:p>
            <a:pPr algn="l">
              <a:lnSpc>
                <a:spcPts val="5736"/>
              </a:lnSpc>
            </a:pPr>
            <a:r>
              <a:rPr lang="en-US" sz="3724">
                <a:solidFill>
                  <a:srgbClr val="DC1C4B"/>
                </a:solidFill>
                <a:latin typeface="Arimo Bold"/>
              </a:rPr>
              <a:t>Pooling</a:t>
            </a:r>
          </a:p>
        </p:txBody>
      </p:sp>
      <p:sp>
        <p:nvSpPr>
          <p:cNvPr id="10" name="TextBox 10"/>
          <p:cNvSpPr txBox="1"/>
          <p:nvPr/>
        </p:nvSpPr>
        <p:spPr>
          <a:xfrm>
            <a:off x="1357537" y="5263635"/>
            <a:ext cx="9220864" cy="867856"/>
          </a:xfrm>
          <a:prstGeom prst="rect">
            <a:avLst/>
          </a:prstGeom>
        </p:spPr>
        <p:txBody>
          <a:bodyPr lIns="0" tIns="0" rIns="0" bIns="0" rtlCol="0" anchor="t">
            <a:spAutoFit/>
          </a:bodyPr>
          <a:lstStyle/>
          <a:p>
            <a:pPr algn="l">
              <a:lnSpc>
                <a:spcPts val="5736"/>
              </a:lnSpc>
            </a:pPr>
            <a:r>
              <a:rPr lang="en-US" sz="3724">
                <a:solidFill>
                  <a:srgbClr val="DC1C4B"/>
                </a:solidFill>
                <a:latin typeface="Arimo Bold"/>
              </a:rPr>
              <a:t>Example implementation of CNN</a:t>
            </a:r>
          </a:p>
        </p:txBody>
      </p:sp>
      <p:sp>
        <p:nvSpPr>
          <p:cNvPr id="11" name="TextBox 11"/>
          <p:cNvSpPr txBox="1"/>
          <p:nvPr/>
        </p:nvSpPr>
        <p:spPr>
          <a:xfrm>
            <a:off x="10578400" y="723900"/>
            <a:ext cx="9220864" cy="867856"/>
          </a:xfrm>
          <a:prstGeom prst="rect">
            <a:avLst/>
          </a:prstGeom>
        </p:spPr>
        <p:txBody>
          <a:bodyPr lIns="0" tIns="0" rIns="0" bIns="0" rtlCol="0" anchor="t">
            <a:spAutoFit/>
          </a:bodyPr>
          <a:lstStyle/>
          <a:p>
            <a:pPr algn="l">
              <a:lnSpc>
                <a:spcPts val="5736"/>
              </a:lnSpc>
            </a:pPr>
            <a:r>
              <a:rPr lang="en-US" sz="3724">
                <a:solidFill>
                  <a:srgbClr val="DC1C4B"/>
                </a:solidFill>
                <a:latin typeface="Arimo Bold"/>
              </a:rPr>
              <a:t>Flattening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15387316" y="-1212119"/>
            <a:ext cx="8754474" cy="12979873"/>
          </a:xfrm>
          <a:custGeom>
            <a:avLst/>
            <a:gdLst/>
            <a:ahLst/>
            <a:cxnLst/>
            <a:rect l="l" t="t" r="r" b="b"/>
            <a:pathLst>
              <a:path w="8754474" h="12979873">
                <a:moveTo>
                  <a:pt x="0" y="0"/>
                </a:moveTo>
                <a:lnTo>
                  <a:pt x="8754474" y="0"/>
                </a:lnTo>
                <a:lnTo>
                  <a:pt x="8754474" y="12979873"/>
                </a:lnTo>
                <a:lnTo>
                  <a:pt x="0" y="129798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154145" y="3751896"/>
            <a:ext cx="3623227" cy="8466348"/>
          </a:xfrm>
          <a:custGeom>
            <a:avLst/>
            <a:gdLst/>
            <a:ahLst/>
            <a:cxnLst/>
            <a:rect l="l" t="t" r="r" b="b"/>
            <a:pathLst>
              <a:path w="3623227" h="8466348">
                <a:moveTo>
                  <a:pt x="0" y="0"/>
                </a:moveTo>
                <a:lnTo>
                  <a:pt x="3623227" y="0"/>
                </a:lnTo>
                <a:lnTo>
                  <a:pt x="3623227" y="8466348"/>
                </a:lnTo>
                <a:lnTo>
                  <a:pt x="0" y="84663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5133631" y="-4126598"/>
            <a:ext cx="3676018" cy="8462747"/>
          </a:xfrm>
          <a:custGeom>
            <a:avLst/>
            <a:gdLst/>
            <a:ahLst/>
            <a:cxnLst/>
            <a:rect l="l" t="t" r="r" b="b"/>
            <a:pathLst>
              <a:path w="3676018" h="8462747">
                <a:moveTo>
                  <a:pt x="0" y="0"/>
                </a:moveTo>
                <a:lnTo>
                  <a:pt x="3676019" y="0"/>
                </a:lnTo>
                <a:lnTo>
                  <a:pt x="3676019" y="8462747"/>
                </a:lnTo>
                <a:lnTo>
                  <a:pt x="0" y="846274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617264" y="1805940"/>
            <a:ext cx="14104930" cy="10408468"/>
          </a:xfrm>
          <a:prstGeom prst="rect">
            <a:avLst/>
          </a:prstGeom>
        </p:spPr>
        <p:txBody>
          <a:bodyPr lIns="0" tIns="0" rIns="0" bIns="0" rtlCol="0" anchor="t">
            <a:spAutoFit/>
          </a:bodyPr>
          <a:lstStyle/>
          <a:p>
            <a:pPr algn="l">
              <a:lnSpc>
                <a:spcPts val="4854"/>
              </a:lnSpc>
            </a:pPr>
            <a:endParaRPr/>
          </a:p>
          <a:p>
            <a:pPr algn="l">
              <a:lnSpc>
                <a:spcPts val="4854"/>
              </a:lnSpc>
            </a:pPr>
            <a:r>
              <a:rPr lang="en-US" sz="3467">
                <a:solidFill>
                  <a:srgbClr val="000000"/>
                </a:solidFill>
                <a:latin typeface="Tex Gyre Termes"/>
              </a:rPr>
              <a:t>The proposed approach is implemented using ML-libs ,Tensor Flow,Keras and Python language on Flask framework.</a:t>
            </a:r>
          </a:p>
          <a:p>
            <a:pPr algn="l">
              <a:lnSpc>
                <a:spcPts val="4854"/>
              </a:lnSpc>
            </a:pPr>
            <a:endParaRPr lang="en-US" sz="3467">
              <a:solidFill>
                <a:srgbClr val="000000"/>
              </a:solidFill>
              <a:latin typeface="Tex Gyre Termes"/>
            </a:endParaRPr>
          </a:p>
          <a:p>
            <a:pPr marL="792643" lvl="2" indent="-264214" algn="l">
              <a:lnSpc>
                <a:spcPts val="4854"/>
              </a:lnSpc>
              <a:buFont typeface="Arial"/>
              <a:buChar char="⚬"/>
            </a:pPr>
            <a:r>
              <a:rPr lang="en-US" sz="3467">
                <a:solidFill>
                  <a:srgbClr val="000000"/>
                </a:solidFill>
                <a:latin typeface="Tex Gyre Termes Bold"/>
              </a:rPr>
              <a:t>TensorFlow </a:t>
            </a:r>
            <a:r>
              <a:rPr lang="en-US" sz="3467">
                <a:solidFill>
                  <a:srgbClr val="000000"/>
                </a:solidFill>
                <a:latin typeface="Tex Gyre Termes"/>
              </a:rPr>
              <a:t>is a popular open-source deep learning library that provides comprehensive support for building and training neural networks, including CNNs. It offers high-level APIs, such as Keras.</a:t>
            </a:r>
          </a:p>
          <a:p>
            <a:pPr marL="792643" lvl="2" indent="-264214" algn="l">
              <a:lnSpc>
                <a:spcPts val="4854"/>
              </a:lnSpc>
              <a:buFont typeface="Arial"/>
              <a:buChar char="⚬"/>
            </a:pPr>
            <a:r>
              <a:rPr lang="en-US" sz="3467">
                <a:solidFill>
                  <a:srgbClr val="000000"/>
                </a:solidFill>
                <a:latin typeface="Tex Gyre Termes Bold"/>
              </a:rPr>
              <a:t>Keras </a:t>
            </a:r>
            <a:r>
              <a:rPr lang="en-US" sz="3467">
                <a:solidFill>
                  <a:srgbClr val="000000"/>
                </a:solidFill>
                <a:latin typeface="Tex Gyre Termes"/>
              </a:rPr>
              <a:t>is a high-level deep learning library that runs on top of TensorFlow or other backends.It offers a user-friendly API for designing and training CNN models with ECG signals.</a:t>
            </a:r>
          </a:p>
          <a:p>
            <a:pPr marL="792643" lvl="2" indent="-264214" algn="l">
              <a:lnSpc>
                <a:spcPts val="4854"/>
              </a:lnSpc>
              <a:buFont typeface="Arial"/>
              <a:buChar char="⚬"/>
            </a:pPr>
            <a:r>
              <a:rPr lang="en-US" sz="3467">
                <a:solidFill>
                  <a:srgbClr val="000000"/>
                </a:solidFill>
                <a:latin typeface="Tex Gyre Termes Bold"/>
              </a:rPr>
              <a:t>Flask</a:t>
            </a:r>
            <a:r>
              <a:rPr lang="en-US" sz="3467">
                <a:solidFill>
                  <a:srgbClr val="000000"/>
                </a:solidFill>
                <a:latin typeface="Tex Gyre Termes"/>
              </a:rPr>
              <a:t> is a micro web framework. It is used for a wide range of web applications, from simple static websites to complex web applications with dynamic content and user authentication. </a:t>
            </a:r>
          </a:p>
          <a:p>
            <a:pPr marL="792643" lvl="2" indent="-264214" algn="l">
              <a:lnSpc>
                <a:spcPts val="4854"/>
              </a:lnSpc>
            </a:pPr>
            <a:endParaRPr lang="en-US" sz="3467">
              <a:solidFill>
                <a:srgbClr val="000000"/>
              </a:solidFill>
              <a:latin typeface="Tex Gyre Termes"/>
            </a:endParaRPr>
          </a:p>
          <a:p>
            <a:pPr marL="792643" lvl="2" indent="-264214" algn="l">
              <a:lnSpc>
                <a:spcPts val="4854"/>
              </a:lnSpc>
            </a:pPr>
            <a:endParaRPr lang="en-US" sz="3467">
              <a:solidFill>
                <a:srgbClr val="000000"/>
              </a:solidFill>
              <a:latin typeface="Tex Gyre Termes"/>
            </a:endParaRPr>
          </a:p>
          <a:p>
            <a:pPr marL="792643" lvl="2" indent="-264214" algn="l">
              <a:lnSpc>
                <a:spcPts val="4854"/>
              </a:lnSpc>
            </a:pPr>
            <a:endParaRPr lang="en-US" sz="3467">
              <a:solidFill>
                <a:srgbClr val="000000"/>
              </a:solidFill>
              <a:latin typeface="Tex Gyre Termes"/>
            </a:endParaRPr>
          </a:p>
          <a:p>
            <a:pPr marL="792643" lvl="2" indent="-264214" algn="l">
              <a:lnSpc>
                <a:spcPts val="4854"/>
              </a:lnSpc>
            </a:pPr>
            <a:endParaRPr lang="en-US" sz="3467">
              <a:solidFill>
                <a:srgbClr val="000000"/>
              </a:solidFill>
              <a:latin typeface="Tex Gyre Termes"/>
            </a:endParaRPr>
          </a:p>
        </p:txBody>
      </p:sp>
      <p:sp>
        <p:nvSpPr>
          <p:cNvPr id="6" name="Freeform 6"/>
          <p:cNvSpPr/>
          <p:nvPr/>
        </p:nvSpPr>
        <p:spPr>
          <a:xfrm>
            <a:off x="4730798" y="104775"/>
            <a:ext cx="4413202" cy="2928510"/>
          </a:xfrm>
          <a:custGeom>
            <a:avLst/>
            <a:gdLst/>
            <a:ahLst/>
            <a:cxnLst/>
            <a:rect l="l" t="t" r="r" b="b"/>
            <a:pathLst>
              <a:path w="4413202" h="2928510">
                <a:moveTo>
                  <a:pt x="0" y="0"/>
                </a:moveTo>
                <a:lnTo>
                  <a:pt x="4413202" y="0"/>
                </a:lnTo>
                <a:lnTo>
                  <a:pt x="4413202" y="2928510"/>
                </a:lnTo>
                <a:lnTo>
                  <a:pt x="0" y="2928510"/>
                </a:lnTo>
                <a:lnTo>
                  <a:pt x="0" y="0"/>
                </a:lnTo>
                <a:close/>
              </a:path>
            </a:pathLst>
          </a:custGeom>
          <a:blipFill>
            <a:blip r:embed="rId8"/>
            <a:stretch>
              <a:fillRect l="-7964" r="-7966"/>
            </a:stretch>
          </a:blipFill>
        </p:spPr>
      </p:sp>
      <p:sp>
        <p:nvSpPr>
          <p:cNvPr id="7" name="TextBox 7"/>
          <p:cNvSpPr txBox="1"/>
          <p:nvPr/>
        </p:nvSpPr>
        <p:spPr>
          <a:xfrm>
            <a:off x="1028700" y="1143000"/>
            <a:ext cx="2786458" cy="796290"/>
          </a:xfrm>
          <a:prstGeom prst="rect">
            <a:avLst/>
          </a:prstGeom>
        </p:spPr>
        <p:txBody>
          <a:bodyPr lIns="0" tIns="0" rIns="0" bIns="0" rtlCol="0" anchor="t">
            <a:spAutoFit/>
          </a:bodyPr>
          <a:lstStyle/>
          <a:p>
            <a:pPr algn="just">
              <a:lnSpc>
                <a:spcPts val="6180"/>
              </a:lnSpc>
            </a:pPr>
            <a:r>
              <a:rPr lang="en-US" sz="6000">
                <a:solidFill>
                  <a:srgbClr val="DC1C4B"/>
                </a:solidFill>
                <a:latin typeface="Arimo Bold"/>
              </a:rPr>
              <a:t>TOOLS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998108" y="3049856"/>
            <a:ext cx="15884766" cy="5846946"/>
          </a:xfrm>
          <a:custGeom>
            <a:avLst/>
            <a:gdLst/>
            <a:ahLst/>
            <a:cxnLst/>
            <a:rect l="l" t="t" r="r" b="b"/>
            <a:pathLst>
              <a:path w="15884766" h="5846946">
                <a:moveTo>
                  <a:pt x="0" y="0"/>
                </a:moveTo>
                <a:lnTo>
                  <a:pt x="15884767" y="0"/>
                </a:lnTo>
                <a:lnTo>
                  <a:pt x="15884767" y="5846945"/>
                </a:lnTo>
                <a:lnTo>
                  <a:pt x="0" y="5846945"/>
                </a:lnTo>
                <a:lnTo>
                  <a:pt x="0" y="0"/>
                </a:lnTo>
                <a:close/>
              </a:path>
            </a:pathLst>
          </a:custGeom>
          <a:blipFill>
            <a:blip r:embed="rId2"/>
            <a:stretch>
              <a:fillRect/>
            </a:stretch>
          </a:blipFill>
        </p:spPr>
      </p:sp>
      <p:sp>
        <p:nvSpPr>
          <p:cNvPr id="3" name="TextBox 3"/>
          <p:cNvSpPr txBox="1"/>
          <p:nvPr/>
        </p:nvSpPr>
        <p:spPr>
          <a:xfrm>
            <a:off x="12512650" y="8896071"/>
            <a:ext cx="5076256" cy="644222"/>
          </a:xfrm>
          <a:prstGeom prst="rect">
            <a:avLst/>
          </a:prstGeom>
        </p:spPr>
        <p:txBody>
          <a:bodyPr lIns="0" tIns="0" rIns="0" bIns="0" rtlCol="0" anchor="t">
            <a:spAutoFit/>
          </a:bodyPr>
          <a:lstStyle/>
          <a:p>
            <a:pPr algn="r">
              <a:lnSpc>
                <a:spcPts val="4658"/>
              </a:lnSpc>
            </a:pPr>
            <a:r>
              <a:rPr lang="en-US" sz="3327" spc="668">
                <a:solidFill>
                  <a:srgbClr val="FFFFFF"/>
                </a:solidFill>
                <a:latin typeface="Arimo Bold"/>
              </a:rPr>
              <a:t>PAGE 03</a:t>
            </a:r>
          </a:p>
        </p:txBody>
      </p:sp>
      <p:sp>
        <p:nvSpPr>
          <p:cNvPr id="4" name="Freeform 4"/>
          <p:cNvSpPr/>
          <p:nvPr/>
        </p:nvSpPr>
        <p:spPr>
          <a:xfrm>
            <a:off x="-407018" y="9363486"/>
            <a:ext cx="18695018" cy="1331377"/>
          </a:xfrm>
          <a:custGeom>
            <a:avLst/>
            <a:gdLst/>
            <a:ahLst/>
            <a:cxnLst/>
            <a:rect l="l" t="t" r="r" b="b"/>
            <a:pathLst>
              <a:path w="18695018" h="1331377">
                <a:moveTo>
                  <a:pt x="0" y="0"/>
                </a:moveTo>
                <a:lnTo>
                  <a:pt x="18695018" y="0"/>
                </a:lnTo>
                <a:lnTo>
                  <a:pt x="18695018" y="1331377"/>
                </a:lnTo>
                <a:lnTo>
                  <a:pt x="0" y="133137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0683564" y="4117096"/>
            <a:ext cx="3091131" cy="3197315"/>
          </a:xfrm>
          <a:custGeom>
            <a:avLst/>
            <a:gdLst/>
            <a:ahLst/>
            <a:cxnLst/>
            <a:rect l="l" t="t" r="r" b="b"/>
            <a:pathLst>
              <a:path w="3091131" h="3197315">
                <a:moveTo>
                  <a:pt x="0" y="0"/>
                </a:moveTo>
                <a:lnTo>
                  <a:pt x="3091131" y="0"/>
                </a:lnTo>
                <a:lnTo>
                  <a:pt x="3091131" y="3197315"/>
                </a:lnTo>
                <a:lnTo>
                  <a:pt x="0" y="319731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1333702" y="1661280"/>
            <a:ext cx="8815157" cy="787224"/>
          </a:xfrm>
          <a:prstGeom prst="rect">
            <a:avLst/>
          </a:prstGeom>
        </p:spPr>
        <p:txBody>
          <a:bodyPr lIns="0" tIns="0" rIns="0" bIns="0" rtlCol="0" anchor="t">
            <a:spAutoFit/>
          </a:bodyPr>
          <a:lstStyle/>
          <a:p>
            <a:pPr algn="just">
              <a:lnSpc>
                <a:spcPts val="6048"/>
              </a:lnSpc>
            </a:pPr>
            <a:r>
              <a:rPr lang="en-US" sz="5872">
                <a:solidFill>
                  <a:srgbClr val="DC1C4B"/>
                </a:solidFill>
                <a:latin typeface="Arimo Bold"/>
              </a:rPr>
              <a:t>DETAILED EXPLANATION</a:t>
            </a:r>
          </a:p>
        </p:txBody>
      </p:sp>
      <p:sp>
        <p:nvSpPr>
          <p:cNvPr id="7" name="TextBox 7"/>
          <p:cNvSpPr txBox="1"/>
          <p:nvPr/>
        </p:nvSpPr>
        <p:spPr>
          <a:xfrm>
            <a:off x="11007123" y="4546907"/>
            <a:ext cx="1959281" cy="725311"/>
          </a:xfrm>
          <a:prstGeom prst="rect">
            <a:avLst/>
          </a:prstGeom>
        </p:spPr>
        <p:txBody>
          <a:bodyPr lIns="0" tIns="0" rIns="0" bIns="0" rtlCol="0" anchor="t">
            <a:spAutoFit/>
          </a:bodyPr>
          <a:lstStyle/>
          <a:p>
            <a:pPr algn="ctr">
              <a:lnSpc>
                <a:spcPts val="2724"/>
              </a:lnSpc>
            </a:pPr>
            <a:r>
              <a:rPr lang="en-US" sz="1945">
                <a:solidFill>
                  <a:srgbClr val="000000"/>
                </a:solidFill>
                <a:latin typeface="Canva Sans Bold"/>
              </a:rPr>
              <a:t>Convolutional</a:t>
            </a:r>
          </a:p>
          <a:p>
            <a:pPr algn="ctr">
              <a:lnSpc>
                <a:spcPts val="2724"/>
              </a:lnSpc>
            </a:pPr>
            <a:r>
              <a:rPr lang="en-US" sz="1945">
                <a:solidFill>
                  <a:srgbClr val="000000"/>
                </a:solidFill>
                <a:latin typeface="Canva Sans Bold"/>
              </a:rPr>
              <a:t> Neural Network</a:t>
            </a:r>
          </a:p>
        </p:txBody>
      </p:sp>
      <p:sp>
        <p:nvSpPr>
          <p:cNvPr id="8" name="Freeform 8"/>
          <p:cNvSpPr/>
          <p:nvPr/>
        </p:nvSpPr>
        <p:spPr>
          <a:xfrm>
            <a:off x="209689" y="4818290"/>
            <a:ext cx="1303615" cy="1507070"/>
          </a:xfrm>
          <a:custGeom>
            <a:avLst/>
            <a:gdLst/>
            <a:ahLst/>
            <a:cxnLst/>
            <a:rect l="l" t="t" r="r" b="b"/>
            <a:pathLst>
              <a:path w="1303615" h="1507070">
                <a:moveTo>
                  <a:pt x="0" y="0"/>
                </a:moveTo>
                <a:lnTo>
                  <a:pt x="1303616" y="0"/>
                </a:lnTo>
                <a:lnTo>
                  <a:pt x="1303616" y="1507070"/>
                </a:lnTo>
                <a:lnTo>
                  <a:pt x="0" y="1507070"/>
                </a:lnTo>
                <a:lnTo>
                  <a:pt x="0" y="0"/>
                </a:lnTo>
                <a:close/>
              </a:path>
            </a:pathLst>
          </a:custGeom>
          <a:blipFill>
            <a:blip r:embed="rId7">
              <a:extLst>
                <a:ext uri="{96DAC541-7B7A-43D3-8B79-37D633B846F1}">
                  <asvg:svgBlip xmlns:asvg="http://schemas.microsoft.com/office/drawing/2016/SVG/main" r:embed="rId8"/>
                </a:ext>
              </a:extLst>
            </a:blip>
            <a:stretch>
              <a:fillRect b="-92"/>
            </a:stretch>
          </a:blipFill>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15387316" y="-1212119"/>
            <a:ext cx="8754474" cy="12979873"/>
          </a:xfrm>
          <a:custGeom>
            <a:avLst/>
            <a:gdLst/>
            <a:ahLst/>
            <a:cxnLst/>
            <a:rect l="l" t="t" r="r" b="b"/>
            <a:pathLst>
              <a:path w="8754474" h="12979873">
                <a:moveTo>
                  <a:pt x="0" y="0"/>
                </a:moveTo>
                <a:lnTo>
                  <a:pt x="8754474" y="0"/>
                </a:lnTo>
                <a:lnTo>
                  <a:pt x="8754474" y="12979873"/>
                </a:lnTo>
                <a:lnTo>
                  <a:pt x="0" y="129798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154145" y="3751896"/>
            <a:ext cx="3623227" cy="8466348"/>
          </a:xfrm>
          <a:custGeom>
            <a:avLst/>
            <a:gdLst/>
            <a:ahLst/>
            <a:cxnLst/>
            <a:rect l="l" t="t" r="r" b="b"/>
            <a:pathLst>
              <a:path w="3623227" h="8466348">
                <a:moveTo>
                  <a:pt x="0" y="0"/>
                </a:moveTo>
                <a:lnTo>
                  <a:pt x="3623227" y="0"/>
                </a:lnTo>
                <a:lnTo>
                  <a:pt x="3623227" y="8466348"/>
                </a:lnTo>
                <a:lnTo>
                  <a:pt x="0" y="84663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5133631" y="-4126598"/>
            <a:ext cx="3676018" cy="8462747"/>
          </a:xfrm>
          <a:custGeom>
            <a:avLst/>
            <a:gdLst/>
            <a:ahLst/>
            <a:cxnLst/>
            <a:rect l="l" t="t" r="r" b="b"/>
            <a:pathLst>
              <a:path w="3676018" h="8462747">
                <a:moveTo>
                  <a:pt x="0" y="0"/>
                </a:moveTo>
                <a:lnTo>
                  <a:pt x="3676019" y="0"/>
                </a:lnTo>
                <a:lnTo>
                  <a:pt x="3676019" y="8462747"/>
                </a:lnTo>
                <a:lnTo>
                  <a:pt x="0" y="846274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440828" y="349325"/>
            <a:ext cx="4835733" cy="1020445"/>
          </a:xfrm>
          <a:prstGeom prst="rect">
            <a:avLst/>
          </a:prstGeom>
        </p:spPr>
        <p:txBody>
          <a:bodyPr lIns="0" tIns="0" rIns="0" bIns="0" rtlCol="0" anchor="t">
            <a:spAutoFit/>
          </a:bodyPr>
          <a:lstStyle/>
          <a:p>
            <a:pPr algn="ctr">
              <a:lnSpc>
                <a:spcPts val="7278"/>
              </a:lnSpc>
            </a:pPr>
            <a:r>
              <a:rPr lang="en-US" sz="5198">
                <a:solidFill>
                  <a:srgbClr val="182D88"/>
                </a:solidFill>
                <a:latin typeface="Arimo Bold"/>
              </a:rPr>
              <a:t>Libraries used</a:t>
            </a:r>
          </a:p>
        </p:txBody>
      </p:sp>
      <p:sp>
        <p:nvSpPr>
          <p:cNvPr id="6" name="TextBox 6"/>
          <p:cNvSpPr txBox="1"/>
          <p:nvPr/>
        </p:nvSpPr>
        <p:spPr>
          <a:xfrm>
            <a:off x="1673364" y="1255470"/>
            <a:ext cx="5508479" cy="3184918"/>
          </a:xfrm>
          <a:prstGeom prst="rect">
            <a:avLst/>
          </a:prstGeom>
        </p:spPr>
        <p:txBody>
          <a:bodyPr lIns="0" tIns="0" rIns="0" bIns="0" rtlCol="0" anchor="t">
            <a:spAutoFit/>
          </a:bodyPr>
          <a:lstStyle/>
          <a:p>
            <a:pPr marL="815673" lvl="2" indent="-271891" algn="l">
              <a:lnSpc>
                <a:spcPts val="4995"/>
              </a:lnSpc>
              <a:buFont typeface="Arial"/>
              <a:buChar char="⚬"/>
            </a:pPr>
            <a:r>
              <a:rPr lang="en-US" sz="3568">
                <a:solidFill>
                  <a:srgbClr val="000000"/>
                </a:solidFill>
                <a:latin typeface="Tex Gyre Termes"/>
              </a:rPr>
              <a:t>Numpy</a:t>
            </a:r>
          </a:p>
          <a:p>
            <a:pPr marL="815673" lvl="2" indent="-271891" algn="l">
              <a:lnSpc>
                <a:spcPts val="4995"/>
              </a:lnSpc>
              <a:buFont typeface="Arial"/>
              <a:buChar char="⚬"/>
            </a:pPr>
            <a:r>
              <a:rPr lang="en-US" sz="3568">
                <a:solidFill>
                  <a:srgbClr val="000000"/>
                </a:solidFill>
                <a:latin typeface="Tex Gyre Termes"/>
              </a:rPr>
              <a:t>Pandas</a:t>
            </a:r>
          </a:p>
          <a:p>
            <a:pPr marL="815673" lvl="2" indent="-271891" algn="l">
              <a:lnSpc>
                <a:spcPts val="4995"/>
              </a:lnSpc>
              <a:buFont typeface="Arial"/>
              <a:buChar char="⚬"/>
            </a:pPr>
            <a:r>
              <a:rPr lang="en-US" sz="3568">
                <a:solidFill>
                  <a:srgbClr val="000000"/>
                </a:solidFill>
                <a:latin typeface="Tex Gyre Termes"/>
              </a:rPr>
              <a:t>Sklearn</a:t>
            </a:r>
          </a:p>
          <a:p>
            <a:pPr marL="815673" lvl="2" indent="-271891" algn="l">
              <a:lnSpc>
                <a:spcPts val="4995"/>
              </a:lnSpc>
              <a:buFont typeface="Arial"/>
              <a:buChar char="⚬"/>
            </a:pPr>
            <a:r>
              <a:rPr lang="en-US" sz="3568">
                <a:solidFill>
                  <a:srgbClr val="000000"/>
                </a:solidFill>
                <a:latin typeface="Tex Gyre Termes"/>
              </a:rPr>
              <a:t>Matplotlib</a:t>
            </a:r>
          </a:p>
          <a:p>
            <a:pPr marL="815673" lvl="2" indent="-271891" algn="l">
              <a:lnSpc>
                <a:spcPts val="4995"/>
              </a:lnSpc>
              <a:buFont typeface="Arial"/>
              <a:buChar char="⚬"/>
            </a:pPr>
            <a:r>
              <a:rPr lang="en-US" sz="3568">
                <a:solidFill>
                  <a:srgbClr val="000000"/>
                </a:solidFill>
                <a:latin typeface="Tex Gyre Termes"/>
              </a:rPr>
              <a:t>Scikit-Learn</a:t>
            </a:r>
          </a:p>
        </p:txBody>
      </p:sp>
      <p:sp>
        <p:nvSpPr>
          <p:cNvPr id="7" name="TextBox 7"/>
          <p:cNvSpPr txBox="1"/>
          <p:nvPr/>
        </p:nvSpPr>
        <p:spPr>
          <a:xfrm>
            <a:off x="-933370" y="4460425"/>
            <a:ext cx="9310098" cy="1020445"/>
          </a:xfrm>
          <a:prstGeom prst="rect">
            <a:avLst/>
          </a:prstGeom>
        </p:spPr>
        <p:txBody>
          <a:bodyPr lIns="0" tIns="0" rIns="0" bIns="0" rtlCol="0" anchor="t">
            <a:spAutoFit/>
          </a:bodyPr>
          <a:lstStyle/>
          <a:p>
            <a:pPr algn="ctr">
              <a:lnSpc>
                <a:spcPts val="7278"/>
              </a:lnSpc>
            </a:pPr>
            <a:r>
              <a:rPr lang="en-US" sz="5198">
                <a:solidFill>
                  <a:srgbClr val="182D88"/>
                </a:solidFill>
                <a:latin typeface="Arimo Bold"/>
              </a:rPr>
              <a:t>Dataset Description</a:t>
            </a:r>
          </a:p>
        </p:txBody>
      </p:sp>
      <p:sp>
        <p:nvSpPr>
          <p:cNvPr id="8" name="TextBox 8"/>
          <p:cNvSpPr txBox="1"/>
          <p:nvPr/>
        </p:nvSpPr>
        <p:spPr>
          <a:xfrm>
            <a:off x="-4673065" y="5634256"/>
            <a:ext cx="18201338" cy="494919"/>
          </a:xfrm>
          <a:prstGeom prst="rect">
            <a:avLst/>
          </a:prstGeom>
        </p:spPr>
        <p:txBody>
          <a:bodyPr lIns="0" tIns="0" rIns="0" bIns="0" rtlCol="0" anchor="t">
            <a:spAutoFit/>
          </a:bodyPr>
          <a:lstStyle/>
          <a:p>
            <a:pPr algn="ctr">
              <a:lnSpc>
                <a:spcPts val="3696"/>
              </a:lnSpc>
            </a:pPr>
            <a:r>
              <a:rPr lang="en-US" sz="2640">
                <a:solidFill>
                  <a:srgbClr val="000000"/>
                </a:solidFill>
                <a:latin typeface="Tex Gyre Termes"/>
              </a:rPr>
              <a:t>The dataset used consists of the following characteristics:</a:t>
            </a:r>
          </a:p>
        </p:txBody>
      </p:sp>
      <p:sp>
        <p:nvSpPr>
          <p:cNvPr id="9" name="TextBox 9"/>
          <p:cNvSpPr txBox="1"/>
          <p:nvPr/>
        </p:nvSpPr>
        <p:spPr>
          <a:xfrm>
            <a:off x="733639" y="6281575"/>
            <a:ext cx="13771422" cy="2361819"/>
          </a:xfrm>
          <a:prstGeom prst="rect">
            <a:avLst/>
          </a:prstGeom>
        </p:spPr>
        <p:txBody>
          <a:bodyPr lIns="0" tIns="0" rIns="0" bIns="0" rtlCol="0" anchor="t">
            <a:spAutoFit/>
          </a:bodyPr>
          <a:lstStyle/>
          <a:p>
            <a:pPr algn="just">
              <a:lnSpc>
                <a:spcPts val="3696"/>
              </a:lnSpc>
            </a:pPr>
            <a:r>
              <a:rPr lang="en-US" sz="2640">
                <a:solidFill>
                  <a:srgbClr val="000000"/>
                </a:solidFill>
                <a:latin typeface="Tex Gyre Termes"/>
              </a:rPr>
              <a:t>1. Size: The dataset contains a total of 91,232 single-lead electrocardiograms (ECGs) from 53,549 patients who underwent ambulatory ECG monitoring. Each ECG represents a unique patient.</a:t>
            </a:r>
          </a:p>
          <a:p>
            <a:pPr algn="just">
              <a:lnSpc>
                <a:spcPts val="3696"/>
              </a:lnSpc>
            </a:pPr>
            <a:endParaRPr lang="en-US" sz="2640">
              <a:solidFill>
                <a:srgbClr val="000000"/>
              </a:solidFill>
              <a:latin typeface="Tex Gyre Termes"/>
            </a:endParaRPr>
          </a:p>
          <a:p>
            <a:pPr algn="just">
              <a:lnSpc>
                <a:spcPts val="3696"/>
              </a:lnSpc>
            </a:pPr>
            <a:r>
              <a:rPr lang="en-US" sz="2640">
                <a:solidFill>
                  <a:srgbClr val="000000"/>
                </a:solidFill>
                <a:latin typeface="Tex Gyre Termes"/>
              </a:rPr>
              <a:t>2. Rhythm Classes: The dataset includes 12 different rhythm classes that were used for classification purposes. The specific rhythm classes are not mentioned in the provided information.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15387316" y="-1212119"/>
            <a:ext cx="8754474" cy="12979873"/>
          </a:xfrm>
          <a:custGeom>
            <a:avLst/>
            <a:gdLst/>
            <a:ahLst/>
            <a:cxnLst/>
            <a:rect l="l" t="t" r="r" b="b"/>
            <a:pathLst>
              <a:path w="8754474" h="12979873">
                <a:moveTo>
                  <a:pt x="0" y="0"/>
                </a:moveTo>
                <a:lnTo>
                  <a:pt x="8754474" y="0"/>
                </a:lnTo>
                <a:lnTo>
                  <a:pt x="8754474" y="12979873"/>
                </a:lnTo>
                <a:lnTo>
                  <a:pt x="0" y="129798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154145" y="3751896"/>
            <a:ext cx="3623227" cy="8466348"/>
          </a:xfrm>
          <a:custGeom>
            <a:avLst/>
            <a:gdLst/>
            <a:ahLst/>
            <a:cxnLst/>
            <a:rect l="l" t="t" r="r" b="b"/>
            <a:pathLst>
              <a:path w="3623227" h="8466348">
                <a:moveTo>
                  <a:pt x="0" y="0"/>
                </a:moveTo>
                <a:lnTo>
                  <a:pt x="3623227" y="0"/>
                </a:lnTo>
                <a:lnTo>
                  <a:pt x="3623227" y="8466348"/>
                </a:lnTo>
                <a:lnTo>
                  <a:pt x="0" y="84663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5133631" y="-4126598"/>
            <a:ext cx="3676018" cy="8462747"/>
          </a:xfrm>
          <a:custGeom>
            <a:avLst/>
            <a:gdLst/>
            <a:ahLst/>
            <a:cxnLst/>
            <a:rect l="l" t="t" r="r" b="b"/>
            <a:pathLst>
              <a:path w="3676018" h="8462747">
                <a:moveTo>
                  <a:pt x="0" y="0"/>
                </a:moveTo>
                <a:lnTo>
                  <a:pt x="3676019" y="0"/>
                </a:lnTo>
                <a:lnTo>
                  <a:pt x="3676019" y="8462747"/>
                </a:lnTo>
                <a:lnTo>
                  <a:pt x="0" y="846274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028700" y="2571292"/>
            <a:ext cx="14104930" cy="6141682"/>
          </a:xfrm>
          <a:prstGeom prst="rect">
            <a:avLst/>
          </a:prstGeom>
        </p:spPr>
        <p:txBody>
          <a:bodyPr lIns="0" tIns="0" rIns="0" bIns="0" rtlCol="0" anchor="t">
            <a:spAutoFit/>
          </a:bodyPr>
          <a:lstStyle/>
          <a:p>
            <a:pPr marL="788950" lvl="2" indent="-262983" algn="l">
              <a:lnSpc>
                <a:spcPts val="4832"/>
              </a:lnSpc>
              <a:buFont typeface="Arial"/>
              <a:buChar char="⚬"/>
            </a:pPr>
            <a:r>
              <a:rPr lang="en-US" sz="3451">
                <a:solidFill>
                  <a:srgbClr val="000000"/>
                </a:solidFill>
                <a:latin typeface="Tex Gyre Termes"/>
              </a:rPr>
              <a:t>The preprocess function defines the list of ECG record numbers (nums) and features (features), and if specified, splits the dataset into test and train sets based on the split parameter.</a:t>
            </a:r>
          </a:p>
          <a:p>
            <a:pPr marL="788950" lvl="2" indent="-262983" algn="l">
              <a:lnSpc>
                <a:spcPts val="4832"/>
              </a:lnSpc>
            </a:pPr>
            <a:endParaRPr lang="en-US" sz="3451">
              <a:solidFill>
                <a:srgbClr val="000000"/>
              </a:solidFill>
              <a:latin typeface="Tex Gyre Termes"/>
            </a:endParaRPr>
          </a:p>
          <a:p>
            <a:pPr marL="788950" lvl="2" indent="-262983" algn="just">
              <a:lnSpc>
                <a:spcPts val="4832"/>
              </a:lnSpc>
              <a:buFont typeface="Arial"/>
              <a:buChar char="⚬"/>
            </a:pPr>
            <a:r>
              <a:rPr lang="en-US" sz="3451">
                <a:solidFill>
                  <a:srgbClr val="000000"/>
                </a:solidFill>
                <a:latin typeface="Tex Gyre Termes"/>
              </a:rPr>
              <a:t>Overall, the script downloads ECG data from the MIT-BIH Arrhythmia Database (if specified), preprocesses the data and extracts windows around peaks, retrieves annotations and saves the processed data and labels to HDF5 files. The script can be run directly to perform the preprocessing or imported as a module for reuse.</a:t>
            </a:r>
          </a:p>
          <a:p>
            <a:pPr marL="788950" lvl="2" indent="-262983" algn="l">
              <a:lnSpc>
                <a:spcPts val="4832"/>
              </a:lnSpc>
            </a:pPr>
            <a:endParaRPr lang="en-US" sz="3451">
              <a:solidFill>
                <a:srgbClr val="000000"/>
              </a:solidFill>
              <a:latin typeface="Tex Gyre Termes"/>
            </a:endParaRPr>
          </a:p>
        </p:txBody>
      </p:sp>
      <p:sp>
        <p:nvSpPr>
          <p:cNvPr id="6" name="TextBox 6"/>
          <p:cNvSpPr txBox="1"/>
          <p:nvPr/>
        </p:nvSpPr>
        <p:spPr>
          <a:xfrm>
            <a:off x="1028700" y="781050"/>
            <a:ext cx="10987471" cy="1005718"/>
          </a:xfrm>
          <a:prstGeom prst="rect">
            <a:avLst/>
          </a:prstGeom>
        </p:spPr>
        <p:txBody>
          <a:bodyPr lIns="0" tIns="0" rIns="0" bIns="0" rtlCol="0" anchor="t">
            <a:spAutoFit/>
          </a:bodyPr>
          <a:lstStyle/>
          <a:p>
            <a:pPr algn="l">
              <a:lnSpc>
                <a:spcPts val="7040"/>
              </a:lnSpc>
            </a:pPr>
            <a:r>
              <a:rPr lang="en-US" sz="5028">
                <a:solidFill>
                  <a:srgbClr val="182D88"/>
                </a:solidFill>
                <a:latin typeface="Arimo Bold"/>
              </a:rPr>
              <a:t>Data Preprocessing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15387316" y="-1212119"/>
            <a:ext cx="8754474" cy="12979873"/>
          </a:xfrm>
          <a:custGeom>
            <a:avLst/>
            <a:gdLst/>
            <a:ahLst/>
            <a:cxnLst/>
            <a:rect l="l" t="t" r="r" b="b"/>
            <a:pathLst>
              <a:path w="8754474" h="12979873">
                <a:moveTo>
                  <a:pt x="0" y="0"/>
                </a:moveTo>
                <a:lnTo>
                  <a:pt x="8754474" y="0"/>
                </a:lnTo>
                <a:lnTo>
                  <a:pt x="8754474" y="12979873"/>
                </a:lnTo>
                <a:lnTo>
                  <a:pt x="0" y="129798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154145" y="3751896"/>
            <a:ext cx="3623227" cy="8466348"/>
          </a:xfrm>
          <a:custGeom>
            <a:avLst/>
            <a:gdLst/>
            <a:ahLst/>
            <a:cxnLst/>
            <a:rect l="l" t="t" r="r" b="b"/>
            <a:pathLst>
              <a:path w="3623227" h="8466348">
                <a:moveTo>
                  <a:pt x="0" y="0"/>
                </a:moveTo>
                <a:lnTo>
                  <a:pt x="3623227" y="0"/>
                </a:lnTo>
                <a:lnTo>
                  <a:pt x="3623227" y="8466348"/>
                </a:lnTo>
                <a:lnTo>
                  <a:pt x="0" y="84663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5133631" y="-4126598"/>
            <a:ext cx="3676018" cy="8462747"/>
          </a:xfrm>
          <a:custGeom>
            <a:avLst/>
            <a:gdLst/>
            <a:ahLst/>
            <a:cxnLst/>
            <a:rect l="l" t="t" r="r" b="b"/>
            <a:pathLst>
              <a:path w="3676018" h="8462747">
                <a:moveTo>
                  <a:pt x="0" y="0"/>
                </a:moveTo>
                <a:lnTo>
                  <a:pt x="3676019" y="0"/>
                </a:lnTo>
                <a:lnTo>
                  <a:pt x="3676019" y="8462747"/>
                </a:lnTo>
                <a:lnTo>
                  <a:pt x="0" y="846274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8466046" y="0"/>
            <a:ext cx="6021068" cy="10182225"/>
          </a:xfrm>
          <a:custGeom>
            <a:avLst/>
            <a:gdLst/>
            <a:ahLst/>
            <a:cxnLst/>
            <a:rect l="l" t="t" r="r" b="b"/>
            <a:pathLst>
              <a:path w="6021068" h="10182225">
                <a:moveTo>
                  <a:pt x="0" y="0"/>
                </a:moveTo>
                <a:lnTo>
                  <a:pt x="6021068" y="0"/>
                </a:lnTo>
                <a:lnTo>
                  <a:pt x="6021068" y="10182225"/>
                </a:lnTo>
                <a:lnTo>
                  <a:pt x="0" y="10182225"/>
                </a:lnTo>
                <a:lnTo>
                  <a:pt x="0" y="0"/>
                </a:lnTo>
                <a:close/>
              </a:path>
            </a:pathLst>
          </a:custGeom>
          <a:blipFill>
            <a:blip r:embed="rId8"/>
            <a:stretch>
              <a:fillRect/>
            </a:stretch>
          </a:blipFill>
        </p:spPr>
      </p:sp>
      <p:sp>
        <p:nvSpPr>
          <p:cNvPr id="6" name="TextBox 6"/>
          <p:cNvSpPr txBox="1"/>
          <p:nvPr/>
        </p:nvSpPr>
        <p:spPr>
          <a:xfrm>
            <a:off x="489109" y="402016"/>
            <a:ext cx="10987471" cy="1005718"/>
          </a:xfrm>
          <a:prstGeom prst="rect">
            <a:avLst/>
          </a:prstGeom>
        </p:spPr>
        <p:txBody>
          <a:bodyPr lIns="0" tIns="0" rIns="0" bIns="0" rtlCol="0" anchor="t">
            <a:spAutoFit/>
          </a:bodyPr>
          <a:lstStyle/>
          <a:p>
            <a:pPr algn="l">
              <a:lnSpc>
                <a:spcPts val="7040"/>
              </a:lnSpc>
            </a:pPr>
            <a:r>
              <a:rPr lang="en-US" sz="5028">
                <a:solidFill>
                  <a:srgbClr val="182D88"/>
                </a:solidFill>
                <a:latin typeface="Arimo Bold"/>
              </a:rPr>
              <a:t>Model</a:t>
            </a:r>
          </a:p>
        </p:txBody>
      </p:sp>
      <p:sp>
        <p:nvSpPr>
          <p:cNvPr id="7" name="TextBox 7"/>
          <p:cNvSpPr txBox="1"/>
          <p:nvPr/>
        </p:nvSpPr>
        <p:spPr>
          <a:xfrm>
            <a:off x="0" y="1706918"/>
            <a:ext cx="7819530" cy="8580082"/>
          </a:xfrm>
          <a:prstGeom prst="rect">
            <a:avLst/>
          </a:prstGeom>
        </p:spPr>
        <p:txBody>
          <a:bodyPr lIns="0" tIns="0" rIns="0" bIns="0" rtlCol="0" anchor="t">
            <a:spAutoFit/>
          </a:bodyPr>
          <a:lstStyle/>
          <a:p>
            <a:pPr marL="788950" lvl="2" indent="-262983" algn="just">
              <a:lnSpc>
                <a:spcPts val="4832"/>
              </a:lnSpc>
              <a:buFont typeface="Arial"/>
              <a:buChar char="⚬"/>
            </a:pPr>
            <a:r>
              <a:rPr lang="en-US" sz="3451">
                <a:solidFill>
                  <a:srgbClr val="000000"/>
                </a:solidFill>
                <a:latin typeface="Tex Gyre Termes"/>
              </a:rPr>
              <a:t>The model is mainly made of 3 blocks, the input plus a reset block, and a reset loop-block and a output block</a:t>
            </a:r>
          </a:p>
          <a:p>
            <a:pPr marL="788950" lvl="2" indent="-262983" algn="just">
              <a:lnSpc>
                <a:spcPts val="4832"/>
              </a:lnSpc>
              <a:buFont typeface="Arial"/>
              <a:buChar char="⚬"/>
            </a:pPr>
            <a:r>
              <a:rPr lang="en-US" sz="3451">
                <a:solidFill>
                  <a:srgbClr val="000000"/>
                </a:solidFill>
                <a:latin typeface="Tex Gyre Termes"/>
              </a:rPr>
              <a:t>The network takes as input a time-series of raw ECG signal, and outputs a sequence of label predictions. </a:t>
            </a:r>
          </a:p>
          <a:p>
            <a:pPr marL="788950" lvl="2" indent="-262983" algn="just">
              <a:lnSpc>
                <a:spcPts val="4832"/>
              </a:lnSpc>
              <a:buFont typeface="Arial"/>
              <a:buChar char="⚬"/>
            </a:pPr>
            <a:r>
              <a:rPr lang="en-US" sz="3451">
                <a:solidFill>
                  <a:srgbClr val="000000"/>
                </a:solidFill>
                <a:latin typeface="Tex Gyre Termes"/>
              </a:rPr>
              <a:t>The 30 second long ECG signal is sampled at 200Hz, and the model outputs a new prediction once every second.</a:t>
            </a:r>
          </a:p>
          <a:p>
            <a:pPr marL="788950" lvl="2" indent="-262983" algn="just">
              <a:lnSpc>
                <a:spcPts val="4832"/>
              </a:lnSpc>
              <a:buFont typeface="Arial"/>
              <a:buChar char="⚬"/>
            </a:pPr>
            <a:r>
              <a:rPr lang="en-US" sz="3451">
                <a:solidFill>
                  <a:srgbClr val="000000"/>
                </a:solidFill>
                <a:latin typeface="Tex Gyre Termes"/>
              </a:rPr>
              <a:t>We arrive at an architecture which is 33 layers of convolution followed by a fully connected layer and a softmax.</a:t>
            </a:r>
          </a:p>
          <a:p>
            <a:pPr marL="788950" lvl="2" indent="-262983" algn="just">
              <a:lnSpc>
                <a:spcPts val="4832"/>
              </a:lnSpc>
            </a:pPr>
            <a:endParaRPr lang="en-US" sz="3451">
              <a:solidFill>
                <a:srgbClr val="000000"/>
              </a:solidFill>
              <a:latin typeface="Tex Gyre Terme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Freeform 2"/>
          <p:cNvSpPr/>
          <p:nvPr/>
        </p:nvSpPr>
        <p:spPr>
          <a:xfrm>
            <a:off x="15387316" y="-1212119"/>
            <a:ext cx="8754474" cy="12979873"/>
          </a:xfrm>
          <a:custGeom>
            <a:avLst/>
            <a:gdLst/>
            <a:ahLst/>
            <a:cxnLst/>
            <a:rect l="l" t="t" r="r" b="b"/>
            <a:pathLst>
              <a:path w="8754474" h="12979873">
                <a:moveTo>
                  <a:pt x="0" y="0"/>
                </a:moveTo>
                <a:lnTo>
                  <a:pt x="8754474" y="0"/>
                </a:lnTo>
                <a:lnTo>
                  <a:pt x="8754474" y="12979873"/>
                </a:lnTo>
                <a:lnTo>
                  <a:pt x="0" y="129798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154145" y="3751896"/>
            <a:ext cx="3623227" cy="8466348"/>
          </a:xfrm>
          <a:custGeom>
            <a:avLst/>
            <a:gdLst/>
            <a:ahLst/>
            <a:cxnLst/>
            <a:rect l="l" t="t" r="r" b="b"/>
            <a:pathLst>
              <a:path w="3623227" h="8466348">
                <a:moveTo>
                  <a:pt x="0" y="0"/>
                </a:moveTo>
                <a:lnTo>
                  <a:pt x="3623227" y="0"/>
                </a:lnTo>
                <a:lnTo>
                  <a:pt x="3623227" y="8466348"/>
                </a:lnTo>
                <a:lnTo>
                  <a:pt x="0" y="84663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5133631" y="-4126598"/>
            <a:ext cx="3676018" cy="8462747"/>
          </a:xfrm>
          <a:custGeom>
            <a:avLst/>
            <a:gdLst/>
            <a:ahLst/>
            <a:cxnLst/>
            <a:rect l="l" t="t" r="r" b="b"/>
            <a:pathLst>
              <a:path w="3676018" h="8462747">
                <a:moveTo>
                  <a:pt x="0" y="0"/>
                </a:moveTo>
                <a:lnTo>
                  <a:pt x="3676019" y="0"/>
                </a:lnTo>
                <a:lnTo>
                  <a:pt x="3676019" y="8462747"/>
                </a:lnTo>
                <a:lnTo>
                  <a:pt x="0" y="846274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485399" y="4452924"/>
            <a:ext cx="8724187" cy="997712"/>
          </a:xfrm>
          <a:prstGeom prst="rect">
            <a:avLst/>
          </a:prstGeom>
        </p:spPr>
        <p:txBody>
          <a:bodyPr lIns="0" tIns="0" rIns="0" bIns="0" rtlCol="0" anchor="t">
            <a:spAutoFit/>
          </a:bodyPr>
          <a:lstStyle/>
          <a:p>
            <a:pPr algn="ctr">
              <a:lnSpc>
                <a:spcPts val="6958"/>
              </a:lnSpc>
            </a:pPr>
            <a:r>
              <a:rPr lang="en-US" sz="4970">
                <a:solidFill>
                  <a:srgbClr val="182D88"/>
                </a:solidFill>
                <a:latin typeface="Arimo Bold"/>
              </a:rPr>
              <a:t>Evaluation of trained model</a:t>
            </a:r>
          </a:p>
        </p:txBody>
      </p:sp>
      <p:sp>
        <p:nvSpPr>
          <p:cNvPr id="6" name="TextBox 6"/>
          <p:cNvSpPr txBox="1"/>
          <p:nvPr/>
        </p:nvSpPr>
        <p:spPr>
          <a:xfrm>
            <a:off x="485399" y="5391962"/>
            <a:ext cx="13992453" cy="4245812"/>
          </a:xfrm>
          <a:prstGeom prst="rect">
            <a:avLst/>
          </a:prstGeom>
        </p:spPr>
        <p:txBody>
          <a:bodyPr lIns="0" tIns="0" rIns="0" bIns="0" rtlCol="0" anchor="t">
            <a:spAutoFit/>
          </a:bodyPr>
          <a:lstStyle/>
          <a:p>
            <a:pPr marL="792813" lvl="2" indent="-264271" algn="just">
              <a:lnSpc>
                <a:spcPts val="4855"/>
              </a:lnSpc>
              <a:buFont typeface="Arial"/>
              <a:buChar char="⚬"/>
            </a:pPr>
            <a:r>
              <a:rPr lang="en-US" sz="3468">
                <a:solidFill>
                  <a:srgbClr val="000000"/>
                </a:solidFill>
                <a:latin typeface="Tex Gyre Termes"/>
              </a:rPr>
              <a:t>The performance of the model is evaluated to assess how well it can classify different types of heartbeats using ECG data. </a:t>
            </a:r>
          </a:p>
          <a:p>
            <a:pPr marL="792813" lvl="2" indent="-264271" algn="just">
              <a:lnSpc>
                <a:spcPts val="4855"/>
              </a:lnSpc>
              <a:buFont typeface="Arial"/>
              <a:buChar char="⚬"/>
            </a:pPr>
            <a:r>
              <a:rPr lang="en-US" sz="3468">
                <a:solidFill>
                  <a:srgbClr val="000000"/>
                </a:solidFill>
                <a:latin typeface="Tex Gyre Termes"/>
              </a:rPr>
              <a:t>After training the model, it is tested using validation data. </a:t>
            </a:r>
          </a:p>
          <a:p>
            <a:pPr marL="792813" lvl="2" indent="-264271" algn="just">
              <a:lnSpc>
                <a:spcPts val="4855"/>
              </a:lnSpc>
              <a:buFont typeface="Arial"/>
              <a:buChar char="⚬"/>
            </a:pPr>
            <a:r>
              <a:rPr lang="en-US" sz="3468">
                <a:solidFill>
                  <a:srgbClr val="000000"/>
                </a:solidFill>
                <a:latin typeface="Tex Gyre Termes"/>
              </a:rPr>
              <a:t>The model predicts the type of each heartbeat, and these predictions are compared to the actual labels. </a:t>
            </a:r>
          </a:p>
          <a:p>
            <a:pPr marL="792813" lvl="2" indent="-264271" algn="just">
              <a:lnSpc>
                <a:spcPts val="4855"/>
              </a:lnSpc>
              <a:buFont typeface="Arial"/>
              <a:buChar char="⚬"/>
            </a:pPr>
            <a:r>
              <a:rPr lang="en-US" sz="3468">
                <a:solidFill>
                  <a:srgbClr val="000000"/>
                </a:solidFill>
                <a:latin typeface="Tex Gyre Termes"/>
              </a:rPr>
              <a:t>Performance metrics like accuracy, precision, recall, and F1-score are calculated to measure how accurately the model classifies the heartbeats.</a:t>
            </a:r>
          </a:p>
        </p:txBody>
      </p:sp>
      <p:sp>
        <p:nvSpPr>
          <p:cNvPr id="7" name="TextBox 7"/>
          <p:cNvSpPr txBox="1"/>
          <p:nvPr/>
        </p:nvSpPr>
        <p:spPr>
          <a:xfrm>
            <a:off x="485399" y="1283594"/>
            <a:ext cx="13668747" cy="2887675"/>
          </a:xfrm>
          <a:prstGeom prst="rect">
            <a:avLst/>
          </a:prstGeom>
        </p:spPr>
        <p:txBody>
          <a:bodyPr lIns="0" tIns="0" rIns="0" bIns="0" rtlCol="0" anchor="t">
            <a:spAutoFit/>
          </a:bodyPr>
          <a:lstStyle/>
          <a:p>
            <a:pPr marL="757375" lvl="2" indent="-252458" algn="just">
              <a:lnSpc>
                <a:spcPts val="4638"/>
              </a:lnSpc>
              <a:buFont typeface="Arial"/>
              <a:buChar char="⚬"/>
            </a:pPr>
            <a:r>
              <a:rPr lang="en-US" sz="3312">
                <a:solidFill>
                  <a:srgbClr val="000000"/>
                </a:solidFill>
                <a:latin typeface="Tex Gyre Termes"/>
              </a:rPr>
              <a:t>A computer model is trained to analyze ECG data and classify different types of heartbeats. </a:t>
            </a:r>
          </a:p>
          <a:p>
            <a:pPr marL="757375" lvl="2" indent="-252458" algn="just">
              <a:lnSpc>
                <a:spcPts val="4638"/>
              </a:lnSpc>
              <a:buFont typeface="Arial"/>
              <a:buChar char="⚬"/>
            </a:pPr>
            <a:r>
              <a:rPr lang="en-US" sz="3312">
                <a:solidFill>
                  <a:srgbClr val="000000"/>
                </a:solidFill>
                <a:latin typeface="Tex Gyre Termes"/>
              </a:rPr>
              <a:t>It takes into account the configuration, splits the data into training and validation sets (if needed), sets up the model and its training parameters, trains the model using the data, and evaluates its performance..</a:t>
            </a:r>
          </a:p>
        </p:txBody>
      </p:sp>
      <p:sp>
        <p:nvSpPr>
          <p:cNvPr id="8" name="TextBox 8"/>
          <p:cNvSpPr txBox="1"/>
          <p:nvPr/>
        </p:nvSpPr>
        <p:spPr>
          <a:xfrm>
            <a:off x="485399" y="421381"/>
            <a:ext cx="6911298" cy="986039"/>
          </a:xfrm>
          <a:prstGeom prst="rect">
            <a:avLst/>
          </a:prstGeom>
        </p:spPr>
        <p:txBody>
          <a:bodyPr lIns="0" tIns="0" rIns="0" bIns="0" rtlCol="0" anchor="t">
            <a:spAutoFit/>
          </a:bodyPr>
          <a:lstStyle/>
          <a:p>
            <a:pPr algn="ctr">
              <a:lnSpc>
                <a:spcPts val="6963"/>
              </a:lnSpc>
            </a:pPr>
            <a:r>
              <a:rPr lang="en-US" sz="4973">
                <a:solidFill>
                  <a:srgbClr val="182D88"/>
                </a:solidFill>
                <a:latin typeface="Arimo Bold"/>
              </a:rPr>
              <a:t>Training and Testing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TextBox 2"/>
          <p:cNvSpPr txBox="1"/>
          <p:nvPr/>
        </p:nvSpPr>
        <p:spPr>
          <a:xfrm>
            <a:off x="12793929" y="8849043"/>
            <a:ext cx="5186773" cy="666114"/>
          </a:xfrm>
          <a:prstGeom prst="rect">
            <a:avLst/>
          </a:prstGeom>
        </p:spPr>
        <p:txBody>
          <a:bodyPr lIns="0" tIns="0" rIns="0" bIns="0" rtlCol="0" anchor="t">
            <a:spAutoFit/>
          </a:bodyPr>
          <a:lstStyle/>
          <a:p>
            <a:pPr algn="r">
              <a:lnSpc>
                <a:spcPts val="4759"/>
              </a:lnSpc>
            </a:pPr>
            <a:r>
              <a:rPr lang="en-US" sz="3400" spc="683">
                <a:solidFill>
                  <a:srgbClr val="FFFFFF"/>
                </a:solidFill>
                <a:latin typeface="Arimo Bold"/>
              </a:rPr>
              <a:t>PAGE 03</a:t>
            </a:r>
          </a:p>
        </p:txBody>
      </p:sp>
      <p:sp>
        <p:nvSpPr>
          <p:cNvPr id="3" name="Freeform 3"/>
          <p:cNvSpPr/>
          <p:nvPr/>
        </p:nvSpPr>
        <p:spPr>
          <a:xfrm>
            <a:off x="-407018" y="9334500"/>
            <a:ext cx="19102035" cy="1360363"/>
          </a:xfrm>
          <a:custGeom>
            <a:avLst/>
            <a:gdLst/>
            <a:ahLst/>
            <a:cxnLst/>
            <a:rect l="l" t="t" r="r" b="b"/>
            <a:pathLst>
              <a:path w="19102035" h="1360363">
                <a:moveTo>
                  <a:pt x="0" y="0"/>
                </a:moveTo>
                <a:lnTo>
                  <a:pt x="19102035" y="0"/>
                </a:lnTo>
                <a:lnTo>
                  <a:pt x="19102035" y="1360363"/>
                </a:lnTo>
                <a:lnTo>
                  <a:pt x="0" y="13603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2009949" y="2139465"/>
            <a:ext cx="12555597" cy="6543058"/>
          </a:xfrm>
          <a:custGeom>
            <a:avLst/>
            <a:gdLst/>
            <a:ahLst/>
            <a:cxnLst/>
            <a:rect l="l" t="t" r="r" b="b"/>
            <a:pathLst>
              <a:path w="12555597" h="6543058">
                <a:moveTo>
                  <a:pt x="0" y="0"/>
                </a:moveTo>
                <a:lnTo>
                  <a:pt x="12555597" y="0"/>
                </a:lnTo>
                <a:lnTo>
                  <a:pt x="12555597" y="6543058"/>
                </a:lnTo>
                <a:lnTo>
                  <a:pt x="0" y="6543058"/>
                </a:lnTo>
                <a:lnTo>
                  <a:pt x="0" y="0"/>
                </a:lnTo>
                <a:close/>
              </a:path>
            </a:pathLst>
          </a:custGeom>
          <a:blipFill>
            <a:blip r:embed="rId4"/>
            <a:stretch>
              <a:fillRect/>
            </a:stretch>
          </a:blipFill>
        </p:spPr>
      </p:sp>
      <p:sp>
        <p:nvSpPr>
          <p:cNvPr id="5" name="TextBox 5"/>
          <p:cNvSpPr txBox="1"/>
          <p:nvPr/>
        </p:nvSpPr>
        <p:spPr>
          <a:xfrm>
            <a:off x="1475598" y="471320"/>
            <a:ext cx="10388355" cy="1020445"/>
          </a:xfrm>
          <a:prstGeom prst="rect">
            <a:avLst/>
          </a:prstGeom>
        </p:spPr>
        <p:txBody>
          <a:bodyPr lIns="0" tIns="0" rIns="0" bIns="0" rtlCol="0" anchor="t">
            <a:spAutoFit/>
          </a:bodyPr>
          <a:lstStyle/>
          <a:p>
            <a:pPr algn="ctr">
              <a:lnSpc>
                <a:spcPts val="7278"/>
              </a:lnSpc>
            </a:pPr>
            <a:r>
              <a:rPr lang="en-US" sz="5198">
                <a:solidFill>
                  <a:srgbClr val="182D88"/>
                </a:solidFill>
                <a:latin typeface="Arimo Bold"/>
              </a:rPr>
              <a:t>Sampled data in csv file format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TextBox 2"/>
          <p:cNvSpPr txBox="1"/>
          <p:nvPr/>
        </p:nvSpPr>
        <p:spPr>
          <a:xfrm>
            <a:off x="12793929" y="8849043"/>
            <a:ext cx="5186773" cy="666114"/>
          </a:xfrm>
          <a:prstGeom prst="rect">
            <a:avLst/>
          </a:prstGeom>
        </p:spPr>
        <p:txBody>
          <a:bodyPr lIns="0" tIns="0" rIns="0" bIns="0" rtlCol="0" anchor="t">
            <a:spAutoFit/>
          </a:bodyPr>
          <a:lstStyle/>
          <a:p>
            <a:pPr algn="r">
              <a:lnSpc>
                <a:spcPts val="4759"/>
              </a:lnSpc>
            </a:pPr>
            <a:r>
              <a:rPr lang="en-US" sz="3400" spc="683">
                <a:solidFill>
                  <a:srgbClr val="FFFFFF"/>
                </a:solidFill>
                <a:latin typeface="Arimo Bold"/>
              </a:rPr>
              <a:t>PAGE 03</a:t>
            </a:r>
          </a:p>
        </p:txBody>
      </p:sp>
      <p:sp>
        <p:nvSpPr>
          <p:cNvPr id="3" name="Freeform 3"/>
          <p:cNvSpPr/>
          <p:nvPr/>
        </p:nvSpPr>
        <p:spPr>
          <a:xfrm>
            <a:off x="-407018" y="9334500"/>
            <a:ext cx="19102035" cy="1360363"/>
          </a:xfrm>
          <a:custGeom>
            <a:avLst/>
            <a:gdLst/>
            <a:ahLst/>
            <a:cxnLst/>
            <a:rect l="l" t="t" r="r" b="b"/>
            <a:pathLst>
              <a:path w="19102035" h="1360363">
                <a:moveTo>
                  <a:pt x="0" y="0"/>
                </a:moveTo>
                <a:lnTo>
                  <a:pt x="19102035" y="0"/>
                </a:lnTo>
                <a:lnTo>
                  <a:pt x="19102035" y="1360363"/>
                </a:lnTo>
                <a:lnTo>
                  <a:pt x="0" y="13603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3182329" y="3340584"/>
            <a:ext cx="11236919" cy="4914523"/>
          </a:xfrm>
          <a:custGeom>
            <a:avLst/>
            <a:gdLst/>
            <a:ahLst/>
            <a:cxnLst/>
            <a:rect l="l" t="t" r="r" b="b"/>
            <a:pathLst>
              <a:path w="11236919" h="4914523">
                <a:moveTo>
                  <a:pt x="0" y="0"/>
                </a:moveTo>
                <a:lnTo>
                  <a:pt x="11236919" y="0"/>
                </a:lnTo>
                <a:lnTo>
                  <a:pt x="11236919" y="4914523"/>
                </a:lnTo>
                <a:lnTo>
                  <a:pt x="0" y="4914523"/>
                </a:lnTo>
                <a:lnTo>
                  <a:pt x="0" y="0"/>
                </a:lnTo>
                <a:close/>
              </a:path>
            </a:pathLst>
          </a:custGeom>
          <a:blipFill>
            <a:blip r:embed="rId4"/>
            <a:stretch>
              <a:fillRect/>
            </a:stretch>
          </a:blipFill>
        </p:spPr>
      </p:sp>
      <p:sp>
        <p:nvSpPr>
          <p:cNvPr id="5" name="TextBox 5"/>
          <p:cNvSpPr txBox="1"/>
          <p:nvPr/>
        </p:nvSpPr>
        <p:spPr>
          <a:xfrm>
            <a:off x="-2328745" y="404177"/>
            <a:ext cx="8724187" cy="1020445"/>
          </a:xfrm>
          <a:prstGeom prst="rect">
            <a:avLst/>
          </a:prstGeom>
        </p:spPr>
        <p:txBody>
          <a:bodyPr lIns="0" tIns="0" rIns="0" bIns="0" rtlCol="0" anchor="t">
            <a:spAutoFit/>
          </a:bodyPr>
          <a:lstStyle/>
          <a:p>
            <a:pPr algn="ctr">
              <a:lnSpc>
                <a:spcPts val="7278"/>
              </a:lnSpc>
            </a:pPr>
            <a:r>
              <a:rPr lang="en-US" sz="5198">
                <a:solidFill>
                  <a:srgbClr val="182D88"/>
                </a:solidFill>
                <a:latin typeface="Arimo Bold"/>
              </a:rPr>
              <a:t>Predictions</a:t>
            </a:r>
          </a:p>
        </p:txBody>
      </p:sp>
      <p:sp>
        <p:nvSpPr>
          <p:cNvPr id="6" name="TextBox 6"/>
          <p:cNvSpPr txBox="1"/>
          <p:nvPr/>
        </p:nvSpPr>
        <p:spPr>
          <a:xfrm>
            <a:off x="367512" y="1471846"/>
            <a:ext cx="17552977" cy="1122402"/>
          </a:xfrm>
          <a:prstGeom prst="rect">
            <a:avLst/>
          </a:prstGeom>
        </p:spPr>
        <p:txBody>
          <a:bodyPr lIns="0" tIns="0" rIns="0" bIns="0" rtlCol="0" anchor="t">
            <a:spAutoFit/>
          </a:bodyPr>
          <a:lstStyle/>
          <a:p>
            <a:pPr algn="l">
              <a:lnSpc>
                <a:spcPts val="4284"/>
              </a:lnSpc>
            </a:pPr>
            <a:r>
              <a:rPr lang="en-US" sz="3060" spc="615">
                <a:solidFill>
                  <a:srgbClr val="000000"/>
                </a:solidFill>
                <a:latin typeface="Tex Gyre Termes"/>
              </a:rPr>
              <a:t>Using the trained model, we can predict and compare the result with its true labels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TextBox 2"/>
          <p:cNvSpPr txBox="1"/>
          <p:nvPr/>
        </p:nvSpPr>
        <p:spPr>
          <a:xfrm>
            <a:off x="12512650" y="8896071"/>
            <a:ext cx="5076256" cy="644222"/>
          </a:xfrm>
          <a:prstGeom prst="rect">
            <a:avLst/>
          </a:prstGeom>
        </p:spPr>
        <p:txBody>
          <a:bodyPr lIns="0" tIns="0" rIns="0" bIns="0" rtlCol="0" anchor="t">
            <a:spAutoFit/>
          </a:bodyPr>
          <a:lstStyle/>
          <a:p>
            <a:pPr algn="r">
              <a:lnSpc>
                <a:spcPts val="4658"/>
              </a:lnSpc>
            </a:pPr>
            <a:r>
              <a:rPr lang="en-US" sz="3327" spc="668">
                <a:solidFill>
                  <a:srgbClr val="FFFFFF"/>
                </a:solidFill>
                <a:latin typeface="Arimo Bold"/>
              </a:rPr>
              <a:t>PAGE 03</a:t>
            </a:r>
          </a:p>
        </p:txBody>
      </p:sp>
      <p:sp>
        <p:nvSpPr>
          <p:cNvPr id="3" name="Freeform 3"/>
          <p:cNvSpPr/>
          <p:nvPr/>
        </p:nvSpPr>
        <p:spPr>
          <a:xfrm>
            <a:off x="-407018" y="9363486"/>
            <a:ext cx="18695018" cy="1331377"/>
          </a:xfrm>
          <a:custGeom>
            <a:avLst/>
            <a:gdLst/>
            <a:ahLst/>
            <a:cxnLst/>
            <a:rect l="l" t="t" r="r" b="b"/>
            <a:pathLst>
              <a:path w="18695018" h="1331377">
                <a:moveTo>
                  <a:pt x="0" y="0"/>
                </a:moveTo>
                <a:lnTo>
                  <a:pt x="18695018" y="0"/>
                </a:lnTo>
                <a:lnTo>
                  <a:pt x="18695018" y="1331377"/>
                </a:lnTo>
                <a:lnTo>
                  <a:pt x="0" y="13313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7909297" y="2815712"/>
            <a:ext cx="9559603" cy="4909290"/>
          </a:xfrm>
          <a:custGeom>
            <a:avLst/>
            <a:gdLst/>
            <a:ahLst/>
            <a:cxnLst/>
            <a:rect l="l" t="t" r="r" b="b"/>
            <a:pathLst>
              <a:path w="9559603" h="4909290">
                <a:moveTo>
                  <a:pt x="0" y="0"/>
                </a:moveTo>
                <a:lnTo>
                  <a:pt x="9559603" y="0"/>
                </a:lnTo>
                <a:lnTo>
                  <a:pt x="9559603" y="4909290"/>
                </a:lnTo>
                <a:lnTo>
                  <a:pt x="0" y="4909290"/>
                </a:lnTo>
                <a:lnTo>
                  <a:pt x="0" y="0"/>
                </a:lnTo>
                <a:close/>
              </a:path>
            </a:pathLst>
          </a:custGeom>
          <a:blipFill>
            <a:blip r:embed="rId4"/>
            <a:stretch>
              <a:fillRect/>
            </a:stretch>
          </a:blipFill>
        </p:spPr>
      </p:sp>
      <p:sp>
        <p:nvSpPr>
          <p:cNvPr id="5" name="TextBox 5"/>
          <p:cNvSpPr txBox="1"/>
          <p:nvPr/>
        </p:nvSpPr>
        <p:spPr>
          <a:xfrm>
            <a:off x="209689" y="9498300"/>
            <a:ext cx="4122115" cy="529397"/>
          </a:xfrm>
          <a:prstGeom prst="rect">
            <a:avLst/>
          </a:prstGeom>
        </p:spPr>
        <p:txBody>
          <a:bodyPr lIns="0" tIns="0" rIns="0" bIns="0" rtlCol="0" anchor="t">
            <a:spAutoFit/>
          </a:bodyPr>
          <a:lstStyle/>
          <a:p>
            <a:pPr algn="l">
              <a:lnSpc>
                <a:spcPts val="3782"/>
              </a:lnSpc>
            </a:pPr>
            <a:r>
              <a:rPr lang="en-US" sz="2701" spc="542">
                <a:solidFill>
                  <a:srgbClr val="FFFFFF"/>
                </a:solidFill>
                <a:latin typeface="Arimo Bold"/>
              </a:rPr>
              <a:t>PAGE 27</a:t>
            </a:r>
          </a:p>
        </p:txBody>
      </p:sp>
      <p:sp>
        <p:nvSpPr>
          <p:cNvPr id="6" name="TextBox 6"/>
          <p:cNvSpPr txBox="1"/>
          <p:nvPr/>
        </p:nvSpPr>
        <p:spPr>
          <a:xfrm>
            <a:off x="209689" y="998972"/>
            <a:ext cx="8538296" cy="1010662"/>
          </a:xfrm>
          <a:prstGeom prst="rect">
            <a:avLst/>
          </a:prstGeom>
        </p:spPr>
        <p:txBody>
          <a:bodyPr lIns="0" tIns="0" rIns="0" bIns="0" rtlCol="0" anchor="t">
            <a:spAutoFit/>
          </a:bodyPr>
          <a:lstStyle/>
          <a:p>
            <a:pPr algn="ctr">
              <a:lnSpc>
                <a:spcPts val="7123"/>
              </a:lnSpc>
            </a:pPr>
            <a:r>
              <a:rPr lang="en-US" sz="5088" dirty="0">
                <a:solidFill>
                  <a:srgbClr val="182D88"/>
                </a:solidFill>
                <a:latin typeface="Arimo Bold"/>
              </a:rPr>
              <a:t>Deployment Using Flask</a:t>
            </a:r>
          </a:p>
        </p:txBody>
      </p:sp>
      <p:sp>
        <p:nvSpPr>
          <p:cNvPr id="7" name="TextBox 7"/>
          <p:cNvSpPr txBox="1"/>
          <p:nvPr/>
        </p:nvSpPr>
        <p:spPr>
          <a:xfrm>
            <a:off x="754312" y="2099608"/>
            <a:ext cx="7154985" cy="7337092"/>
          </a:xfrm>
          <a:prstGeom prst="rect">
            <a:avLst/>
          </a:prstGeom>
        </p:spPr>
        <p:txBody>
          <a:bodyPr lIns="0" tIns="0" rIns="0" bIns="0" rtlCol="0" anchor="t">
            <a:spAutoFit/>
          </a:bodyPr>
          <a:lstStyle/>
          <a:p>
            <a:pPr marL="590645" lvl="2" indent="-196882" algn="l">
              <a:lnSpc>
                <a:spcPts val="3617"/>
              </a:lnSpc>
              <a:buFont typeface="Arial"/>
              <a:buChar char="⚬"/>
            </a:pPr>
            <a:r>
              <a:rPr lang="en-US" sz="2583" spc="518">
                <a:solidFill>
                  <a:srgbClr val="000000"/>
                </a:solidFill>
                <a:latin typeface="Tex Gyre Termes"/>
              </a:rPr>
              <a:t>In the image, the signals have 57 peaks, and the signal of each peak was estimated by the trained model. </a:t>
            </a:r>
          </a:p>
          <a:p>
            <a:pPr marL="590645" lvl="2" indent="-196882" algn="l">
              <a:lnSpc>
                <a:spcPts val="3617"/>
              </a:lnSpc>
              <a:buFont typeface="Arial"/>
              <a:buChar char="⚬"/>
            </a:pPr>
            <a:r>
              <a:rPr lang="en-US" sz="2583" spc="518">
                <a:solidFill>
                  <a:srgbClr val="000000"/>
                </a:solidFill>
                <a:latin typeface="Tex Gyre Termes"/>
              </a:rPr>
              <a:t>Then the whole signals consists of 27 normal beats, 6 venticular beats, 2 atrial beats, and 22 noises signals. </a:t>
            </a:r>
          </a:p>
          <a:p>
            <a:pPr marL="590645" lvl="2" indent="-196882" algn="l">
              <a:lnSpc>
                <a:spcPts val="3617"/>
              </a:lnSpc>
              <a:buFont typeface="Arial"/>
              <a:buChar char="⚬"/>
            </a:pPr>
            <a:r>
              <a:rPr lang="en-US" sz="2583" spc="518">
                <a:solidFill>
                  <a:srgbClr val="000000"/>
                </a:solidFill>
                <a:latin typeface="Tex Gyre Termes"/>
              </a:rPr>
              <a:t>If the signals represent noise, the most of the signals should have been estimated as noise.</a:t>
            </a:r>
          </a:p>
          <a:p>
            <a:pPr marL="590645" lvl="2" indent="-196882" algn="l">
              <a:lnSpc>
                <a:spcPts val="3617"/>
              </a:lnSpc>
              <a:buFont typeface="Arial"/>
              <a:buChar char="⚬"/>
            </a:pPr>
            <a:r>
              <a:rPr lang="en-US" sz="2583" spc="518">
                <a:solidFill>
                  <a:srgbClr val="000000"/>
                </a:solidFill>
                <a:latin typeface="Tex Gyre Termes"/>
              </a:rPr>
              <a:t> Then, the patient with the signals must be healthy or possibly have venticular contraction.</a:t>
            </a:r>
          </a:p>
          <a:p>
            <a:pPr marL="590645" lvl="2" indent="-196882" algn="l">
              <a:lnSpc>
                <a:spcPts val="3617"/>
              </a:lnSpc>
            </a:pPr>
            <a:endParaRPr lang="en-US" sz="2583" spc="518">
              <a:solidFill>
                <a:srgbClr val="000000"/>
              </a:solidFill>
              <a:latin typeface="Tex Gyre Terme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TextBox 2"/>
          <p:cNvSpPr txBox="1"/>
          <p:nvPr/>
        </p:nvSpPr>
        <p:spPr>
          <a:xfrm>
            <a:off x="12512650" y="8896071"/>
            <a:ext cx="5076256" cy="644222"/>
          </a:xfrm>
          <a:prstGeom prst="rect">
            <a:avLst/>
          </a:prstGeom>
        </p:spPr>
        <p:txBody>
          <a:bodyPr lIns="0" tIns="0" rIns="0" bIns="0" rtlCol="0" anchor="t">
            <a:spAutoFit/>
          </a:bodyPr>
          <a:lstStyle/>
          <a:p>
            <a:pPr algn="r">
              <a:lnSpc>
                <a:spcPts val="4658"/>
              </a:lnSpc>
            </a:pPr>
            <a:r>
              <a:rPr lang="en-US" sz="3327" spc="668">
                <a:solidFill>
                  <a:srgbClr val="FFFFFF"/>
                </a:solidFill>
                <a:latin typeface="Arimo Bold"/>
              </a:rPr>
              <a:t>PAGE 03</a:t>
            </a:r>
          </a:p>
        </p:txBody>
      </p:sp>
      <p:sp>
        <p:nvSpPr>
          <p:cNvPr id="3" name="Freeform 3"/>
          <p:cNvSpPr/>
          <p:nvPr/>
        </p:nvSpPr>
        <p:spPr>
          <a:xfrm>
            <a:off x="-407018" y="9363486"/>
            <a:ext cx="18695018" cy="1331377"/>
          </a:xfrm>
          <a:custGeom>
            <a:avLst/>
            <a:gdLst/>
            <a:ahLst/>
            <a:cxnLst/>
            <a:rect l="l" t="t" r="r" b="b"/>
            <a:pathLst>
              <a:path w="18695018" h="1331377">
                <a:moveTo>
                  <a:pt x="0" y="0"/>
                </a:moveTo>
                <a:lnTo>
                  <a:pt x="18695018" y="0"/>
                </a:lnTo>
                <a:lnTo>
                  <a:pt x="18695018" y="1331377"/>
                </a:lnTo>
                <a:lnTo>
                  <a:pt x="0" y="13313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209689" y="9498300"/>
            <a:ext cx="4122115" cy="444352"/>
          </a:xfrm>
          <a:prstGeom prst="rect">
            <a:avLst/>
          </a:prstGeom>
        </p:spPr>
        <p:txBody>
          <a:bodyPr lIns="0" tIns="0" rIns="0" bIns="0" rtlCol="0" anchor="t">
            <a:spAutoFit/>
          </a:bodyPr>
          <a:lstStyle/>
          <a:p>
            <a:pPr algn="l">
              <a:lnSpc>
                <a:spcPts val="3782"/>
              </a:lnSpc>
            </a:pPr>
            <a:r>
              <a:rPr lang="en-US" sz="2701" spc="542" dirty="0">
                <a:solidFill>
                  <a:srgbClr val="FFFFFF"/>
                </a:solidFill>
                <a:latin typeface="Arimo Bold"/>
              </a:rPr>
              <a:t>PAGE 28</a:t>
            </a:r>
          </a:p>
        </p:txBody>
      </p:sp>
      <p:pic>
        <p:nvPicPr>
          <p:cNvPr id="9" name="Picture 8">
            <a:extLst>
              <a:ext uri="{FF2B5EF4-FFF2-40B4-BE49-F238E27FC236}">
                <a16:creationId xmlns:a16="http://schemas.microsoft.com/office/drawing/2014/main" id="{9443A82C-3CA6-B891-FB35-851B40D625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65308" y="6705971"/>
            <a:ext cx="4183743" cy="1028789"/>
          </a:xfrm>
          <a:prstGeom prst="rect">
            <a:avLst/>
          </a:prstGeom>
        </p:spPr>
      </p:pic>
      <p:pic>
        <p:nvPicPr>
          <p:cNvPr id="11" name="Picture 10">
            <a:extLst>
              <a:ext uri="{FF2B5EF4-FFF2-40B4-BE49-F238E27FC236}">
                <a16:creationId xmlns:a16="http://schemas.microsoft.com/office/drawing/2014/main" id="{BC8A8234-1E7F-391B-21AD-815EFD8412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87072" y="6842753"/>
            <a:ext cx="4900085" cy="922100"/>
          </a:xfrm>
          <a:prstGeom prst="rect">
            <a:avLst/>
          </a:prstGeom>
        </p:spPr>
      </p:pic>
      <p:pic>
        <p:nvPicPr>
          <p:cNvPr id="13" name="Picture 12">
            <a:extLst>
              <a:ext uri="{FF2B5EF4-FFF2-40B4-BE49-F238E27FC236}">
                <a16:creationId xmlns:a16="http://schemas.microsoft.com/office/drawing/2014/main" id="{2A382596-E97D-CAF3-D19F-62D4CEF721D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87072" y="5225008"/>
            <a:ext cx="4900085" cy="876376"/>
          </a:xfrm>
          <a:prstGeom prst="rect">
            <a:avLst/>
          </a:prstGeom>
        </p:spPr>
      </p:pic>
      <p:pic>
        <p:nvPicPr>
          <p:cNvPr id="15" name="Picture 14">
            <a:extLst>
              <a:ext uri="{FF2B5EF4-FFF2-40B4-BE49-F238E27FC236}">
                <a16:creationId xmlns:a16="http://schemas.microsoft.com/office/drawing/2014/main" id="{BDB86887-04DF-7431-AC80-396B66B3FEC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72000" y="2829952"/>
            <a:ext cx="7430144" cy="1691787"/>
          </a:xfrm>
          <a:prstGeom prst="rect">
            <a:avLst/>
          </a:prstGeom>
        </p:spPr>
      </p:pic>
      <p:pic>
        <p:nvPicPr>
          <p:cNvPr id="17" name="Picture 16">
            <a:extLst>
              <a:ext uri="{FF2B5EF4-FFF2-40B4-BE49-F238E27FC236}">
                <a16:creationId xmlns:a16="http://schemas.microsoft.com/office/drawing/2014/main" id="{124421E1-4D93-9717-E4F8-3E16EC0212D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565308" y="5225008"/>
            <a:ext cx="4000847" cy="1013548"/>
          </a:xfrm>
          <a:prstGeom prst="rect">
            <a:avLst/>
          </a:prstGeom>
        </p:spPr>
      </p:pic>
      <p:sp>
        <p:nvSpPr>
          <p:cNvPr id="19" name="TextBox 18">
            <a:extLst>
              <a:ext uri="{FF2B5EF4-FFF2-40B4-BE49-F238E27FC236}">
                <a16:creationId xmlns:a16="http://schemas.microsoft.com/office/drawing/2014/main" id="{86B82A11-2D87-6453-2CB7-6407B83002A6}"/>
              </a:ext>
            </a:extLst>
          </p:cNvPr>
          <p:cNvSpPr txBox="1"/>
          <p:nvPr/>
        </p:nvSpPr>
        <p:spPr>
          <a:xfrm>
            <a:off x="2514600" y="833261"/>
            <a:ext cx="9350476" cy="891975"/>
          </a:xfrm>
          <a:prstGeom prst="rect">
            <a:avLst/>
          </a:prstGeom>
          <a:noFill/>
        </p:spPr>
        <p:txBody>
          <a:bodyPr wrap="square">
            <a:spAutoFit/>
          </a:bodyPr>
          <a:lstStyle/>
          <a:p>
            <a:pPr algn="ctr">
              <a:lnSpc>
                <a:spcPts val="7123"/>
              </a:lnSpc>
            </a:pPr>
            <a:r>
              <a:rPr lang="en-US" sz="4000" dirty="0">
                <a:solidFill>
                  <a:srgbClr val="182D88"/>
                </a:solidFill>
                <a:latin typeface="Arimo Bold"/>
              </a:rPr>
              <a:t>Results</a:t>
            </a:r>
          </a:p>
        </p:txBody>
      </p:sp>
    </p:spTree>
    <p:extLst>
      <p:ext uri="{BB962C8B-B14F-4D97-AF65-F5344CB8AC3E}">
        <p14:creationId xmlns:p14="http://schemas.microsoft.com/office/powerpoint/2010/main" val="5541592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3" name="TextBox 3"/>
          <p:cNvSpPr txBox="1"/>
          <p:nvPr/>
        </p:nvSpPr>
        <p:spPr>
          <a:xfrm>
            <a:off x="15074900" y="8305522"/>
            <a:ext cx="2184400" cy="582514"/>
          </a:xfrm>
          <a:prstGeom prst="rect">
            <a:avLst/>
          </a:prstGeom>
        </p:spPr>
        <p:txBody>
          <a:bodyPr lIns="0" tIns="0" rIns="0" bIns="0" rtlCol="0" anchor="t">
            <a:spAutoFit/>
          </a:bodyPr>
          <a:lstStyle/>
          <a:p>
            <a:pPr algn="r">
              <a:lnSpc>
                <a:spcPts val="4116"/>
              </a:lnSpc>
            </a:pPr>
            <a:r>
              <a:rPr lang="en-US" sz="2940" spc="590">
                <a:solidFill>
                  <a:srgbClr val="FFFFFF"/>
                </a:solidFill>
                <a:latin typeface="Arimo Bold"/>
              </a:rPr>
              <a:t>PAGE 28</a:t>
            </a:r>
          </a:p>
        </p:txBody>
      </p:sp>
      <p:sp>
        <p:nvSpPr>
          <p:cNvPr id="4" name="TextBox 4"/>
          <p:cNvSpPr txBox="1"/>
          <p:nvPr/>
        </p:nvSpPr>
        <p:spPr>
          <a:xfrm>
            <a:off x="3139393" y="129927"/>
            <a:ext cx="11212093" cy="898773"/>
          </a:xfrm>
          <a:prstGeom prst="rect">
            <a:avLst/>
          </a:prstGeom>
        </p:spPr>
        <p:txBody>
          <a:bodyPr lIns="0" tIns="0" rIns="0" bIns="0" rtlCol="0" anchor="t">
            <a:spAutoFit/>
          </a:bodyPr>
          <a:lstStyle/>
          <a:p>
            <a:pPr algn="ctr">
              <a:lnSpc>
                <a:spcPts val="7123"/>
              </a:lnSpc>
            </a:pPr>
            <a:r>
              <a:rPr lang="en-US" sz="5088">
                <a:solidFill>
                  <a:srgbClr val="182D88"/>
                </a:solidFill>
                <a:latin typeface="Arimo Bold"/>
              </a:rPr>
              <a:t>PROJECT ACTIVITIES TIMELINE</a:t>
            </a:r>
          </a:p>
        </p:txBody>
      </p:sp>
      <p:pic>
        <p:nvPicPr>
          <p:cNvPr id="6" name="Picture 5">
            <a:extLst>
              <a:ext uri="{FF2B5EF4-FFF2-40B4-BE49-F238E27FC236}">
                <a16:creationId xmlns:a16="http://schemas.microsoft.com/office/drawing/2014/main" id="{5865CFCC-7694-5C25-CBAC-4720791942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700" y="1181100"/>
            <a:ext cx="15201900" cy="8382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sp>
        <p:nvSpPr>
          <p:cNvPr id="2" name="TextBox 2"/>
          <p:cNvSpPr txBox="1"/>
          <p:nvPr/>
        </p:nvSpPr>
        <p:spPr>
          <a:xfrm>
            <a:off x="1028700" y="2386823"/>
            <a:ext cx="16230600" cy="6067430"/>
          </a:xfrm>
          <a:prstGeom prst="rect">
            <a:avLst/>
          </a:prstGeom>
        </p:spPr>
        <p:txBody>
          <a:bodyPr lIns="0" tIns="0" rIns="0" bIns="0" rtlCol="0" anchor="t">
            <a:spAutoFit/>
          </a:bodyPr>
          <a:lstStyle/>
          <a:p>
            <a:pPr algn="just">
              <a:lnSpc>
                <a:spcPts val="2793"/>
              </a:lnSpc>
            </a:pPr>
            <a:r>
              <a:rPr lang="en-US" sz="1814" dirty="0">
                <a:solidFill>
                  <a:srgbClr val="000000"/>
                </a:solidFill>
                <a:latin typeface="Arimo"/>
              </a:rPr>
              <a:t>[1] Genetic algorithm for the optimization of features </a:t>
            </a:r>
            <a:r>
              <a:rPr lang="en-US" sz="1814" dirty="0" err="1">
                <a:solidFill>
                  <a:srgbClr val="000000"/>
                </a:solidFill>
                <a:latin typeface="Arimo"/>
              </a:rPr>
              <a:t>andneural</a:t>
            </a:r>
            <a:r>
              <a:rPr lang="en-US" sz="1814" dirty="0">
                <a:solidFill>
                  <a:srgbClr val="000000"/>
                </a:solidFill>
                <a:latin typeface="Arimo"/>
              </a:rPr>
              <a:t> networks in ECG signals </a:t>
            </a:r>
            <a:r>
              <a:rPr lang="en-US" sz="1814" dirty="0" err="1">
                <a:solidFill>
                  <a:srgbClr val="000000"/>
                </a:solidFill>
                <a:latin typeface="Arimo"/>
              </a:rPr>
              <a:t>classificationHongqiang</a:t>
            </a:r>
            <a:r>
              <a:rPr lang="en-US" sz="1814" dirty="0">
                <a:solidFill>
                  <a:srgbClr val="000000"/>
                </a:solidFill>
                <a:latin typeface="Arimo"/>
              </a:rPr>
              <a:t> Li1, DanyangYuan1, </a:t>
            </a:r>
            <a:r>
              <a:rPr lang="en-US" sz="1814" dirty="0" err="1">
                <a:solidFill>
                  <a:srgbClr val="000000"/>
                </a:solidFill>
                <a:latin typeface="Arimo"/>
              </a:rPr>
              <a:t>Xiangdong</a:t>
            </a:r>
            <a:r>
              <a:rPr lang="en-US" sz="1814" dirty="0">
                <a:solidFill>
                  <a:srgbClr val="000000"/>
                </a:solidFill>
                <a:latin typeface="Arimo"/>
              </a:rPr>
              <a:t> Ma1, DianyinCui1 &amp; Lu Cao2</a:t>
            </a:r>
          </a:p>
          <a:p>
            <a:pPr algn="just">
              <a:lnSpc>
                <a:spcPts val="2793"/>
              </a:lnSpc>
            </a:pPr>
            <a:r>
              <a:rPr lang="en-US" sz="1814" dirty="0">
                <a:solidFill>
                  <a:srgbClr val="000000"/>
                </a:solidFill>
                <a:latin typeface="Arimo"/>
              </a:rPr>
              <a:t>[2] Heartbeat classification system based on neural networks and dimensionality reduction Rodolfo de Figueiredo Dalvi*, Gabriel </a:t>
            </a:r>
            <a:r>
              <a:rPr lang="en-US" sz="1814" dirty="0" err="1">
                <a:solidFill>
                  <a:srgbClr val="000000"/>
                </a:solidFill>
                <a:latin typeface="Arimo"/>
              </a:rPr>
              <a:t>Tozatto</a:t>
            </a:r>
            <a:r>
              <a:rPr lang="en-US" sz="1814" dirty="0">
                <a:solidFill>
                  <a:srgbClr val="000000"/>
                </a:solidFill>
                <a:latin typeface="Arimo"/>
              </a:rPr>
              <a:t> </a:t>
            </a:r>
            <a:r>
              <a:rPr lang="en-US" sz="1814" dirty="0" err="1">
                <a:solidFill>
                  <a:srgbClr val="000000"/>
                </a:solidFill>
                <a:latin typeface="Arimo"/>
              </a:rPr>
              <a:t>Zago</a:t>
            </a:r>
            <a:r>
              <a:rPr lang="en-US" sz="1814" dirty="0">
                <a:solidFill>
                  <a:srgbClr val="000000"/>
                </a:solidFill>
                <a:latin typeface="Arimo"/>
              </a:rPr>
              <a:t>, Rodrigo </a:t>
            </a:r>
            <a:r>
              <a:rPr lang="en-US" sz="1814" dirty="0" err="1">
                <a:solidFill>
                  <a:srgbClr val="000000"/>
                </a:solidFill>
                <a:latin typeface="Arimo"/>
              </a:rPr>
              <a:t>Varejão</a:t>
            </a:r>
            <a:r>
              <a:rPr lang="en-US" sz="1814" dirty="0">
                <a:solidFill>
                  <a:srgbClr val="000000"/>
                </a:solidFill>
                <a:latin typeface="Arimo"/>
              </a:rPr>
              <a:t> </a:t>
            </a:r>
            <a:r>
              <a:rPr lang="en-US" sz="1814" dirty="0" err="1">
                <a:solidFill>
                  <a:srgbClr val="000000"/>
                </a:solidFill>
                <a:latin typeface="Arimo"/>
              </a:rPr>
              <a:t>Andreão</a:t>
            </a:r>
            <a:endParaRPr lang="en-US" sz="1814" dirty="0">
              <a:solidFill>
                <a:srgbClr val="000000"/>
              </a:solidFill>
              <a:latin typeface="Arimo"/>
            </a:endParaRPr>
          </a:p>
          <a:p>
            <a:pPr algn="just">
              <a:lnSpc>
                <a:spcPts val="2793"/>
              </a:lnSpc>
            </a:pPr>
            <a:r>
              <a:rPr lang="en-US" sz="1814" dirty="0">
                <a:solidFill>
                  <a:srgbClr val="000000"/>
                </a:solidFill>
                <a:latin typeface="Arimo"/>
              </a:rPr>
              <a:t>[3] Machine Learning from Theory to Algorithms: An Overview To cite this article: Jafar </a:t>
            </a:r>
            <a:r>
              <a:rPr lang="en-US" sz="1814" dirty="0" err="1">
                <a:solidFill>
                  <a:srgbClr val="000000"/>
                </a:solidFill>
                <a:latin typeface="Arimo"/>
              </a:rPr>
              <a:t>Alzubi</a:t>
            </a:r>
            <a:r>
              <a:rPr lang="en-US" sz="1814" dirty="0">
                <a:solidFill>
                  <a:srgbClr val="000000"/>
                </a:solidFill>
                <a:latin typeface="Arimo"/>
              </a:rPr>
              <a:t> et al 2018 J. Phys.: Conf. Ser. 1142 012012 </a:t>
            </a:r>
          </a:p>
          <a:p>
            <a:pPr algn="just">
              <a:lnSpc>
                <a:spcPts val="2793"/>
              </a:lnSpc>
            </a:pPr>
            <a:r>
              <a:rPr lang="en-US" sz="1814" dirty="0">
                <a:solidFill>
                  <a:srgbClr val="000000"/>
                </a:solidFill>
                <a:latin typeface="Arimo"/>
              </a:rPr>
              <a:t>[4] Revealing Real-Time Emotional Responses: a Personalized Assessment based on Heartbeat </a:t>
            </a:r>
            <a:r>
              <a:rPr lang="en-US" sz="1814" dirty="0" err="1">
                <a:solidFill>
                  <a:srgbClr val="000000"/>
                </a:solidFill>
                <a:latin typeface="Arimo"/>
              </a:rPr>
              <a:t>DynamicsGaetano</a:t>
            </a:r>
            <a:r>
              <a:rPr lang="en-US" sz="1814" dirty="0">
                <a:solidFill>
                  <a:srgbClr val="000000"/>
                </a:solidFill>
                <a:latin typeface="Arimo"/>
              </a:rPr>
              <a:t> Valenza1,2,3, Luca Citi1,2,4, Antonio </a:t>
            </a:r>
            <a:r>
              <a:rPr lang="en-US" sz="1814" dirty="0" err="1">
                <a:solidFill>
                  <a:srgbClr val="000000"/>
                </a:solidFill>
                <a:latin typeface="Arimo"/>
              </a:rPr>
              <a:t>Lanata</a:t>
            </a:r>
            <a:r>
              <a:rPr lang="en-US" sz="1814" dirty="0">
                <a:solidFill>
                  <a:srgbClr val="000000"/>
                </a:solidFill>
                <a:latin typeface="Arimo"/>
              </a:rPr>
              <a:t> ́ 3, Enzo Pasquale Scilingo3 &amp; Riccardo Barbieri1,2</a:t>
            </a:r>
          </a:p>
          <a:p>
            <a:pPr algn="just">
              <a:lnSpc>
                <a:spcPts val="2793"/>
              </a:lnSpc>
            </a:pPr>
            <a:r>
              <a:rPr lang="en-US" sz="1814" dirty="0">
                <a:solidFill>
                  <a:srgbClr val="000000"/>
                </a:solidFill>
                <a:latin typeface="Arimo"/>
              </a:rPr>
              <a:t>[5] Understanding and using sensitivity, </a:t>
            </a:r>
            <a:r>
              <a:rPr lang="en-US" sz="1814" dirty="0" err="1">
                <a:solidFill>
                  <a:srgbClr val="000000"/>
                </a:solidFill>
                <a:latin typeface="Arimo"/>
              </a:rPr>
              <a:t>specifi</a:t>
            </a:r>
            <a:r>
              <a:rPr lang="en-US" sz="1814" dirty="0">
                <a:solidFill>
                  <a:srgbClr val="000000"/>
                </a:solidFill>
                <a:latin typeface="Arimo"/>
              </a:rPr>
              <a:t> city and predictive values Rajul Parikh, MS; Annie Mathai, MS; Shefali Parikh, MD; G Chandra Sekhar, MD; Ravi Thomas, MD</a:t>
            </a:r>
          </a:p>
          <a:p>
            <a:pPr algn="just">
              <a:lnSpc>
                <a:spcPts val="2793"/>
              </a:lnSpc>
            </a:pPr>
            <a:r>
              <a:rPr lang="en-US" sz="1814" dirty="0">
                <a:solidFill>
                  <a:srgbClr val="000000"/>
                </a:solidFill>
                <a:latin typeface="Arimo"/>
              </a:rPr>
              <a:t>[6] Using Hidden Markov Models and Spark to Mine ECG Data Jamie O’Brien Saint </a:t>
            </a:r>
            <a:r>
              <a:rPr lang="en-US" sz="1814" dirty="0" err="1">
                <a:solidFill>
                  <a:srgbClr val="000000"/>
                </a:solidFill>
                <a:latin typeface="Arimo"/>
              </a:rPr>
              <a:t>Mary’sCollege</a:t>
            </a:r>
            <a:r>
              <a:rPr lang="en-US" sz="1814" dirty="0">
                <a:solidFill>
                  <a:srgbClr val="000000"/>
                </a:solidFill>
                <a:latin typeface="Arimo"/>
              </a:rPr>
              <a:t> of Maryland St. Mary’s City, Maryland</a:t>
            </a:r>
          </a:p>
          <a:p>
            <a:pPr algn="just">
              <a:lnSpc>
                <a:spcPts val="2793"/>
              </a:lnSpc>
            </a:pPr>
            <a:r>
              <a:rPr lang="en-US" sz="1814" dirty="0">
                <a:solidFill>
                  <a:srgbClr val="000000"/>
                </a:solidFill>
                <a:latin typeface="Arimo"/>
              </a:rPr>
              <a:t>[7] </a:t>
            </a:r>
            <a:r>
              <a:rPr lang="en-US" sz="1814" dirty="0" err="1">
                <a:solidFill>
                  <a:srgbClr val="000000"/>
                </a:solidFill>
                <a:latin typeface="Arimo"/>
              </a:rPr>
              <a:t>Schläpfer</a:t>
            </a:r>
            <a:r>
              <a:rPr lang="en-US" sz="1814" dirty="0">
                <a:solidFill>
                  <a:srgbClr val="000000"/>
                </a:solidFill>
                <a:latin typeface="Arimo"/>
              </a:rPr>
              <a:t>, J. &amp; Wellens, H. J. Computer-interpreted electrocardiograms: benefits and limitations. J. Am. Coll. </a:t>
            </a:r>
            <a:r>
              <a:rPr lang="en-US" sz="1814" dirty="0" err="1">
                <a:solidFill>
                  <a:srgbClr val="000000"/>
                </a:solidFill>
                <a:latin typeface="Arimo"/>
              </a:rPr>
              <a:t>Cardiol</a:t>
            </a:r>
            <a:r>
              <a:rPr lang="en-US" sz="1814" dirty="0">
                <a:solidFill>
                  <a:srgbClr val="000000"/>
                </a:solidFill>
                <a:latin typeface="Arimo"/>
              </a:rPr>
              <a:t>. 70, 1183–1192 (2017). </a:t>
            </a:r>
          </a:p>
          <a:p>
            <a:pPr algn="just">
              <a:lnSpc>
                <a:spcPts val="2793"/>
              </a:lnSpc>
            </a:pPr>
            <a:r>
              <a:rPr lang="en-US" sz="1814" dirty="0">
                <a:solidFill>
                  <a:srgbClr val="000000"/>
                </a:solidFill>
                <a:latin typeface="Arimo"/>
              </a:rPr>
              <a:t>[8] Holst, H., Ohlsson, M., Peterson, C. &amp; </a:t>
            </a:r>
            <a:r>
              <a:rPr lang="en-US" sz="1814" dirty="0" err="1">
                <a:solidFill>
                  <a:srgbClr val="000000"/>
                </a:solidFill>
                <a:latin typeface="Arimo"/>
              </a:rPr>
              <a:t>Edenbrandt</a:t>
            </a:r>
            <a:r>
              <a:rPr lang="en-US" sz="1814" dirty="0">
                <a:solidFill>
                  <a:srgbClr val="000000"/>
                </a:solidFill>
                <a:latin typeface="Arimo"/>
              </a:rPr>
              <a:t>, L. A confident decision support system for interpreting electrocardiograms. Clin. Physiol. 19, 410–418 </a:t>
            </a:r>
          </a:p>
          <a:p>
            <a:pPr algn="just">
              <a:lnSpc>
                <a:spcPts val="2793"/>
              </a:lnSpc>
            </a:pPr>
            <a:r>
              <a:rPr lang="en-US" sz="1814" dirty="0">
                <a:solidFill>
                  <a:srgbClr val="000000"/>
                </a:solidFill>
                <a:latin typeface="Arimo"/>
              </a:rPr>
              <a:t>[9] </a:t>
            </a:r>
            <a:r>
              <a:rPr lang="en-US" sz="1814" dirty="0" err="1">
                <a:solidFill>
                  <a:srgbClr val="000000"/>
                </a:solidFill>
                <a:latin typeface="Arimo"/>
              </a:rPr>
              <a:t>Schlant</a:t>
            </a:r>
            <a:r>
              <a:rPr lang="en-US" sz="1814" dirty="0">
                <a:solidFill>
                  <a:srgbClr val="000000"/>
                </a:solidFill>
                <a:latin typeface="Arimo"/>
              </a:rPr>
              <a:t>, R. C. et al. Guidelines for electrocardiography. A report of the American College of Cardiology/American Heart Association Task Force on assessment of diagnostic and therapeutic cardiovascular procedures (Committee on Electrocardiography). J. Am. Coll. </a:t>
            </a:r>
            <a:r>
              <a:rPr lang="en-US" sz="1814" dirty="0" err="1">
                <a:solidFill>
                  <a:srgbClr val="000000"/>
                </a:solidFill>
                <a:latin typeface="Arimo"/>
              </a:rPr>
              <a:t>Cardiol</a:t>
            </a:r>
            <a:r>
              <a:rPr lang="en-US" sz="1814" dirty="0">
                <a:solidFill>
                  <a:srgbClr val="000000"/>
                </a:solidFill>
                <a:latin typeface="Arimo"/>
              </a:rPr>
              <a:t>. 19, 473–481 (1992). </a:t>
            </a:r>
          </a:p>
          <a:p>
            <a:pPr algn="just">
              <a:lnSpc>
                <a:spcPts val="2793"/>
              </a:lnSpc>
            </a:pPr>
            <a:r>
              <a:rPr lang="en-US" sz="1814" dirty="0">
                <a:solidFill>
                  <a:srgbClr val="000000"/>
                </a:solidFill>
                <a:latin typeface="Arimo"/>
              </a:rPr>
              <a:t>[10] </a:t>
            </a:r>
            <a:r>
              <a:rPr lang="en-US" sz="1814" dirty="0" err="1">
                <a:solidFill>
                  <a:srgbClr val="000000"/>
                </a:solidFill>
                <a:latin typeface="Arimo"/>
              </a:rPr>
              <a:t>Sannino</a:t>
            </a:r>
            <a:r>
              <a:rPr lang="en-US" sz="1814" dirty="0">
                <a:solidFill>
                  <a:srgbClr val="000000"/>
                </a:solidFill>
                <a:latin typeface="Arimo"/>
              </a:rPr>
              <a:t> G, De Pietro G. A deep learning approach for ECG-based heartbeat </a:t>
            </a:r>
            <a:r>
              <a:rPr lang="en-US" sz="1814" dirty="0" err="1">
                <a:solidFill>
                  <a:srgbClr val="000000"/>
                </a:solidFill>
                <a:latin typeface="Arimo"/>
              </a:rPr>
              <a:t>classifcation</a:t>
            </a:r>
            <a:r>
              <a:rPr lang="en-US" sz="1814" dirty="0">
                <a:solidFill>
                  <a:srgbClr val="000000"/>
                </a:solidFill>
                <a:latin typeface="Arimo"/>
              </a:rPr>
              <a:t> for arrhythmia </a:t>
            </a:r>
            <a:r>
              <a:rPr lang="en-US" sz="1814" dirty="0" err="1">
                <a:solidFill>
                  <a:srgbClr val="000000"/>
                </a:solidFill>
                <a:latin typeface="Arimo"/>
              </a:rPr>
              <a:t>detection.Fut</a:t>
            </a:r>
            <a:r>
              <a:rPr lang="en-US" sz="1814" dirty="0">
                <a:solidFill>
                  <a:srgbClr val="000000"/>
                </a:solidFill>
                <a:latin typeface="Arimo"/>
              </a:rPr>
              <a:t> </a:t>
            </a:r>
            <a:r>
              <a:rPr lang="en-US" sz="1814" dirty="0" err="1">
                <a:solidFill>
                  <a:srgbClr val="000000"/>
                </a:solidFill>
                <a:latin typeface="Arimo"/>
              </a:rPr>
              <a:t>Gener</a:t>
            </a:r>
            <a:r>
              <a:rPr lang="en-US" sz="1814" dirty="0">
                <a:solidFill>
                  <a:srgbClr val="000000"/>
                </a:solidFill>
                <a:latin typeface="Arimo"/>
              </a:rPr>
              <a:t> </a:t>
            </a:r>
            <a:r>
              <a:rPr lang="en-US" sz="1814" dirty="0" err="1">
                <a:solidFill>
                  <a:srgbClr val="000000"/>
                </a:solidFill>
                <a:latin typeface="Arimo"/>
              </a:rPr>
              <a:t>Comput</a:t>
            </a:r>
            <a:r>
              <a:rPr lang="en-US" sz="1814" dirty="0">
                <a:solidFill>
                  <a:srgbClr val="000000"/>
                </a:solidFill>
                <a:latin typeface="Arimo"/>
              </a:rPr>
              <a:t> Syst. 2018;86:446–55.</a:t>
            </a:r>
          </a:p>
          <a:p>
            <a:pPr algn="just">
              <a:lnSpc>
                <a:spcPts val="2793"/>
              </a:lnSpc>
            </a:pPr>
            <a:r>
              <a:rPr lang="en-US" sz="1814" dirty="0">
                <a:solidFill>
                  <a:srgbClr val="000000"/>
                </a:solidFill>
                <a:latin typeface="Arimo"/>
              </a:rPr>
              <a:t>[11] Zhao Z, Yang L, Chen D, Luo Y. A human ECG </a:t>
            </a:r>
            <a:r>
              <a:rPr lang="en-US" sz="1814" dirty="0" err="1">
                <a:solidFill>
                  <a:srgbClr val="000000"/>
                </a:solidFill>
                <a:latin typeface="Arimo"/>
              </a:rPr>
              <a:t>identifcation</a:t>
            </a:r>
            <a:r>
              <a:rPr lang="en-US" sz="1814" dirty="0">
                <a:solidFill>
                  <a:srgbClr val="000000"/>
                </a:solidFill>
                <a:latin typeface="Arimo"/>
              </a:rPr>
              <a:t> system based on ensemble empirical mode decomposition. Sensors. 2013;13(5):6832–64. </a:t>
            </a:r>
          </a:p>
        </p:txBody>
      </p:sp>
      <p:sp>
        <p:nvSpPr>
          <p:cNvPr id="3" name="TextBox 3"/>
          <p:cNvSpPr txBox="1"/>
          <p:nvPr/>
        </p:nvSpPr>
        <p:spPr>
          <a:xfrm>
            <a:off x="1028700" y="672581"/>
            <a:ext cx="7399708" cy="788439"/>
          </a:xfrm>
          <a:prstGeom prst="rect">
            <a:avLst/>
          </a:prstGeom>
        </p:spPr>
        <p:txBody>
          <a:bodyPr lIns="0" tIns="0" rIns="0" bIns="0" rtlCol="0" anchor="t">
            <a:spAutoFit/>
          </a:bodyPr>
          <a:lstStyle/>
          <a:p>
            <a:pPr algn="just">
              <a:lnSpc>
                <a:spcPts val="6191"/>
              </a:lnSpc>
            </a:pPr>
            <a:r>
              <a:rPr lang="en-US" sz="6011">
                <a:solidFill>
                  <a:srgbClr val="DC1C4B"/>
                </a:solidFill>
                <a:latin typeface="Arimo Bold"/>
              </a:rPr>
              <a:t>REFERENCE PAPERS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AF3"/>
        </a:solidFill>
        <a:effectLst/>
      </p:bgPr>
    </p:bg>
    <p:spTree>
      <p:nvGrpSpPr>
        <p:cNvPr id="1" name=""/>
        <p:cNvGrpSpPr/>
        <p:nvPr/>
      </p:nvGrpSpPr>
      <p:grpSpPr>
        <a:xfrm>
          <a:off x="0" y="0"/>
          <a:ext cx="0" cy="0"/>
          <a:chOff x="0" y="0"/>
          <a:chExt cx="0" cy="0"/>
        </a:xfrm>
      </p:grpSpPr>
      <p:grpSp>
        <p:nvGrpSpPr>
          <p:cNvPr id="2" name="Group 2"/>
          <p:cNvGrpSpPr/>
          <p:nvPr/>
        </p:nvGrpSpPr>
        <p:grpSpPr>
          <a:xfrm>
            <a:off x="7608100" y="1004888"/>
            <a:ext cx="3071800" cy="47625"/>
            <a:chOff x="0" y="0"/>
            <a:chExt cx="4095733" cy="63500"/>
          </a:xfrm>
        </p:grpSpPr>
        <p:sp>
          <p:nvSpPr>
            <p:cNvPr id="3" name="Freeform 3"/>
            <p:cNvSpPr/>
            <p:nvPr/>
          </p:nvSpPr>
          <p:spPr>
            <a:xfrm>
              <a:off x="0" y="0"/>
              <a:ext cx="4095750" cy="63500"/>
            </a:xfrm>
            <a:custGeom>
              <a:avLst/>
              <a:gdLst/>
              <a:ahLst/>
              <a:cxnLst/>
              <a:rect l="l" t="t" r="r" b="b"/>
              <a:pathLst>
                <a:path w="4095750" h="63500">
                  <a:moveTo>
                    <a:pt x="31750" y="0"/>
                  </a:moveTo>
                  <a:lnTo>
                    <a:pt x="4064000" y="0"/>
                  </a:lnTo>
                  <a:cubicBezTo>
                    <a:pt x="4081526" y="0"/>
                    <a:pt x="4095750" y="14224"/>
                    <a:pt x="4095750" y="31750"/>
                  </a:cubicBezTo>
                  <a:cubicBezTo>
                    <a:pt x="4095750" y="49276"/>
                    <a:pt x="4081526" y="63500"/>
                    <a:pt x="4064000" y="63500"/>
                  </a:cubicBezTo>
                  <a:lnTo>
                    <a:pt x="31750" y="63500"/>
                  </a:lnTo>
                  <a:cubicBezTo>
                    <a:pt x="14224" y="63500"/>
                    <a:pt x="0" y="49276"/>
                    <a:pt x="0" y="31750"/>
                  </a:cubicBezTo>
                  <a:cubicBezTo>
                    <a:pt x="0" y="14224"/>
                    <a:pt x="14224" y="0"/>
                    <a:pt x="31750" y="0"/>
                  </a:cubicBezTo>
                  <a:close/>
                </a:path>
              </a:pathLst>
            </a:custGeom>
            <a:solidFill>
              <a:srgbClr val="FFFAF3"/>
            </a:solidFill>
          </p:spPr>
        </p:sp>
      </p:grpSp>
      <p:sp>
        <p:nvSpPr>
          <p:cNvPr id="4" name="Freeform 4"/>
          <p:cNvSpPr/>
          <p:nvPr/>
        </p:nvSpPr>
        <p:spPr>
          <a:xfrm>
            <a:off x="5985015" y="606926"/>
            <a:ext cx="6887010" cy="6887010"/>
          </a:xfrm>
          <a:custGeom>
            <a:avLst/>
            <a:gdLst/>
            <a:ahLst/>
            <a:cxnLst/>
            <a:rect l="l" t="t" r="r" b="b"/>
            <a:pathLst>
              <a:path w="6887010" h="6887010">
                <a:moveTo>
                  <a:pt x="0" y="0"/>
                </a:moveTo>
                <a:lnTo>
                  <a:pt x="6887010" y="0"/>
                </a:lnTo>
                <a:lnTo>
                  <a:pt x="6887010" y="6887010"/>
                </a:lnTo>
                <a:lnTo>
                  <a:pt x="0" y="6887010"/>
                </a:lnTo>
                <a:lnTo>
                  <a:pt x="0" y="0"/>
                </a:lnTo>
                <a:close/>
              </a:path>
            </a:pathLst>
          </a:custGeom>
          <a:blipFill>
            <a:blip r:embed="rId2"/>
            <a:stretch>
              <a:fillRect/>
            </a:stretch>
          </a:blipFill>
        </p:spPr>
      </p:sp>
      <p:sp>
        <p:nvSpPr>
          <p:cNvPr id="5" name="TextBox 5"/>
          <p:cNvSpPr txBox="1"/>
          <p:nvPr/>
        </p:nvSpPr>
        <p:spPr>
          <a:xfrm>
            <a:off x="5582677" y="7677560"/>
            <a:ext cx="7691686" cy="1744646"/>
          </a:xfrm>
          <a:prstGeom prst="rect">
            <a:avLst/>
          </a:prstGeom>
        </p:spPr>
        <p:txBody>
          <a:bodyPr lIns="0" tIns="0" rIns="0" bIns="0" rtlCol="0" anchor="t">
            <a:spAutoFit/>
          </a:bodyPr>
          <a:lstStyle/>
          <a:p>
            <a:pPr algn="ctr">
              <a:lnSpc>
                <a:spcPts val="14213"/>
              </a:lnSpc>
            </a:pPr>
            <a:r>
              <a:rPr lang="en-US" sz="10152">
                <a:solidFill>
                  <a:srgbClr val="DC1C4B"/>
                </a:solidFill>
                <a:latin typeface="The Youngest Scrip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TotalTime>
  <Words>2789</Words>
  <Application>Microsoft Office PowerPoint</Application>
  <PresentationFormat>Custom</PresentationFormat>
  <Paragraphs>298</Paragraphs>
  <Slides>39</Slides>
  <Notes>0</Notes>
  <HiddenSlides>0</HiddenSlides>
  <MMClips>3</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39</vt:i4>
      </vt:variant>
    </vt:vector>
  </HeadingPairs>
  <TitlesOfParts>
    <vt:vector size="48" baseType="lpstr">
      <vt:lpstr>The Youngest Script</vt:lpstr>
      <vt:lpstr>Tex Gyre Termes Bold</vt:lpstr>
      <vt:lpstr>Arimo</vt:lpstr>
      <vt:lpstr>Arimo Bold</vt:lpstr>
      <vt:lpstr>Tex Gyre Termes</vt:lpstr>
      <vt:lpstr>Canva Sans 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B13_Batch2020-24_ProjectWork-1_Report_EARLY_DETECTION_OF_HEART_DISEASES_WITH_ECG_SIGNALS_USING_MACHINE_LEARNING_Nazeerunnisa_Jan2024</dc:title>
  <cp:lastModifiedBy>Mirza Sameeullah Baig</cp:lastModifiedBy>
  <cp:revision>7</cp:revision>
  <dcterms:created xsi:type="dcterms:W3CDTF">2006-08-16T00:00:00Z</dcterms:created>
  <dcterms:modified xsi:type="dcterms:W3CDTF">2024-06-14T05:31:09Z</dcterms:modified>
  <dc:identifier>DAF5verhY8o</dc:identifier>
</cp:coreProperties>
</file>